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sentence that is graded: a registration number handed over live returns that vehicle's complete timestamped route across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heterogeneity first and scale second. The test case is a single vehicle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the hybrid: Model 1 is mandatory, Model 2 gives unified viewing and analytics without central storage, Pipeline 3 evidence capture is designed and validated separately and is not built in the demo, Model 3 answers heterogeneity, and Model 4 is ruled out by the bandwidth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Command screen the demo opens on, captured from the running platform. Three sandbox cameras are pulled live over RTSP and one tile is a local sample feed; all four play through the relay. The Start-here panel tells the evaluator which data is demonstration data. Captured from the running platform on 25 September 2026 (1920x1080, signed in through the script key path; no credential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pull per camera, three pipelines, the registry underneath. Pipelines 1 and 2 are built; Pipeline 3 is designed and validated separately and is not built in the demo. State the governing rule plainly: video is kept only where a logged watchlist match justifies keeping it, and in the demo no video is kept beyond the 20-second relay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1 deliverable is built. The left capture is the whole registry on the GIS console; the right is zoomed to Gandhinagar with a camera's record open, showing field-of-view sectors and 24-hour read activity. Disclose that departments and coordinates were assigned: the catalogue carries only id and name, and the 28 sample feeds are stock footage at seeded coordinates. Captured from the running platform on 25 September 2026 (1920x1080, signed in through the script key path; no credential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2 deliverable: two different systems in one viewer. System A is the organisers' sandbox gateway, pulled live over RTSP, one pull per camera; system B is a local mediamtx server publishing 28 stock-footage feeds. Every item on the organisers' pre-submission checklist is implemented. The H.265 sandbox tiles need a browser that decodes HEVC; the capture on the left was taken in Chrome. Captured from the running platform on 25 September 2026 (1920x1080, signed in through the script key path; no credential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plate reads on a government feed: cam06 on the live sandbox, with the OCR text kept beside the coerced plate. The measured figures are the only [measured] numbers in the submission, from the formal 10-minute run on 25 September. Captured from the running platform on 25 September 2026 (1920x1080, signed in through the script key path; no credential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Edge-cached matching is an architectural decision. Central matching at 80,000 cameras is about 1,333 queries per second against VAHAN [model], which would take down the state's own system of record. The alerts shown are for the labelled demonstration vehicle, injected through the real write path. Captured from the running platform on 25 September 2026 (1920x1080, signed in through the script key path; no credential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scored endpoint. The route shown is the labelled demonstration vehicle, injected through the real write path at three sandbox cameras in three departments; no real vehicle has yet been read on two sandbox cameras, and the slide says so. Point at departments crossed: a route across Police, GSRTC and Municipal cameras is proof of integration. Captured from the running platform on 25 September 2026 (1920x1080, signed in through the script key path; no credential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Area 5 names four analytics. Object and person detection come with the detector; intrusion and line crossing come from zones drawn on the live picture. The crossing line on cam06 is the one that produced the first zone events on a real feed. Captured from the running platform on 25 September 2026 (1920x1080, signed in through the script key path; no credential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 that decides the architecture, and it is also why Model 4 was not chosen. Every figure on this slide is a model from stated assumptions, and is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of data most designs forget, detection snapshots, is 15 times larger than the one they optimise. Store crops, not frames. Every figure here is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architecture, Dimension 4. Login, roles, sessions and the audit trail are built and running on the demonstrated platform; department scoping and the vault are the production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regional, central. On day-2 operations: at a 2% failure rate, about 1,600 cameras are broken at any moment [model], so health scoring and a ranked worklist are required rather than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each of these before the panel has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impact: hours down to seconds, one platform across departments, an audit trail on every lookup, and a cost position the State can own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the submission package. The video links and the hosted URL are added at submission, after each is opened from a private window; evaluator credentials go on the submission form only, never in the deck or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adityashroff06-code/sentinel-gujarat"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640080" y="1463040"/>
            <a:ext cx="10972800" cy="1005840"/>
          </a:xfrm>
          <a:prstGeom prst="rect">
            <a:avLst/>
          </a:prstGeom>
          <a:noFill/>
          <a:ln/>
        </p:spPr>
        <p:txBody>
          <a:bodyPr wrap="square" lIns="0" tIns="0" rIns="0" bIns="0" rtlCol="0" anchor="ctr"/>
          <a:lstStyle/>
          <a:p>
            <a:pPr indent="0" marL="0">
              <a:buNone/>
            </a:pPr>
            <a:r>
              <a:rPr lang="en-US" sz="6000" b="1" spc="600" kern="0" dirty="0">
                <a:solidFill>
                  <a:srgbClr val="E6EDF5"/>
                </a:solidFill>
                <a:latin typeface="Calibri" pitchFamily="34" charset="0"/>
                <a:ea typeface="Calibri" pitchFamily="34" charset="-122"/>
                <a:cs typeface="Calibri" pitchFamily="34" charset="-120"/>
              </a:rPr>
              <a:t>SENTINEL</a:t>
            </a:r>
            <a:endParaRPr lang="en-US" sz="6000" dirty="0"/>
          </a:p>
        </p:txBody>
      </p:sp>
      <p:sp>
        <p:nvSpPr>
          <p:cNvPr id="5" name="Text 2"/>
          <p:cNvSpPr txBox="1"/>
          <p:nvPr/>
        </p:nvSpPr>
        <p:spPr>
          <a:xfrm>
            <a:off x="640080" y="2468880"/>
            <a:ext cx="10972800" cy="548640"/>
          </a:xfrm>
          <a:prstGeom prst="rect">
            <a:avLst/>
          </a:prstGeom>
          <a:noFill/>
          <a:ln/>
        </p:spPr>
        <p:txBody>
          <a:bodyPr wrap="square" lIns="0" tIns="0" rIns="0" bIns="0" rtlCol="0" anchor="ctr"/>
          <a:lstStyle/>
          <a:p>
            <a:pPr indent="0" marL="0">
              <a:buNone/>
            </a:pPr>
            <a:r>
              <a:rPr lang="en-US" sz="2400" dirty="0">
                <a:solidFill>
                  <a:srgbClr val="E6EDF5"/>
                </a:solidFill>
                <a:latin typeface="Calibri" pitchFamily="34" charset="0"/>
                <a:ea typeface="Calibri" pitchFamily="34" charset="-122"/>
                <a:cs typeface="Calibri" pitchFamily="34" charset="-120"/>
              </a:rPr>
              <a:t>Integrated Video Management and Analytics Platform</a:t>
            </a:r>
            <a:endParaRPr lang="en-US" sz="2400" dirty="0"/>
          </a:p>
        </p:txBody>
      </p:sp>
      <p:sp>
        <p:nvSpPr>
          <p:cNvPr id="6" name="Text 3"/>
          <p:cNvSpPr txBox="1"/>
          <p:nvPr/>
        </p:nvSpPr>
        <p:spPr>
          <a:xfrm>
            <a:off x="640080" y="3063240"/>
            <a:ext cx="10515600" cy="731520"/>
          </a:xfrm>
          <a:prstGeom prst="rect">
            <a:avLst/>
          </a:prstGeom>
          <a:noFill/>
          <a:ln/>
        </p:spPr>
        <p:txBody>
          <a:bodyPr wrap="square" lIns="0" tIns="0" rIns="0" bIns="0" rtlCol="0" anchor="ctr"/>
          <a:lstStyle/>
          <a:p>
            <a:pPr indent="0" marL="0">
              <a:buNone/>
            </a:pPr>
            <a:r>
              <a:rPr lang="en-US" sz="1400" dirty="0">
                <a:solidFill>
                  <a:srgbClr val="8A97A6"/>
                </a:solidFill>
                <a:latin typeface="Calibri" pitchFamily="34" charset="0"/>
                <a:ea typeface="Calibri" pitchFamily="34" charset="-122"/>
                <a:cs typeface="Calibri" pitchFamily="34" charset="-120"/>
              </a:rPr>
              <a:t>A hybrid of Model 1 (Centralised CCTV Registry and GIS Mapping) and Model 2 (Unified Viewing and Metadata Analytics), with event-triggered evidence capture (Pipeline 3) designed and validated separately. Model 3 federation is the documented integration path.</a:t>
            </a:r>
            <a:endParaRPr lang="en-US" sz="1400" dirty="0"/>
          </a:p>
        </p:txBody>
      </p:sp>
      <p:sp>
        <p:nvSpPr>
          <p:cNvPr id="7" name="Shape 4"/>
          <p:cNvSpPr/>
          <p:nvPr/>
        </p:nvSpPr>
        <p:spPr>
          <a:xfrm>
            <a:off x="640080" y="4114800"/>
            <a:ext cx="1051560" cy="274320"/>
          </a:xfrm>
          <a:prstGeom prst="roundRect">
            <a:avLst>
              <a:gd name="adj" fmla="val 50000"/>
            </a:avLst>
          </a:prstGeom>
          <a:solidFill>
            <a:srgbClr val="3D7FD6"/>
          </a:solidFill>
          <a:ln w="12700">
            <a:solidFill>
              <a:srgbClr val="3D7FD6"/>
            </a:solidFill>
            <a:prstDash val="solid"/>
          </a:ln>
        </p:spPr>
      </p:sp>
      <p:sp>
        <p:nvSpPr>
          <p:cNvPr id="8" name="Text 5"/>
          <p:cNvSpPr txBox="1"/>
          <p:nvPr/>
        </p:nvSpPr>
        <p:spPr>
          <a:xfrm>
            <a:off x="640080" y="41148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Police</a:t>
            </a:r>
            <a:endParaRPr lang="en-US" sz="1000" dirty="0"/>
          </a:p>
        </p:txBody>
      </p:sp>
      <p:sp>
        <p:nvSpPr>
          <p:cNvPr id="9" name="Shape 6"/>
          <p:cNvSpPr/>
          <p:nvPr/>
        </p:nvSpPr>
        <p:spPr>
          <a:xfrm>
            <a:off x="1828800" y="4114800"/>
            <a:ext cx="1051560" cy="274320"/>
          </a:xfrm>
          <a:prstGeom prst="roundRect">
            <a:avLst>
              <a:gd name="adj" fmla="val 50000"/>
            </a:avLst>
          </a:prstGeom>
          <a:solidFill>
            <a:srgbClr val="E0912F"/>
          </a:solidFill>
          <a:ln w="12700">
            <a:solidFill>
              <a:srgbClr val="E0912F"/>
            </a:solidFill>
            <a:prstDash val="solid"/>
          </a:ln>
        </p:spPr>
      </p:sp>
      <p:sp>
        <p:nvSpPr>
          <p:cNvPr id="10" name="Text 7"/>
          <p:cNvSpPr txBox="1"/>
          <p:nvPr/>
        </p:nvSpPr>
        <p:spPr>
          <a:xfrm>
            <a:off x="1828800" y="41148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GSRTC</a:t>
            </a:r>
            <a:endParaRPr lang="en-US" sz="1000" dirty="0"/>
          </a:p>
        </p:txBody>
      </p:sp>
      <p:sp>
        <p:nvSpPr>
          <p:cNvPr id="11" name="Shape 8"/>
          <p:cNvSpPr/>
          <p:nvPr/>
        </p:nvSpPr>
        <p:spPr>
          <a:xfrm>
            <a:off x="3017520" y="4114800"/>
            <a:ext cx="1051560" cy="274320"/>
          </a:xfrm>
          <a:prstGeom prst="roundRect">
            <a:avLst>
              <a:gd name="adj" fmla="val 50000"/>
            </a:avLst>
          </a:prstGeom>
          <a:solidFill>
            <a:srgbClr val="39A56A"/>
          </a:solidFill>
          <a:ln w="12700">
            <a:solidFill>
              <a:srgbClr val="39A56A"/>
            </a:solidFill>
            <a:prstDash val="solid"/>
          </a:ln>
        </p:spPr>
      </p:sp>
      <p:sp>
        <p:nvSpPr>
          <p:cNvPr id="12" name="Text 9"/>
          <p:cNvSpPr txBox="1"/>
          <p:nvPr/>
        </p:nvSpPr>
        <p:spPr>
          <a:xfrm>
            <a:off x="3017520" y="41148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Municipal</a:t>
            </a:r>
            <a:endParaRPr lang="en-US" sz="1000" dirty="0"/>
          </a:p>
        </p:txBody>
      </p:sp>
      <p:sp>
        <p:nvSpPr>
          <p:cNvPr id="13" name="Shape 10"/>
          <p:cNvSpPr/>
          <p:nvPr/>
        </p:nvSpPr>
        <p:spPr>
          <a:xfrm>
            <a:off x="4206240" y="4114800"/>
            <a:ext cx="1051560" cy="274320"/>
          </a:xfrm>
          <a:prstGeom prst="roundRect">
            <a:avLst>
              <a:gd name="adj" fmla="val 50000"/>
            </a:avLst>
          </a:prstGeom>
          <a:solidFill>
            <a:srgbClr val="B45FD1"/>
          </a:solidFill>
          <a:ln w="12700">
            <a:solidFill>
              <a:srgbClr val="B45FD1"/>
            </a:solidFill>
            <a:prstDash val="solid"/>
          </a:ln>
        </p:spPr>
      </p:sp>
      <p:sp>
        <p:nvSpPr>
          <p:cNvPr id="14" name="Text 11"/>
          <p:cNvSpPr txBox="1"/>
          <p:nvPr/>
        </p:nvSpPr>
        <p:spPr>
          <a:xfrm>
            <a:off x="4206240" y="41148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Panchayat</a:t>
            </a:r>
            <a:endParaRPr lang="en-US" sz="1000" dirty="0"/>
          </a:p>
        </p:txBody>
      </p:sp>
      <p:sp>
        <p:nvSpPr>
          <p:cNvPr id="15" name="Shape 12"/>
          <p:cNvSpPr/>
          <p:nvPr/>
        </p:nvSpPr>
        <p:spPr>
          <a:xfrm>
            <a:off x="5394960" y="4114800"/>
            <a:ext cx="1051560" cy="274320"/>
          </a:xfrm>
          <a:prstGeom prst="roundRect">
            <a:avLst>
              <a:gd name="adj" fmla="val 50000"/>
            </a:avLst>
          </a:prstGeom>
          <a:solidFill>
            <a:srgbClr val="D64F6A"/>
          </a:solidFill>
          <a:ln w="12700">
            <a:solidFill>
              <a:srgbClr val="D64F6A"/>
            </a:solidFill>
            <a:prstDash val="solid"/>
          </a:ln>
        </p:spPr>
      </p:sp>
      <p:sp>
        <p:nvSpPr>
          <p:cNvPr id="16" name="Text 13"/>
          <p:cNvSpPr txBox="1"/>
          <p:nvPr/>
        </p:nvSpPr>
        <p:spPr>
          <a:xfrm>
            <a:off x="5394960" y="41148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Health</a:t>
            </a:r>
            <a:endParaRPr lang="en-US" sz="1000" dirty="0"/>
          </a:p>
        </p:txBody>
      </p:sp>
      <p:sp>
        <p:nvSpPr>
          <p:cNvPr id="17" name="Text 14"/>
          <p:cNvSpPr txBox="1"/>
          <p:nvPr/>
        </p:nvSpPr>
        <p:spPr>
          <a:xfrm>
            <a:off x="640080" y="4572000"/>
            <a:ext cx="10972800" cy="457200"/>
          </a:xfrm>
          <a:prstGeom prst="rect">
            <a:avLst/>
          </a:prstGeom>
          <a:noFill/>
          <a:ln/>
        </p:spPr>
        <p:txBody>
          <a:bodyPr wrap="square" lIns="0" tIns="0" rIns="0" bIns="0" rtlCol="0" anchor="ctr"/>
          <a:lstStyle/>
          <a:p>
            <a:pPr indent="0" marL="0">
              <a:buNone/>
            </a:pPr>
            <a:r>
              <a:rPr lang="en-US" sz="1600" i="1" dirty="0">
                <a:solidFill>
                  <a:srgbClr val="E6EDF5"/>
                </a:solidFill>
                <a:latin typeface="Calibri" pitchFamily="34" charset="0"/>
                <a:ea typeface="Calibri" pitchFamily="34" charset="-122"/>
                <a:cs typeface="Calibri" pitchFamily="34" charset="-120"/>
              </a:rPr>
              <a:t>One platform. Five departments. Watching is not storing.</a:t>
            </a:r>
            <a:endParaRPr lang="en-US" sz="1600" dirty="0"/>
          </a:p>
        </p:txBody>
      </p:sp>
      <p:sp>
        <p:nvSpPr>
          <p:cNvPr id="18" name="Text 15"/>
          <p:cNvSpPr txBox="1"/>
          <p:nvPr/>
        </p:nvSpPr>
        <p:spPr>
          <a:xfrm>
            <a:off x="640080" y="5669280"/>
            <a:ext cx="10972800" cy="365760"/>
          </a:xfrm>
          <a:prstGeom prst="rect">
            <a:avLst/>
          </a:prstGeom>
          <a:noFill/>
          <a:ln/>
        </p:spPr>
        <p:txBody>
          <a:bodyPr wrap="square" lIns="0" tIns="0" rIns="0" bIns="0" rtlCol="0" anchor="ctr"/>
          <a:lstStyle/>
          <a:p>
            <a:pPr indent="0" marL="0">
              <a:buNone/>
            </a:pPr>
            <a:r>
              <a:rPr lang="en-US" sz="1200" dirty="0">
                <a:solidFill>
                  <a:srgbClr val="8A97A6"/>
                </a:solidFill>
                <a:latin typeface="Calibri" pitchFamily="34" charset="0"/>
                <a:ea typeface="Calibri" pitchFamily="34" charset="-122"/>
                <a:cs typeface="Calibri" pitchFamily="34" charset="-120"/>
              </a:rPr>
              <a:t>Gujarat Police Innovation Challenge 2026  ·  Home Department / SCRB  ·  Submission by Adi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The problem, and what is actually graded</a:t>
            </a:r>
            <a:endParaRPr lang="en-US" sz="3000" dirty="0"/>
          </a:p>
        </p:txBody>
      </p:sp>
      <p:sp>
        <p:nvSpPr>
          <p:cNvPr id="5" name="Shape 2"/>
          <p:cNvSpPr/>
          <p:nvPr/>
        </p:nvSpPr>
        <p:spPr>
          <a:xfrm>
            <a:off x="457200" y="1463040"/>
            <a:ext cx="5486400" cy="4663440"/>
          </a:xfrm>
          <a:prstGeom prst="roundRect">
            <a:avLst>
              <a:gd name="adj" fmla="val 2353"/>
            </a:avLst>
          </a:prstGeom>
          <a:solidFill>
            <a:srgbClr val="111823"/>
          </a:solidFill>
          <a:ln w="9525">
            <a:solidFill>
              <a:srgbClr val="1E2A3A"/>
            </a:solidFill>
            <a:prstDash val="solid"/>
          </a:ln>
        </p:spPr>
      </p:sp>
      <p:sp>
        <p:nvSpPr>
          <p:cNvPr id="6" name="Text 3"/>
          <p:cNvSpPr txBox="1"/>
          <p:nvPr/>
        </p:nvSpPr>
        <p:spPr>
          <a:xfrm>
            <a:off x="685800" y="1600200"/>
            <a:ext cx="4572000" cy="274320"/>
          </a:xfrm>
          <a:prstGeom prst="rect">
            <a:avLst/>
          </a:prstGeom>
          <a:noFill/>
          <a:ln/>
        </p:spPr>
        <p:txBody>
          <a:bodyPr wrap="square" lIns="0" tIns="0" rIns="0" bIns="0" rtlCol="0" anchor="ctr"/>
          <a:lstStyle/>
          <a:p>
            <a:pPr indent="0" marL="0">
              <a:buNone/>
            </a:pPr>
            <a:r>
              <a:rPr lang="en-US" sz="1100" dirty="0">
                <a:solidFill>
                  <a:srgbClr val="3D7FD6"/>
                </a:solidFill>
                <a:latin typeface="Calibri" pitchFamily="34" charset="0"/>
                <a:ea typeface="Calibri" pitchFamily="34" charset="-122"/>
                <a:cs typeface="Calibri" pitchFamily="34" charset="-120"/>
              </a:rPr>
              <a:t>TODAY</a:t>
            </a:r>
            <a:endParaRPr lang="en-US" sz="1100" dirty="0"/>
          </a:p>
        </p:txBody>
      </p:sp>
      <p:sp>
        <p:nvSpPr>
          <p:cNvPr id="7" name="Text 4"/>
          <p:cNvSpPr txBox="1"/>
          <p:nvPr/>
        </p:nvSpPr>
        <p:spPr>
          <a:xfrm>
            <a:off x="685800" y="1920240"/>
            <a:ext cx="5029200" cy="4023360"/>
          </a:xfrm>
          <a:prstGeom prst="rect">
            <a:avLst/>
          </a:prstGeom>
          <a:noFill/>
          <a:ln/>
        </p:spPr>
        <p:txBody>
          <a:bodyPr wrap="square" lIns="25400" tIns="25400" rIns="25400" bIns="25400" rtlCol="0" anchor="t"/>
          <a:lstStyle/>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26 government departments run independent, standalone CCTV systems</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Mixed analog and IP cameras, different vendors and VMS platforms, incompatible feed protocols</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Storage fragmented: cloud for some, local for others, retention from 7 days to over 15</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Sites as much as 1,000 km apart, from the border districts to Somnath and Dwarka</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Tracing one vehicle means asking each department separately, by hand</a:t>
            </a:r>
            <a:endParaRPr lang="en-US" sz="1400" dirty="0"/>
          </a:p>
        </p:txBody>
      </p:sp>
      <p:sp>
        <p:nvSpPr>
          <p:cNvPr id="8" name="Shape 5"/>
          <p:cNvSpPr/>
          <p:nvPr/>
        </p:nvSpPr>
        <p:spPr>
          <a:xfrm>
            <a:off x="6217920" y="1463040"/>
            <a:ext cx="5486400" cy="4663440"/>
          </a:xfrm>
          <a:prstGeom prst="roundRect">
            <a:avLst>
              <a:gd name="adj" fmla="val 2353"/>
            </a:avLst>
          </a:prstGeom>
          <a:solidFill>
            <a:srgbClr val="111823"/>
          </a:solidFill>
          <a:ln w="9525">
            <a:solidFill>
              <a:srgbClr val="1E2A3A"/>
            </a:solidFill>
            <a:prstDash val="solid"/>
          </a:ln>
        </p:spPr>
      </p:sp>
      <p:sp>
        <p:nvSpPr>
          <p:cNvPr id="9" name="Text 6"/>
          <p:cNvSpPr txBox="1"/>
          <p:nvPr/>
        </p:nvSpPr>
        <p:spPr>
          <a:xfrm>
            <a:off x="6446520" y="1600200"/>
            <a:ext cx="4572000" cy="274320"/>
          </a:xfrm>
          <a:prstGeom prst="rect">
            <a:avLst/>
          </a:prstGeom>
          <a:noFill/>
          <a:ln/>
        </p:spPr>
        <p:txBody>
          <a:bodyPr wrap="square" lIns="0" tIns="0" rIns="0" bIns="0" rtlCol="0" anchor="ctr"/>
          <a:lstStyle/>
          <a:p>
            <a:pPr indent="0" marL="0">
              <a:buNone/>
            </a:pPr>
            <a:r>
              <a:rPr lang="en-US" sz="1100" dirty="0">
                <a:solidFill>
                  <a:srgbClr val="D64F6A"/>
                </a:solidFill>
                <a:latin typeface="Calibri" pitchFamily="34" charset="0"/>
                <a:ea typeface="Calibri" pitchFamily="34" charset="-122"/>
                <a:cs typeface="Calibri" pitchFamily="34" charset="-120"/>
              </a:rPr>
              <a:t>THE LIVE TEST CASE</a:t>
            </a:r>
            <a:endParaRPr lang="en-US" sz="1100" dirty="0"/>
          </a:p>
        </p:txBody>
      </p:sp>
      <p:sp>
        <p:nvSpPr>
          <p:cNvPr id="10" name="Text 7"/>
          <p:cNvSpPr txBox="1"/>
          <p:nvPr/>
        </p:nvSpPr>
        <p:spPr>
          <a:xfrm>
            <a:off x="6446520" y="1920240"/>
            <a:ext cx="5029200" cy="4023360"/>
          </a:xfrm>
          <a:prstGeom prst="rect">
            <a:avLst/>
          </a:prstGeom>
          <a:noFill/>
          <a:ln/>
        </p:spPr>
        <p:txBody>
          <a:bodyPr wrap="square" lIns="25400" tIns="25400" rIns="25400" bIns="25400" rtlCol="0" anchor="t"/>
          <a:lstStyle/>
          <a:p>
            <a:pPr marL="342900" indent="-342900">
              <a:spcAft>
                <a:spcPts val="500"/>
              </a:spcAft>
              <a:buSzPct val="100000"/>
              <a:buChar char="•"/>
            </a:pPr>
            <a:r>
              <a:rPr lang="en-US" sz="1400" b="1" dirty="0">
                <a:solidFill>
                  <a:srgbClr val="E6EDF5"/>
                </a:solidFill>
                <a:latin typeface="Calibri" pitchFamily="34" charset="0"/>
                <a:ea typeface="Calibri" pitchFamily="34" charset="-122"/>
                <a:cs typeface="Calibri" pitchFamily="34" charset="-120"/>
              </a:rPr>
              <a:t>A registration number is handed over on evaluation day.</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Identify, trace and present that vehicle's movement across the integrated network</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Complete route: timestamped, location-wise, across camera locations and departments</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Continuous cross-referencing of live feeds against a watchlist, with automated real-time alerts</a:t>
            </a:r>
            <a:endParaRPr lang="en-US" sz="1400" dirty="0"/>
          </a:p>
          <a:p>
            <a:pPr marL="342900" indent="-342900">
              <a:spcAft>
                <a:spcPts val="500"/>
              </a:spcAft>
              <a:buSzPct val="100000"/>
              <a:buChar char="•"/>
            </a:pPr>
            <a:r>
              <a:rPr lang="en-US" sz="1400" dirty="0">
                <a:solidFill>
                  <a:srgbClr val="E6EDF5"/>
                </a:solidFill>
                <a:latin typeface="Calibri" pitchFamily="34" charset="0"/>
                <a:ea typeface="Calibri" pitchFamily="34" charset="-122"/>
                <a:cs typeface="Calibri" pitchFamily="34" charset="-120"/>
              </a:rPr>
              <a:t>A working system. Mock-ups and concept videos are not considered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Proposed model: a hybrid, with justification</a:t>
            </a:r>
            <a:endParaRPr lang="en-US" sz="3000" dirty="0"/>
          </a:p>
        </p:txBody>
      </p:sp>
      <p:sp>
        <p:nvSpPr>
          <p:cNvPr id="5" name="Shape 2"/>
          <p:cNvSpPr/>
          <p:nvPr/>
        </p:nvSpPr>
        <p:spPr>
          <a:xfrm>
            <a:off x="457200" y="1463040"/>
            <a:ext cx="2697480" cy="3566160"/>
          </a:xfrm>
          <a:prstGeom prst="roundRect">
            <a:avLst>
              <a:gd name="adj" fmla="val 4068"/>
            </a:avLst>
          </a:prstGeom>
          <a:solidFill>
            <a:srgbClr val="111823"/>
          </a:solidFill>
          <a:ln w="9525">
            <a:solidFill>
              <a:srgbClr val="1E2A3A"/>
            </a:solidFill>
            <a:prstDash val="solid"/>
          </a:ln>
        </p:spPr>
      </p:sp>
      <p:sp>
        <p:nvSpPr>
          <p:cNvPr id="6" name="Shape 3"/>
          <p:cNvSpPr/>
          <p:nvPr/>
        </p:nvSpPr>
        <p:spPr>
          <a:xfrm>
            <a:off x="685800" y="1691640"/>
            <a:ext cx="320040" cy="320040"/>
          </a:xfrm>
          <a:prstGeom prst="ellipse">
            <a:avLst/>
          </a:prstGeom>
          <a:solidFill>
            <a:srgbClr val="3D7FD6"/>
          </a:solidFill>
          <a:ln w="12700">
            <a:solidFill>
              <a:srgbClr val="3D7FD6"/>
            </a:solidFill>
            <a:prstDash val="solid"/>
          </a:ln>
        </p:spPr>
      </p:sp>
      <p:sp>
        <p:nvSpPr>
          <p:cNvPr id="7" name="Text 4"/>
          <p:cNvSpPr txBox="1"/>
          <p:nvPr/>
        </p:nvSpPr>
        <p:spPr>
          <a:xfrm>
            <a:off x="1097280" y="1673352"/>
            <a:ext cx="2011680" cy="36576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MODEL 1  ·  mandatory</a:t>
            </a:r>
            <a:endParaRPr lang="en-US" sz="1200" dirty="0"/>
          </a:p>
        </p:txBody>
      </p:sp>
      <p:sp>
        <p:nvSpPr>
          <p:cNvPr id="8" name="Text 5"/>
          <p:cNvSpPr txBox="1"/>
          <p:nvPr/>
        </p:nvSpPr>
        <p:spPr>
          <a:xfrm>
            <a:off x="640080" y="2194560"/>
            <a:ext cx="2377440" cy="2743200"/>
          </a:xfrm>
          <a:prstGeom prst="rect">
            <a:avLst/>
          </a:prstGeom>
          <a:noFill/>
          <a:ln/>
        </p:spPr>
        <p:txBody>
          <a:bodyPr wrap="square" lIns="25400" tIns="25400" rIns="25400" bIns="25400" rtlCol="0" anchor="t"/>
          <a:lstStyle/>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Camera registry, the control plane</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GIS console: department layers, coverage sectors, activity, gaps</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Onboarding by form, CSV and API</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Built and demonstrated</a:t>
            </a:r>
            <a:endParaRPr lang="en-US" sz="1200" dirty="0"/>
          </a:p>
        </p:txBody>
      </p:sp>
      <p:sp>
        <p:nvSpPr>
          <p:cNvPr id="9" name="Shape 6"/>
          <p:cNvSpPr/>
          <p:nvPr/>
        </p:nvSpPr>
        <p:spPr>
          <a:xfrm>
            <a:off x="3291840" y="1463040"/>
            <a:ext cx="2697480" cy="3566160"/>
          </a:xfrm>
          <a:prstGeom prst="roundRect">
            <a:avLst>
              <a:gd name="adj" fmla="val 4068"/>
            </a:avLst>
          </a:prstGeom>
          <a:solidFill>
            <a:srgbClr val="111823"/>
          </a:solidFill>
          <a:ln w="9525">
            <a:solidFill>
              <a:srgbClr val="1E2A3A"/>
            </a:solidFill>
            <a:prstDash val="solid"/>
          </a:ln>
        </p:spPr>
      </p:sp>
      <p:sp>
        <p:nvSpPr>
          <p:cNvPr id="10" name="Shape 7"/>
          <p:cNvSpPr/>
          <p:nvPr/>
        </p:nvSpPr>
        <p:spPr>
          <a:xfrm>
            <a:off x="3520440" y="1691640"/>
            <a:ext cx="320040" cy="320040"/>
          </a:xfrm>
          <a:prstGeom prst="ellipse">
            <a:avLst/>
          </a:prstGeom>
          <a:solidFill>
            <a:srgbClr val="39A56A"/>
          </a:solidFill>
          <a:ln w="12700">
            <a:solidFill>
              <a:srgbClr val="39A56A"/>
            </a:solidFill>
            <a:prstDash val="solid"/>
          </a:ln>
        </p:spPr>
      </p:sp>
      <p:sp>
        <p:nvSpPr>
          <p:cNvPr id="11" name="Text 8"/>
          <p:cNvSpPr txBox="1"/>
          <p:nvPr/>
        </p:nvSpPr>
        <p:spPr>
          <a:xfrm>
            <a:off x="3931920" y="1673352"/>
            <a:ext cx="2011680" cy="36576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MODEL 2  ·  viewing + analytics</a:t>
            </a:r>
            <a:endParaRPr lang="en-US" sz="1200" dirty="0"/>
          </a:p>
        </p:txBody>
      </p:sp>
      <p:sp>
        <p:nvSpPr>
          <p:cNvPr id="12" name="Text 9"/>
          <p:cNvSpPr txBox="1"/>
          <p:nvPr/>
        </p:nvSpPr>
        <p:spPr>
          <a:xfrm>
            <a:off x="3474720" y="2194560"/>
            <a:ext cx="2377440" cy="2743200"/>
          </a:xfrm>
          <a:prstGeom prst="rect">
            <a:avLst/>
          </a:prstGeom>
          <a:noFill/>
          <a:ln/>
        </p:spPr>
        <p:txBody>
          <a:bodyPr wrap="square" lIns="25400" tIns="25400" rIns="25400" bIns="25400" rtlCol="0" anchor="t"/>
          <a:lstStyle/>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Direct pull, departments untouched</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Two different systems in one viewer</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ANPR metadata, no central video</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Built and demonstrated</a:t>
            </a:r>
            <a:endParaRPr lang="en-US" sz="1200" dirty="0"/>
          </a:p>
        </p:txBody>
      </p:sp>
      <p:sp>
        <p:nvSpPr>
          <p:cNvPr id="13" name="Shape 10"/>
          <p:cNvSpPr/>
          <p:nvPr/>
        </p:nvSpPr>
        <p:spPr>
          <a:xfrm>
            <a:off x="6126480" y="1463040"/>
            <a:ext cx="2697480" cy="3566160"/>
          </a:xfrm>
          <a:prstGeom prst="roundRect">
            <a:avLst>
              <a:gd name="adj" fmla="val 4068"/>
            </a:avLst>
          </a:prstGeom>
          <a:solidFill>
            <a:srgbClr val="111823"/>
          </a:solidFill>
          <a:ln w="9525">
            <a:solidFill>
              <a:srgbClr val="1E2A3A"/>
            </a:solidFill>
            <a:prstDash val="solid"/>
          </a:ln>
        </p:spPr>
      </p:sp>
      <p:sp>
        <p:nvSpPr>
          <p:cNvPr id="14" name="Shape 11"/>
          <p:cNvSpPr/>
          <p:nvPr/>
        </p:nvSpPr>
        <p:spPr>
          <a:xfrm>
            <a:off x="6355080" y="1691640"/>
            <a:ext cx="320040" cy="320040"/>
          </a:xfrm>
          <a:prstGeom prst="ellipse">
            <a:avLst/>
          </a:prstGeom>
          <a:solidFill>
            <a:srgbClr val="E0912F"/>
          </a:solidFill>
          <a:ln w="12700">
            <a:solidFill>
              <a:srgbClr val="E0912F"/>
            </a:solidFill>
            <a:prstDash val="solid"/>
          </a:ln>
        </p:spPr>
      </p:sp>
      <p:sp>
        <p:nvSpPr>
          <p:cNvPr id="15" name="Text 12"/>
          <p:cNvSpPr txBox="1"/>
          <p:nvPr/>
        </p:nvSpPr>
        <p:spPr>
          <a:xfrm>
            <a:off x="6766560" y="1673352"/>
            <a:ext cx="2011680" cy="36576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PIPELINE 3  ·  evidence</a:t>
            </a:r>
            <a:endParaRPr lang="en-US" sz="1200" dirty="0"/>
          </a:p>
        </p:txBody>
      </p:sp>
      <p:sp>
        <p:nvSpPr>
          <p:cNvPr id="16" name="Text 13"/>
          <p:cNvSpPr txBox="1"/>
          <p:nvPr/>
        </p:nvSpPr>
        <p:spPr>
          <a:xfrm>
            <a:off x="6309360" y="2194560"/>
            <a:ext cx="2377440" cy="2743200"/>
          </a:xfrm>
          <a:prstGeom prst="rect">
            <a:avLst/>
          </a:prstGeom>
          <a:noFill/>
          <a:ln/>
        </p:spPr>
        <p:txBody>
          <a:bodyPr wrap="square" lIns="25400" tIns="25400" rIns="25400" bIns="25400" rtlCol="0" anchor="t"/>
          <a:lstStyle/>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Rolling buffer, promote on a match only</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60 s clip, SHA-256, audit row</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Designed and validated separately</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Not built in the demo</a:t>
            </a:r>
            <a:endParaRPr lang="en-US" sz="1200" dirty="0"/>
          </a:p>
        </p:txBody>
      </p:sp>
      <p:sp>
        <p:nvSpPr>
          <p:cNvPr id="17" name="Shape 14"/>
          <p:cNvSpPr/>
          <p:nvPr/>
        </p:nvSpPr>
        <p:spPr>
          <a:xfrm>
            <a:off x="8961120" y="1463040"/>
            <a:ext cx="2697480" cy="3566160"/>
          </a:xfrm>
          <a:prstGeom prst="roundRect">
            <a:avLst>
              <a:gd name="adj" fmla="val 4068"/>
            </a:avLst>
          </a:prstGeom>
          <a:solidFill>
            <a:srgbClr val="111823"/>
          </a:solidFill>
          <a:ln w="9525">
            <a:solidFill>
              <a:srgbClr val="1E2A3A"/>
            </a:solidFill>
            <a:prstDash val="solid"/>
          </a:ln>
        </p:spPr>
      </p:sp>
      <p:sp>
        <p:nvSpPr>
          <p:cNvPr id="18" name="Shape 15"/>
          <p:cNvSpPr/>
          <p:nvPr/>
        </p:nvSpPr>
        <p:spPr>
          <a:xfrm>
            <a:off x="9189720" y="1691640"/>
            <a:ext cx="320040" cy="320040"/>
          </a:xfrm>
          <a:prstGeom prst="ellipse">
            <a:avLst/>
          </a:prstGeom>
          <a:solidFill>
            <a:srgbClr val="B45FD1"/>
          </a:solidFill>
          <a:ln w="12700">
            <a:solidFill>
              <a:srgbClr val="B45FD1"/>
            </a:solidFill>
            <a:prstDash val="solid"/>
          </a:ln>
        </p:spPr>
      </p:sp>
      <p:sp>
        <p:nvSpPr>
          <p:cNvPr id="19" name="Text 16"/>
          <p:cNvSpPr txBox="1"/>
          <p:nvPr/>
        </p:nvSpPr>
        <p:spPr>
          <a:xfrm>
            <a:off x="9601200" y="1673352"/>
            <a:ext cx="2011680" cy="36576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MODEL 3  ·  federation</a:t>
            </a:r>
            <a:endParaRPr lang="en-US" sz="1200" dirty="0"/>
          </a:p>
        </p:txBody>
      </p:sp>
      <p:sp>
        <p:nvSpPr>
          <p:cNvPr id="20" name="Text 17"/>
          <p:cNvSpPr txBox="1"/>
          <p:nvPr/>
        </p:nvSpPr>
        <p:spPr>
          <a:xfrm>
            <a:off x="9144000" y="2194560"/>
            <a:ext cx="2377440" cy="2743200"/>
          </a:xfrm>
          <a:prstGeom prst="rect">
            <a:avLst/>
          </a:prstGeom>
          <a:noFill/>
          <a:ln/>
        </p:spPr>
        <p:txBody>
          <a:bodyPr wrap="square" lIns="25400" tIns="25400" rIns="25400" bIns="25400" rtlCol="0" anchor="t"/>
          <a:lstStyle/>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Adapter per vendor VMS</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Department-side collector for NAT and SDK-only sites</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Answers heterogeneity, not scale</a:t>
            </a:r>
            <a:endParaRPr lang="en-US" sz="1200" dirty="0"/>
          </a:p>
          <a:p>
            <a:pPr marL="342900" indent="-342900">
              <a:spcAft>
                <a:spcPts val="500"/>
              </a:spcAft>
              <a:buSzPct val="100000"/>
              <a:buChar char="•"/>
            </a:pPr>
            <a:r>
              <a:rPr lang="en-US" sz="1200" dirty="0">
                <a:solidFill>
                  <a:srgbClr val="E6EDF5"/>
                </a:solidFill>
                <a:latin typeface="Calibri" pitchFamily="34" charset="0"/>
                <a:ea typeface="Calibri" pitchFamily="34" charset="-122"/>
                <a:cs typeface="Calibri" pitchFamily="34" charset="-120"/>
              </a:rPr>
              <a:t>Integration path in the HLD</a:t>
            </a:r>
            <a:endParaRPr lang="en-US" sz="1200" dirty="0"/>
          </a:p>
        </p:txBody>
      </p:sp>
      <p:sp>
        <p:nvSpPr>
          <p:cNvPr id="21" name="Shape 18"/>
          <p:cNvSpPr/>
          <p:nvPr/>
        </p:nvSpPr>
        <p:spPr>
          <a:xfrm>
            <a:off x="457200" y="5257800"/>
            <a:ext cx="11247120" cy="868680"/>
          </a:xfrm>
          <a:prstGeom prst="roundRect">
            <a:avLst>
              <a:gd name="adj" fmla="val 12632"/>
            </a:avLst>
          </a:prstGeom>
          <a:solidFill>
            <a:srgbClr val="111823"/>
          </a:solidFill>
          <a:ln w="9525">
            <a:solidFill>
              <a:srgbClr val="1E2A3A"/>
            </a:solidFill>
            <a:prstDash val="solid"/>
          </a:ln>
        </p:spPr>
      </p:sp>
      <p:sp>
        <p:nvSpPr>
          <p:cNvPr id="22" name="Text 19"/>
          <p:cNvSpPr txBox="1"/>
          <p:nvPr/>
        </p:nvSpPr>
        <p:spPr>
          <a:xfrm>
            <a:off x="685800" y="5349240"/>
            <a:ext cx="10881360" cy="685800"/>
          </a:xfrm>
          <a:prstGeom prst="rect">
            <a:avLst/>
          </a:prstGeom>
          <a:noFill/>
          <a:ln/>
        </p:spPr>
        <p:txBody>
          <a:bodyPr wrap="square" lIns="0" tIns="0" rIns="0" bIns="0" rtlCol="0" anchor="ctr"/>
          <a:lstStyle/>
          <a:p>
            <a:pPr indent="0" marL="0">
              <a:buNone/>
            </a:pPr>
            <a:r>
              <a:rPr lang="en-US" sz="1300" b="1" dirty="0">
                <a:solidFill>
                  <a:srgbClr val="D64F6A"/>
                </a:solidFill>
                <a:latin typeface="Calibri" pitchFamily="34" charset="0"/>
                <a:ea typeface="Calibri" pitchFamily="34" charset="-122"/>
                <a:cs typeface="Calibri" pitchFamily="34" charset="-120"/>
              </a:rPr>
              <a:t>Why not Model 4, Central VMS and AI Platform: </a:t>
            </a:r>
            <a:pPr indent="0" marL="0">
              <a:buNone/>
            </a:pPr>
            <a:r>
              <a:rPr lang="en-US" sz="1300" dirty="0">
                <a:solidFill>
                  <a:srgbClr val="E6EDF5"/>
                </a:solidFill>
                <a:latin typeface="Calibri" pitchFamily="34" charset="0"/>
                <a:ea typeface="Calibri" pitchFamily="34" charset="-122"/>
                <a:cs typeface="Calibri" pitchFamily="34" charset="-120"/>
              </a:rPr>
              <a:t>80,000 cameras at 3 Mbps is about 240 Gbps sustained into one facility, a procurement and physical-plant problem before it is a budget line. Analysing at the edge sends only text rows and plate crops, about 23 Mbps, roughly 10,000 times less. [model]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What we built: the Command view</a:t>
            </a:r>
            <a:endParaRPr lang="en-US" sz="3000" dirty="0"/>
          </a:p>
        </p:txBody>
      </p:sp>
      <p:sp>
        <p:nvSpPr>
          <p:cNvPr id="5" name="Text 2"/>
          <p:cNvSpPr txBox="1"/>
          <p:nvPr/>
        </p:nvSpPr>
        <p:spPr>
          <a:xfrm>
            <a:off x="457200" y="932688"/>
            <a:ext cx="11247120" cy="365760"/>
          </a:xfrm>
          <a:prstGeom prst="rect">
            <a:avLst/>
          </a:prstGeom>
          <a:noFill/>
          <a:ln/>
        </p:spPr>
        <p:txBody>
          <a:bodyPr wrap="square" lIns="0" tIns="0" rIns="0" bIns="0" rtlCol="0" anchor="ctr"/>
          <a:lstStyle/>
          <a:p>
            <a:pPr indent="0" marL="0">
              <a:buNone/>
            </a:pPr>
            <a:r>
              <a:rPr lang="en-US" sz="1400" dirty="0">
                <a:solidFill>
                  <a:srgbClr val="8A97A6"/>
                </a:solidFill>
                <a:latin typeface="Calibri" pitchFamily="34" charset="0"/>
                <a:ea typeface="Calibri" pitchFamily="34" charset="-122"/>
                <a:cs typeface="Calibri" pitchFamily="34" charset="-120"/>
              </a:rPr>
              <a:t>One screen: live tiles, GIS, alerts, plate reads, analytics and feed health, all served by the operational backend</a:t>
            </a:r>
            <a:endParaRPr lang="en-US" sz="1400" dirty="0"/>
          </a:p>
        </p:txBody>
      </p:sp>
      <p:pic>
        <p:nvPicPr>
          <p:cNvPr id="6" name="Image 0" descr="D:\projects\sentinel-gujarat\deliverables\deck\img\dashboard.png">    </p:cNvPr>
          <p:cNvPicPr>
            <a:picLocks noChangeAspect="1"/>
          </p:cNvPicPr>
          <p:nvPr/>
        </p:nvPicPr>
        <p:blipFill>
          <a:blip r:embed="rId1"/>
          <a:stretch>
            <a:fillRect/>
          </a:stretch>
        </p:blipFill>
        <p:spPr>
          <a:xfrm>
            <a:off x="457200" y="1417320"/>
            <a:ext cx="7863840" cy="4423410"/>
          </a:xfrm>
          <a:prstGeom prst="rect">
            <a:avLst/>
          </a:prstGeom>
        </p:spPr>
      </p:pic>
      <p:sp>
        <p:nvSpPr>
          <p:cNvPr id="7" name="Shape 3"/>
          <p:cNvSpPr/>
          <p:nvPr/>
        </p:nvSpPr>
        <p:spPr>
          <a:xfrm>
            <a:off x="457200" y="1417320"/>
            <a:ext cx="7863840" cy="4423410"/>
          </a:xfrm>
          <a:prstGeom prst="rect">
            <a:avLst/>
          </a:prstGeom>
          <a:solidFill>
            <a:srgbClr val="0A0E14">
              <a:alpha val="0"/>
            </a:srgbClr>
          </a:solidFill>
          <a:ln w="9525">
            <a:solidFill>
              <a:srgbClr val="1E2A3A"/>
            </a:solidFill>
            <a:prstDash val="solid"/>
          </a:ln>
        </p:spPr>
      </p:sp>
      <p:sp>
        <p:nvSpPr>
          <p:cNvPr id="8" name="Text 4"/>
          <p:cNvSpPr txBox="1"/>
          <p:nvPr/>
        </p:nvSpPr>
        <p:spPr>
          <a:xfrm>
            <a:off x="457200" y="5895594"/>
            <a:ext cx="786384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Command view, live: sandbox cameras cam09, cam27 and cam28 over RTSP and sample feed local01, all through the relay (captured 25 Sep 2026)</a:t>
            </a:r>
            <a:endParaRPr lang="en-US" sz="900" dirty="0"/>
          </a:p>
        </p:txBody>
      </p:sp>
      <p:sp>
        <p:nvSpPr>
          <p:cNvPr id="9" name="Shape 5"/>
          <p:cNvSpPr/>
          <p:nvPr/>
        </p:nvSpPr>
        <p:spPr>
          <a:xfrm>
            <a:off x="8595360" y="1463040"/>
            <a:ext cx="292608" cy="292608"/>
          </a:xfrm>
          <a:prstGeom prst="ellipse">
            <a:avLst/>
          </a:prstGeom>
          <a:solidFill>
            <a:srgbClr val="3D7FD6"/>
          </a:solidFill>
          <a:ln w="12700">
            <a:solidFill>
              <a:srgbClr val="3D7FD6"/>
            </a:solidFill>
            <a:prstDash val="solid"/>
          </a:ln>
        </p:spPr>
      </p:sp>
      <p:sp>
        <p:nvSpPr>
          <p:cNvPr id="10" name="Text 6"/>
          <p:cNvSpPr txBox="1"/>
          <p:nvPr/>
        </p:nvSpPr>
        <p:spPr>
          <a:xfrm>
            <a:off x="8595360" y="14630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7"/>
          <p:cNvSpPr txBox="1"/>
          <p:nvPr/>
        </p:nvSpPr>
        <p:spPr>
          <a:xfrm>
            <a:off x="9006840" y="1417320"/>
            <a:ext cx="2743200" cy="731520"/>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Live tiles  </a:t>
            </a:r>
            <a:pPr indent="0" marL="0">
              <a:buNone/>
            </a:pPr>
            <a:r>
              <a:rPr lang="en-US" sz="1100" dirty="0">
                <a:solidFill>
                  <a:srgbClr val="8A97A6"/>
                </a:solidFill>
                <a:latin typeface="Calibri" pitchFamily="34" charset="0"/>
                <a:ea typeface="Calibri" pitchFamily="34" charset="-122"/>
                <a:cs typeface="Calibri" pitchFamily="34" charset="-120"/>
              </a:rPr>
              <a:t>Analysed feeds relayed, not recorded: a self-overwriting 20 s window is the only video on disk.</a:t>
            </a:r>
            <a:endParaRPr lang="en-US" sz="1100" dirty="0"/>
          </a:p>
        </p:txBody>
      </p:sp>
      <p:sp>
        <p:nvSpPr>
          <p:cNvPr id="12" name="Shape 8"/>
          <p:cNvSpPr/>
          <p:nvPr/>
        </p:nvSpPr>
        <p:spPr>
          <a:xfrm>
            <a:off x="8595360" y="2249424"/>
            <a:ext cx="292608" cy="292608"/>
          </a:xfrm>
          <a:prstGeom prst="ellipse">
            <a:avLst/>
          </a:prstGeom>
          <a:solidFill>
            <a:srgbClr val="3D7FD6"/>
          </a:solidFill>
          <a:ln w="12700">
            <a:solidFill>
              <a:srgbClr val="3D7FD6"/>
            </a:solidFill>
            <a:prstDash val="solid"/>
          </a:ln>
        </p:spPr>
      </p:sp>
      <p:sp>
        <p:nvSpPr>
          <p:cNvPr id="13" name="Text 9"/>
          <p:cNvSpPr txBox="1"/>
          <p:nvPr/>
        </p:nvSpPr>
        <p:spPr>
          <a:xfrm>
            <a:off x="8595360" y="22494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0"/>
          <p:cNvSpPr txBox="1"/>
          <p:nvPr/>
        </p:nvSpPr>
        <p:spPr>
          <a:xfrm>
            <a:off x="9006840" y="2203704"/>
            <a:ext cx="2743200" cy="731520"/>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GIS  </a:t>
            </a:r>
            <a:pPr indent="0" marL="0">
              <a:buNone/>
            </a:pPr>
            <a:r>
              <a:rPr lang="en-US" sz="1100" dirty="0">
                <a:solidFill>
                  <a:srgbClr val="8A97A6"/>
                </a:solidFill>
                <a:latin typeface="Calibri" pitchFamily="34" charset="0"/>
                <a:ea typeface="Calibri" pitchFamily="34" charset="-122"/>
                <a:cs typeface="Calibri" pitchFamily="34" charset="-120"/>
              </a:rPr>
              <a:t>58 cameras: the organisers' 30 and 28 local sample feeds, clustered by city.</a:t>
            </a:r>
            <a:endParaRPr lang="en-US" sz="1100" dirty="0"/>
          </a:p>
        </p:txBody>
      </p:sp>
      <p:sp>
        <p:nvSpPr>
          <p:cNvPr id="15" name="Shape 11"/>
          <p:cNvSpPr/>
          <p:nvPr/>
        </p:nvSpPr>
        <p:spPr>
          <a:xfrm>
            <a:off x="8595360" y="3035808"/>
            <a:ext cx="292608" cy="292608"/>
          </a:xfrm>
          <a:prstGeom prst="ellipse">
            <a:avLst/>
          </a:prstGeom>
          <a:solidFill>
            <a:srgbClr val="3D7FD6"/>
          </a:solidFill>
          <a:ln w="12700">
            <a:solidFill>
              <a:srgbClr val="3D7FD6"/>
            </a:solidFill>
            <a:prstDash val="solid"/>
          </a:ln>
        </p:spPr>
      </p:sp>
      <p:sp>
        <p:nvSpPr>
          <p:cNvPr id="16" name="Text 12"/>
          <p:cNvSpPr txBox="1"/>
          <p:nvPr/>
        </p:nvSpPr>
        <p:spPr>
          <a:xfrm>
            <a:off x="8595360" y="30358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3"/>
          <p:cNvSpPr txBox="1"/>
          <p:nvPr/>
        </p:nvSpPr>
        <p:spPr>
          <a:xfrm>
            <a:off x="9006840" y="2990088"/>
            <a:ext cx="2743200" cy="731520"/>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Alerts  </a:t>
            </a:r>
            <a:pPr indent="0" marL="0">
              <a:buNone/>
            </a:pPr>
            <a:r>
              <a:rPr lang="en-US" sz="1100" dirty="0">
                <a:solidFill>
                  <a:srgbClr val="8A97A6"/>
                </a:solidFill>
                <a:latin typeface="Calibri" pitchFamily="34" charset="0"/>
                <a:ea typeface="Calibri" pitchFamily="34" charset="-122"/>
                <a:cs typeface="Calibri" pitchFamily="34" charset="-120"/>
              </a:rPr>
              <a:t>Alert rows tailed from the database and pushed over Server-Sent Events in about 2 s [estimate].</a:t>
            </a:r>
            <a:endParaRPr lang="en-US" sz="1100" dirty="0"/>
          </a:p>
        </p:txBody>
      </p:sp>
      <p:sp>
        <p:nvSpPr>
          <p:cNvPr id="18" name="Shape 14"/>
          <p:cNvSpPr/>
          <p:nvPr/>
        </p:nvSpPr>
        <p:spPr>
          <a:xfrm>
            <a:off x="8595360" y="3822192"/>
            <a:ext cx="292608" cy="292608"/>
          </a:xfrm>
          <a:prstGeom prst="ellipse">
            <a:avLst/>
          </a:prstGeom>
          <a:solidFill>
            <a:srgbClr val="3D7FD6"/>
          </a:solidFill>
          <a:ln w="12700">
            <a:solidFill>
              <a:srgbClr val="3D7FD6"/>
            </a:solidFill>
            <a:prstDash val="solid"/>
          </a:ln>
        </p:spPr>
      </p:sp>
      <p:sp>
        <p:nvSpPr>
          <p:cNvPr id="19" name="Text 15"/>
          <p:cNvSpPr txBox="1"/>
          <p:nvPr/>
        </p:nvSpPr>
        <p:spPr>
          <a:xfrm>
            <a:off x="8595360" y="3822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6"/>
          <p:cNvSpPr txBox="1"/>
          <p:nvPr/>
        </p:nvSpPr>
        <p:spPr>
          <a:xfrm>
            <a:off x="9006840" y="3776472"/>
            <a:ext cx="2743200" cy="731520"/>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Feed status  </a:t>
            </a:r>
            <a:pPr indent="0" marL="0">
              <a:buNone/>
            </a:pPr>
            <a:r>
              <a:rPr lang="en-US" sz="1100" dirty="0">
                <a:solidFill>
                  <a:srgbClr val="8A97A6"/>
                </a:solidFill>
                <a:latin typeface="Calibri" pitchFamily="34" charset="0"/>
                <a:ea typeface="Calibri" pitchFamily="34" charset="-122"/>
                <a:cs typeface="Calibri" pitchFamily="34" charset="-120"/>
              </a:rPr>
              <a:t>Reading, no traffic or feed down, judged by each pull's own freshness.</a:t>
            </a:r>
            <a:endParaRPr lang="en-US" sz="1100" dirty="0"/>
          </a:p>
        </p:txBody>
      </p:sp>
      <p:sp>
        <p:nvSpPr>
          <p:cNvPr id="21" name="Shape 17"/>
          <p:cNvSpPr/>
          <p:nvPr/>
        </p:nvSpPr>
        <p:spPr>
          <a:xfrm>
            <a:off x="8595360" y="4608576"/>
            <a:ext cx="292608" cy="292608"/>
          </a:xfrm>
          <a:prstGeom prst="ellipse">
            <a:avLst/>
          </a:prstGeom>
          <a:solidFill>
            <a:srgbClr val="3D7FD6"/>
          </a:solidFill>
          <a:ln w="12700">
            <a:solidFill>
              <a:srgbClr val="3D7FD6"/>
            </a:solidFill>
            <a:prstDash val="solid"/>
          </a:ln>
        </p:spPr>
      </p:sp>
      <p:sp>
        <p:nvSpPr>
          <p:cNvPr id="22" name="Text 18"/>
          <p:cNvSpPr txBox="1"/>
          <p:nvPr/>
        </p:nvSpPr>
        <p:spPr>
          <a:xfrm>
            <a:off x="8595360" y="460857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19"/>
          <p:cNvSpPr txBox="1"/>
          <p:nvPr/>
        </p:nvSpPr>
        <p:spPr>
          <a:xfrm>
            <a:off x="9006840" y="4562856"/>
            <a:ext cx="2743200" cy="731520"/>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Start here  </a:t>
            </a:r>
            <a:pPr indent="0" marL="0">
              <a:buNone/>
            </a:pPr>
            <a:r>
              <a:rPr lang="en-US" sz="1100" dirty="0">
                <a:solidFill>
                  <a:srgbClr val="8A97A6"/>
                </a:solidFill>
                <a:latin typeface="Calibri" pitchFamily="34" charset="0"/>
                <a:ea typeface="Calibri" pitchFamily="34" charset="-122"/>
                <a:cs typeface="Calibri" pitchFamily="34" charset="-120"/>
              </a:rPr>
              <a:t>The first screen says which data is demonstration data. Demo rows carry a DEMO badge.</a:t>
            </a:r>
            <a:endParaRPr lang="en-US" sz="1100" dirty="0"/>
          </a:p>
        </p:txBody>
      </p:sp>
      <p:sp>
        <p:nvSpPr>
          <p:cNvPr id="24" name="Shape 20"/>
          <p:cNvSpPr/>
          <p:nvPr/>
        </p:nvSpPr>
        <p:spPr>
          <a:xfrm>
            <a:off x="8595360" y="5394960"/>
            <a:ext cx="292608" cy="292608"/>
          </a:xfrm>
          <a:prstGeom prst="ellipse">
            <a:avLst/>
          </a:prstGeom>
          <a:solidFill>
            <a:srgbClr val="3D7FD6"/>
          </a:solidFill>
          <a:ln w="12700">
            <a:solidFill>
              <a:srgbClr val="3D7FD6"/>
            </a:solidFill>
            <a:prstDash val="solid"/>
          </a:ln>
        </p:spPr>
      </p:sp>
      <p:sp>
        <p:nvSpPr>
          <p:cNvPr id="25" name="Text 21"/>
          <p:cNvSpPr txBox="1"/>
          <p:nvPr/>
        </p:nvSpPr>
        <p:spPr>
          <a:xfrm>
            <a:off x="8595360" y="5394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6" name="Text 22"/>
          <p:cNvSpPr txBox="1"/>
          <p:nvPr/>
        </p:nvSpPr>
        <p:spPr>
          <a:xfrm>
            <a:off x="9006840" y="5349240"/>
            <a:ext cx="2743200" cy="731520"/>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Reads and analytics  </a:t>
            </a:r>
            <a:pPr indent="0" marL="0">
              <a:buNone/>
            </a:pPr>
            <a:r>
              <a:rPr lang="en-US" sz="1100" dirty="0">
                <a:solidFill>
                  <a:srgbClr val="8A97A6"/>
                </a:solidFill>
                <a:latin typeface="Calibri" pitchFamily="34" charset="0"/>
                <a:ea typeface="Calibri" pitchFamily="34" charset="-122"/>
                <a:cs typeface="Calibri" pitchFamily="34" charset="-120"/>
              </a:rPr>
              <a:t>Latest plate reads, object, person and zone-event counts from the live detector.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Architecture: one pull, three pipelines, one registry</a:t>
            </a:r>
            <a:endParaRPr lang="en-US" sz="3000" dirty="0"/>
          </a:p>
        </p:txBody>
      </p:sp>
      <p:sp>
        <p:nvSpPr>
          <p:cNvPr id="5" name="Shape 2"/>
          <p:cNvSpPr/>
          <p:nvPr/>
        </p:nvSpPr>
        <p:spPr>
          <a:xfrm>
            <a:off x="457200" y="1371600"/>
            <a:ext cx="11247120" cy="731520"/>
          </a:xfrm>
          <a:prstGeom prst="roundRect">
            <a:avLst>
              <a:gd name="adj" fmla="val 15000"/>
            </a:avLst>
          </a:prstGeom>
          <a:solidFill>
            <a:srgbClr val="111823"/>
          </a:solidFill>
          <a:ln w="9525">
            <a:solidFill>
              <a:srgbClr val="1E2A3A"/>
            </a:solidFill>
            <a:prstDash val="solid"/>
          </a:ln>
        </p:spPr>
      </p:sp>
      <p:sp>
        <p:nvSpPr>
          <p:cNvPr id="6" name="Text 3"/>
          <p:cNvSpPr txBox="1"/>
          <p:nvPr/>
        </p:nvSpPr>
        <p:spPr>
          <a:xfrm>
            <a:off x="685800" y="1417320"/>
            <a:ext cx="10881360" cy="640080"/>
          </a:xfrm>
          <a:prstGeom prst="rect">
            <a:avLst/>
          </a:prstGeom>
          <a:noFill/>
          <a:ln/>
        </p:spPr>
        <p:txBody>
          <a:bodyPr wrap="square" lIns="0" tIns="0" rIns="0" bIns="0" rtlCol="0" anchor="ctr"/>
          <a:lstStyle/>
          <a:p>
            <a:pPr indent="0" marL="0">
              <a:buNone/>
            </a:pPr>
            <a:r>
              <a:rPr lang="en-US" sz="1200" b="1" dirty="0">
                <a:solidFill>
                  <a:srgbClr val="3D7FD6"/>
                </a:solidFill>
                <a:latin typeface="Calibri" pitchFamily="34" charset="0"/>
                <a:ea typeface="Calibri" pitchFamily="34" charset="-122"/>
                <a:cs typeface="Calibri" pitchFamily="34" charset="-120"/>
              </a:rPr>
              <a:t>MODEL 1 REGISTRY + GIS   </a:t>
            </a:r>
            <a:pPr indent="0" marL="0">
              <a:buNone/>
            </a:pPr>
            <a:r>
              <a:rPr lang="en-US" sz="1200" dirty="0">
                <a:solidFill>
                  <a:srgbClr val="E6EDF5"/>
                </a:solidFill>
                <a:latin typeface="Calibri" pitchFamily="34" charset="0"/>
                <a:ea typeface="Calibri" pitchFamily="34" charset="-122"/>
                <a:cs typeface="Calibri" pitchFamily="34" charset="-120"/>
              </a:rPr>
              <a:t>the control plane: id, department, location, bearing, field of view, stream URLs (never credentials), codec, health, tier, zones. Nothing downstream hard-codes a camera.</a:t>
            </a:r>
            <a:endParaRPr lang="en-US" sz="1200" dirty="0"/>
          </a:p>
        </p:txBody>
      </p:sp>
      <p:sp>
        <p:nvSpPr>
          <p:cNvPr id="7" name="Shape 4"/>
          <p:cNvSpPr/>
          <p:nvPr/>
        </p:nvSpPr>
        <p:spPr>
          <a:xfrm>
            <a:off x="4206240" y="2331720"/>
            <a:ext cx="3749040" cy="548640"/>
          </a:xfrm>
          <a:prstGeom prst="roundRect">
            <a:avLst>
              <a:gd name="adj" fmla="val 16667"/>
            </a:avLst>
          </a:prstGeom>
          <a:solidFill>
            <a:srgbClr val="16202E"/>
          </a:solidFill>
          <a:ln w="12700">
            <a:solidFill>
              <a:srgbClr val="3D7FD6"/>
            </a:solidFill>
            <a:prstDash val="solid"/>
          </a:ln>
        </p:spPr>
      </p:sp>
      <p:sp>
        <p:nvSpPr>
          <p:cNvPr id="8" name="Text 5"/>
          <p:cNvSpPr txBox="1"/>
          <p:nvPr/>
        </p:nvSpPr>
        <p:spPr>
          <a:xfrm>
            <a:off x="4206240" y="2331720"/>
            <a:ext cx="3749040" cy="548640"/>
          </a:xfrm>
          <a:prstGeom prst="rect">
            <a:avLst/>
          </a:prstGeom>
          <a:noFill/>
          <a:ln/>
        </p:spPr>
        <p:txBody>
          <a:bodyPr wrap="square" lIns="0" tIns="0" rIns="0" bIns="0" rtlCol="0" anchor="ctr"/>
          <a:lstStyle/>
          <a:p>
            <a:pPr algn="ctr" indent="0" marL="0">
              <a:buNone/>
            </a:pPr>
            <a:r>
              <a:rPr lang="en-US" sz="1100" b="1" dirty="0">
                <a:solidFill>
                  <a:srgbClr val="E6EDF5"/>
                </a:solidFill>
                <a:latin typeface="Calibri" pitchFamily="34" charset="0"/>
                <a:ea typeface="Calibri" pitchFamily="34" charset="-122"/>
                <a:cs typeface="Calibri" pitchFamily="34" charset="-120"/>
              </a:rPr>
              <a:t>CAMERA GRID  &gt;  ONE pull per camera (RTSP over TCP)  &gt;  NODE</a:t>
            </a:r>
            <a:endParaRPr lang="en-US" sz="1100" dirty="0"/>
          </a:p>
        </p:txBody>
      </p:sp>
      <p:sp>
        <p:nvSpPr>
          <p:cNvPr id="9" name="Shape 6"/>
          <p:cNvSpPr/>
          <p:nvPr/>
        </p:nvSpPr>
        <p:spPr>
          <a:xfrm>
            <a:off x="6080760" y="2880360"/>
            <a:ext cx="0" cy="320040"/>
          </a:xfrm>
          <a:prstGeom prst="line">
            <a:avLst/>
          </a:prstGeom>
          <a:noFill/>
          <a:ln w="12700">
            <a:solidFill>
              <a:srgbClr val="1E2A3A"/>
            </a:solidFill>
            <a:prstDash val="solid"/>
          </a:ln>
        </p:spPr>
      </p:sp>
      <p:sp>
        <p:nvSpPr>
          <p:cNvPr id="10" name="Shape 7"/>
          <p:cNvSpPr/>
          <p:nvPr/>
        </p:nvSpPr>
        <p:spPr>
          <a:xfrm>
            <a:off x="457200" y="3200400"/>
            <a:ext cx="3657600" cy="2331720"/>
          </a:xfrm>
          <a:prstGeom prst="roundRect">
            <a:avLst>
              <a:gd name="adj" fmla="val 4706"/>
            </a:avLst>
          </a:prstGeom>
          <a:solidFill>
            <a:srgbClr val="111823"/>
          </a:solidFill>
          <a:ln w="9525">
            <a:solidFill>
              <a:srgbClr val="1E2A3A"/>
            </a:solidFill>
            <a:prstDash val="solid"/>
          </a:ln>
        </p:spPr>
      </p:sp>
      <p:sp>
        <p:nvSpPr>
          <p:cNvPr id="11" name="Text 8"/>
          <p:cNvSpPr txBox="1"/>
          <p:nvPr/>
        </p:nvSpPr>
        <p:spPr>
          <a:xfrm>
            <a:off x="640080" y="3291840"/>
            <a:ext cx="3291840" cy="320040"/>
          </a:xfrm>
          <a:prstGeom prst="rect">
            <a:avLst/>
          </a:prstGeom>
          <a:noFill/>
          <a:ln/>
        </p:spPr>
        <p:txBody>
          <a:bodyPr wrap="square" lIns="0" tIns="0" rIns="0" bIns="0" rtlCol="0" anchor="ctr"/>
          <a:lstStyle/>
          <a:p>
            <a:pPr indent="0" marL="0">
              <a:buNone/>
            </a:pPr>
            <a:r>
              <a:rPr lang="en-US" sz="1200" b="1" dirty="0">
                <a:solidFill>
                  <a:srgbClr val="39A56A"/>
                </a:solidFill>
                <a:latin typeface="Calibri" pitchFamily="34" charset="0"/>
                <a:ea typeface="Calibri" pitchFamily="34" charset="-122"/>
                <a:cs typeface="Calibri" pitchFamily="34" charset="-120"/>
              </a:rPr>
              <a:t>PIPELINE 1  ·  LIVE VIEW</a:t>
            </a:r>
            <a:endParaRPr lang="en-US" sz="1200" dirty="0"/>
          </a:p>
        </p:txBody>
      </p:sp>
      <p:sp>
        <p:nvSpPr>
          <p:cNvPr id="12" name="Text 9"/>
          <p:cNvSpPr txBox="1"/>
          <p:nvPr/>
        </p:nvSpPr>
        <p:spPr>
          <a:xfrm>
            <a:off x="594360" y="3639312"/>
            <a:ext cx="3383280" cy="1463040"/>
          </a:xfrm>
          <a:prstGeom prst="rect">
            <a:avLst/>
          </a:prstGeom>
          <a:noFill/>
          <a:ln/>
        </p:spPr>
        <p:txBody>
          <a:bodyPr wrap="square" lIns="25400" tIns="25400" rIns="25400" bIns="25400" rtlCol="0" anchor="t"/>
          <a:lstStyle/>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Relay to the control room: Command and the Live Wall</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hls.js tiles; the API holds the upstream session</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Persists: a self-overwriting 20 s relay window only</a:t>
            </a:r>
            <a:endParaRPr lang="en-US" sz="1100" dirty="0"/>
          </a:p>
        </p:txBody>
      </p:sp>
      <p:sp>
        <p:nvSpPr>
          <p:cNvPr id="13" name="Text 10"/>
          <p:cNvSpPr txBox="1"/>
          <p:nvPr/>
        </p:nvSpPr>
        <p:spPr>
          <a:xfrm>
            <a:off x="640080" y="5120640"/>
            <a:ext cx="3291840" cy="320040"/>
          </a:xfrm>
          <a:prstGeom prst="rect">
            <a:avLst/>
          </a:prstGeom>
          <a:noFill/>
          <a:ln/>
        </p:spPr>
        <p:txBody>
          <a:bodyPr wrap="square" lIns="0" tIns="0" rIns="0" bIns="0" rtlCol="0" anchor="ctr"/>
          <a:lstStyle/>
          <a:p>
            <a:pPr indent="0" marL="0">
              <a:buNone/>
            </a:pPr>
            <a:r>
              <a:rPr lang="en-US" sz="1100" i="1" dirty="0">
                <a:solidFill>
                  <a:srgbClr val="8A97A6"/>
                </a:solidFill>
                <a:latin typeface="Calibri" pitchFamily="34" charset="0"/>
                <a:ea typeface="Calibri" pitchFamily="34" charset="-122"/>
                <a:cs typeface="Calibri" pitchFamily="34" charset="-120"/>
              </a:rPr>
              <a:t>relayed, not recorded  ·  built</a:t>
            </a:r>
            <a:endParaRPr lang="en-US" sz="1100" dirty="0"/>
          </a:p>
        </p:txBody>
      </p:sp>
      <p:sp>
        <p:nvSpPr>
          <p:cNvPr id="14" name="Shape 11"/>
          <p:cNvSpPr/>
          <p:nvPr/>
        </p:nvSpPr>
        <p:spPr>
          <a:xfrm>
            <a:off x="6080760" y="2880360"/>
            <a:ext cx="0" cy="320040"/>
          </a:xfrm>
          <a:prstGeom prst="line">
            <a:avLst/>
          </a:prstGeom>
          <a:noFill/>
          <a:ln w="12700">
            <a:solidFill>
              <a:srgbClr val="1E2A3A"/>
            </a:solidFill>
            <a:prstDash val="solid"/>
          </a:ln>
        </p:spPr>
      </p:sp>
      <p:sp>
        <p:nvSpPr>
          <p:cNvPr id="15" name="Shape 12"/>
          <p:cNvSpPr/>
          <p:nvPr/>
        </p:nvSpPr>
        <p:spPr>
          <a:xfrm>
            <a:off x="4251960" y="3200400"/>
            <a:ext cx="3657600" cy="2331720"/>
          </a:xfrm>
          <a:prstGeom prst="roundRect">
            <a:avLst>
              <a:gd name="adj" fmla="val 4706"/>
            </a:avLst>
          </a:prstGeom>
          <a:solidFill>
            <a:srgbClr val="111823"/>
          </a:solidFill>
          <a:ln w="9525">
            <a:solidFill>
              <a:srgbClr val="1E2A3A"/>
            </a:solidFill>
            <a:prstDash val="solid"/>
          </a:ln>
        </p:spPr>
      </p:sp>
      <p:sp>
        <p:nvSpPr>
          <p:cNvPr id="16" name="Text 13"/>
          <p:cNvSpPr txBox="1"/>
          <p:nvPr/>
        </p:nvSpPr>
        <p:spPr>
          <a:xfrm>
            <a:off x="4434840" y="3291840"/>
            <a:ext cx="3291840" cy="320040"/>
          </a:xfrm>
          <a:prstGeom prst="rect">
            <a:avLst/>
          </a:prstGeom>
          <a:noFill/>
          <a:ln/>
        </p:spPr>
        <p:txBody>
          <a:bodyPr wrap="square" lIns="0" tIns="0" rIns="0" bIns="0" rtlCol="0" anchor="ctr"/>
          <a:lstStyle/>
          <a:p>
            <a:pPr indent="0" marL="0">
              <a:buNone/>
            </a:pPr>
            <a:r>
              <a:rPr lang="en-US" sz="1200" b="1" dirty="0">
                <a:solidFill>
                  <a:srgbClr val="3D7FD6"/>
                </a:solidFill>
                <a:latin typeface="Calibri" pitchFamily="34" charset="0"/>
                <a:ea typeface="Calibri" pitchFamily="34" charset="-122"/>
                <a:cs typeface="Calibri" pitchFamily="34" charset="-120"/>
              </a:rPr>
              <a:t>PIPELINE 2  ·  AI ANALYTICS</a:t>
            </a:r>
            <a:endParaRPr lang="en-US" sz="1200" dirty="0"/>
          </a:p>
        </p:txBody>
      </p:sp>
      <p:sp>
        <p:nvSpPr>
          <p:cNvPr id="17" name="Text 14"/>
          <p:cNvSpPr txBox="1"/>
          <p:nvPr/>
        </p:nvSpPr>
        <p:spPr>
          <a:xfrm>
            <a:off x="4389120" y="3639312"/>
            <a:ext cx="3383280" cy="1463040"/>
          </a:xfrm>
          <a:prstGeom prst="rect">
            <a:avLst/>
          </a:prstGeom>
          <a:noFill/>
          <a:ln/>
        </p:spPr>
        <p:txBody>
          <a:bodyPr wrap="square" lIns="25400" tIns="25400" rIns="25400" bIns="25400" rtlCol="0" anchor="t"/>
          <a:lstStyle/>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Motion gate, detect, track, crop, OCR</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Match against the LOCAL cached watchlist</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Persists: text rows plus a plate crop of about 2 KB</a:t>
            </a:r>
            <a:endParaRPr lang="en-US" sz="1100" dirty="0"/>
          </a:p>
        </p:txBody>
      </p:sp>
      <p:sp>
        <p:nvSpPr>
          <p:cNvPr id="18" name="Text 15"/>
          <p:cNvSpPr txBox="1"/>
          <p:nvPr/>
        </p:nvSpPr>
        <p:spPr>
          <a:xfrm>
            <a:off x="4434840" y="5120640"/>
            <a:ext cx="3291840" cy="320040"/>
          </a:xfrm>
          <a:prstGeom prst="rect">
            <a:avLst/>
          </a:prstGeom>
          <a:noFill/>
          <a:ln/>
        </p:spPr>
        <p:txBody>
          <a:bodyPr wrap="square" lIns="0" tIns="0" rIns="0" bIns="0" rtlCol="0" anchor="ctr"/>
          <a:lstStyle/>
          <a:p>
            <a:pPr indent="0" marL="0">
              <a:buNone/>
            </a:pPr>
            <a:r>
              <a:rPr lang="en-US" sz="1100" i="1" dirty="0">
                <a:solidFill>
                  <a:srgbClr val="8A97A6"/>
                </a:solidFill>
                <a:latin typeface="Calibri" pitchFamily="34" charset="0"/>
                <a:ea typeface="Calibri" pitchFamily="34" charset="-122"/>
                <a:cs typeface="Calibri" pitchFamily="34" charset="-120"/>
              </a:rPr>
              <a:t>text and crop only  ·  built</a:t>
            </a:r>
            <a:endParaRPr lang="en-US" sz="1100" dirty="0"/>
          </a:p>
        </p:txBody>
      </p:sp>
      <p:sp>
        <p:nvSpPr>
          <p:cNvPr id="19" name="Shape 16"/>
          <p:cNvSpPr/>
          <p:nvPr/>
        </p:nvSpPr>
        <p:spPr>
          <a:xfrm>
            <a:off x="6080760" y="2880360"/>
            <a:ext cx="0" cy="320040"/>
          </a:xfrm>
          <a:prstGeom prst="line">
            <a:avLst/>
          </a:prstGeom>
          <a:noFill/>
          <a:ln w="12700">
            <a:solidFill>
              <a:srgbClr val="1E2A3A"/>
            </a:solidFill>
            <a:prstDash val="solid"/>
          </a:ln>
        </p:spPr>
      </p:sp>
      <p:sp>
        <p:nvSpPr>
          <p:cNvPr id="20" name="Shape 17"/>
          <p:cNvSpPr/>
          <p:nvPr/>
        </p:nvSpPr>
        <p:spPr>
          <a:xfrm>
            <a:off x="8046720" y="3200400"/>
            <a:ext cx="3657600" cy="2331720"/>
          </a:xfrm>
          <a:prstGeom prst="roundRect">
            <a:avLst>
              <a:gd name="adj" fmla="val 4706"/>
            </a:avLst>
          </a:prstGeom>
          <a:solidFill>
            <a:srgbClr val="111823"/>
          </a:solidFill>
          <a:ln w="9525">
            <a:solidFill>
              <a:srgbClr val="1E2A3A"/>
            </a:solidFill>
            <a:prstDash val="solid"/>
          </a:ln>
        </p:spPr>
      </p:sp>
      <p:sp>
        <p:nvSpPr>
          <p:cNvPr id="21" name="Text 18"/>
          <p:cNvSpPr txBox="1"/>
          <p:nvPr/>
        </p:nvSpPr>
        <p:spPr>
          <a:xfrm>
            <a:off x="8229600" y="3291840"/>
            <a:ext cx="3291840" cy="320040"/>
          </a:xfrm>
          <a:prstGeom prst="rect">
            <a:avLst/>
          </a:prstGeom>
          <a:noFill/>
          <a:ln/>
        </p:spPr>
        <p:txBody>
          <a:bodyPr wrap="square" lIns="0" tIns="0" rIns="0" bIns="0" rtlCol="0" anchor="ctr"/>
          <a:lstStyle/>
          <a:p>
            <a:pPr indent="0" marL="0">
              <a:buNone/>
            </a:pPr>
            <a:r>
              <a:rPr lang="en-US" sz="1200" b="1" dirty="0">
                <a:solidFill>
                  <a:srgbClr val="E0912F"/>
                </a:solidFill>
                <a:latin typeface="Calibri" pitchFamily="34" charset="0"/>
                <a:ea typeface="Calibri" pitchFamily="34" charset="-122"/>
                <a:cs typeface="Calibri" pitchFamily="34" charset="-120"/>
              </a:rPr>
              <a:t>PIPELINE 3  ·  EVIDENCE</a:t>
            </a:r>
            <a:endParaRPr lang="en-US" sz="1200" dirty="0"/>
          </a:p>
        </p:txBody>
      </p:sp>
      <p:sp>
        <p:nvSpPr>
          <p:cNvPr id="22" name="Text 19"/>
          <p:cNvSpPr txBox="1"/>
          <p:nvPr/>
        </p:nvSpPr>
        <p:spPr>
          <a:xfrm>
            <a:off x="8183880" y="3639312"/>
            <a:ext cx="3383280" cy="1463040"/>
          </a:xfrm>
          <a:prstGeom prst="rect">
            <a:avLst/>
          </a:prstGeom>
          <a:noFill/>
          <a:ln/>
        </p:spPr>
        <p:txBody>
          <a:bodyPr wrap="square" lIns="25400" tIns="25400" rIns="25400" bIns="25400" rtlCol="0" anchor="t"/>
          <a:lstStyle/>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Fixed-size rolling buffer per camera</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Promote 30 s either side, on a watchlist match only</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Persists: clip, SHA-256, audit row</a:t>
            </a:r>
            <a:endParaRPr lang="en-US" sz="1100" dirty="0"/>
          </a:p>
        </p:txBody>
      </p:sp>
      <p:sp>
        <p:nvSpPr>
          <p:cNvPr id="23" name="Text 20"/>
          <p:cNvSpPr txBox="1"/>
          <p:nvPr/>
        </p:nvSpPr>
        <p:spPr>
          <a:xfrm>
            <a:off x="8229600" y="5120640"/>
            <a:ext cx="3291840" cy="320040"/>
          </a:xfrm>
          <a:prstGeom prst="rect">
            <a:avLst/>
          </a:prstGeom>
          <a:noFill/>
          <a:ln/>
        </p:spPr>
        <p:txBody>
          <a:bodyPr wrap="square" lIns="0" tIns="0" rIns="0" bIns="0" rtlCol="0" anchor="ctr"/>
          <a:lstStyle/>
          <a:p>
            <a:pPr indent="0" marL="0">
              <a:buNone/>
            </a:pPr>
            <a:r>
              <a:rPr lang="en-US" sz="1100" i="1" dirty="0">
                <a:solidFill>
                  <a:srgbClr val="8A97A6"/>
                </a:solidFill>
                <a:latin typeface="Calibri" pitchFamily="34" charset="0"/>
                <a:ea typeface="Calibri" pitchFamily="34" charset="-122"/>
                <a:cs typeface="Calibri" pitchFamily="34" charset="-120"/>
              </a:rPr>
              <a:t>designed and validated separately; not built in the demo</a:t>
            </a:r>
            <a:endParaRPr lang="en-US" sz="1100" dirty="0"/>
          </a:p>
        </p:txBody>
      </p:sp>
      <p:sp>
        <p:nvSpPr>
          <p:cNvPr id="24" name="Text 21"/>
          <p:cNvSpPr txBox="1"/>
          <p:nvPr/>
        </p:nvSpPr>
        <p:spPr>
          <a:xfrm>
            <a:off x="457200" y="5669280"/>
            <a:ext cx="11247120" cy="64008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Governing rule: </a:t>
            </a:r>
            <a:pPr indent="0" marL="0">
              <a:buNone/>
            </a:pPr>
            <a:r>
              <a:rPr lang="en-US" sz="1200" dirty="0">
                <a:solidFill>
                  <a:srgbClr val="8A97A6"/>
                </a:solidFill>
                <a:latin typeface="Calibri" pitchFamily="34" charset="0"/>
                <a:ea typeface="Calibri" pitchFamily="34" charset="-122"/>
                <a:cs typeface="Calibri" pitchFamily="34" charset="-120"/>
              </a:rPr>
              <a:t>video becomes permanent only where a specific, logged, auditable watchlist match justifies it. In the demonstrated system, where Pipeline 3 is not built, no video is kept beyond the 20-second relay window.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Model 1: registry, GIS console and the named deliverables</a:t>
            </a:r>
            <a:endParaRPr lang="en-US" sz="3000" dirty="0"/>
          </a:p>
        </p:txBody>
      </p:sp>
      <p:pic>
        <p:nvPicPr>
          <p:cNvPr id="5" name="Image 0" descr="D:\projects\sentinel-gujarat\deliverables\deck\img\map.png">    </p:cNvPr>
          <p:cNvPicPr>
            <a:picLocks noChangeAspect="1"/>
          </p:cNvPicPr>
          <p:nvPr/>
        </p:nvPicPr>
        <p:blipFill>
          <a:blip r:embed="rId1"/>
          <a:stretch>
            <a:fillRect/>
          </a:stretch>
        </p:blipFill>
        <p:spPr>
          <a:xfrm>
            <a:off x="457200" y="1371600"/>
            <a:ext cx="5532120" cy="3111817"/>
          </a:xfrm>
          <a:prstGeom prst="rect">
            <a:avLst/>
          </a:prstGeom>
        </p:spPr>
      </p:pic>
      <p:sp>
        <p:nvSpPr>
          <p:cNvPr id="6" name="Shape 2"/>
          <p:cNvSpPr/>
          <p:nvPr/>
        </p:nvSpPr>
        <p:spPr>
          <a:xfrm>
            <a:off x="457200" y="1371600"/>
            <a:ext cx="5532120" cy="3111817"/>
          </a:xfrm>
          <a:prstGeom prst="rect">
            <a:avLst/>
          </a:prstGeom>
          <a:solidFill>
            <a:srgbClr val="0A0E14">
              <a:alpha val="0"/>
            </a:srgbClr>
          </a:solidFill>
          <a:ln w="9525">
            <a:solidFill>
              <a:srgbClr val="1E2A3A"/>
            </a:solidFill>
            <a:prstDash val="solid"/>
          </a:ln>
        </p:spPr>
      </p:sp>
      <p:sp>
        <p:nvSpPr>
          <p:cNvPr id="7" name="Text 3"/>
          <p:cNvSpPr txBox="1"/>
          <p:nvPr/>
        </p:nvSpPr>
        <p:spPr>
          <a:xfrm>
            <a:off x="457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GIS console, live: all 58 cameras clustered by city, department layers, basemap choice and legend</a:t>
            </a:r>
            <a:endParaRPr lang="en-US" sz="900" dirty="0"/>
          </a:p>
        </p:txBody>
      </p:sp>
      <p:pic>
        <p:nvPicPr>
          <p:cNvPr id="8" name="Image 1" descr="D:\projects\sentinel-gujarat\deliverables\deck\img\gis.png">    </p:cNvPr>
          <p:cNvPicPr>
            <a:picLocks noChangeAspect="1"/>
          </p:cNvPicPr>
          <p:nvPr/>
        </p:nvPicPr>
        <p:blipFill>
          <a:blip r:embed="rId2"/>
          <a:stretch>
            <a:fillRect/>
          </a:stretch>
        </p:blipFill>
        <p:spPr>
          <a:xfrm>
            <a:off x="6172200" y="1371600"/>
            <a:ext cx="5532120" cy="3111817"/>
          </a:xfrm>
          <a:prstGeom prst="rect">
            <a:avLst/>
          </a:prstGeom>
        </p:spPr>
      </p:pic>
      <p:sp>
        <p:nvSpPr>
          <p:cNvPr id="9" name="Shape 4"/>
          <p:cNvSpPr/>
          <p:nvPr/>
        </p:nvSpPr>
        <p:spPr>
          <a:xfrm>
            <a:off x="6172200" y="1371600"/>
            <a:ext cx="5532120" cy="3111817"/>
          </a:xfrm>
          <a:prstGeom prst="rect">
            <a:avLst/>
          </a:prstGeom>
          <a:solidFill>
            <a:srgbClr val="0A0E14">
              <a:alpha val="0"/>
            </a:srgbClr>
          </a:solidFill>
          <a:ln w="9525">
            <a:solidFill>
              <a:srgbClr val="1E2A3A"/>
            </a:solidFill>
            <a:prstDash val="solid"/>
          </a:ln>
        </p:spPr>
      </p:sp>
      <p:sp>
        <p:nvSpPr>
          <p:cNvPr id="10" name="Text 5"/>
          <p:cNvSpPr txBox="1"/>
          <p:nvPr/>
        </p:nvSpPr>
        <p:spPr>
          <a:xfrm>
            <a:off x="6172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Zoomed to Gandhinagar: pins by department, field-of-view sectors, 24 h read activity and the camera's registry record</a:t>
            </a:r>
            <a:endParaRPr lang="en-US" sz="900" dirty="0"/>
          </a:p>
        </p:txBody>
      </p:sp>
      <p:sp>
        <p:nvSpPr>
          <p:cNvPr id="11" name="Shape 6"/>
          <p:cNvSpPr/>
          <p:nvPr/>
        </p:nvSpPr>
        <p:spPr>
          <a:xfrm>
            <a:off x="457200" y="4892040"/>
            <a:ext cx="11247120" cy="1417320"/>
          </a:xfrm>
          <a:prstGeom prst="roundRect">
            <a:avLst>
              <a:gd name="adj" fmla="val 7742"/>
            </a:avLst>
          </a:prstGeom>
          <a:solidFill>
            <a:srgbClr val="111823"/>
          </a:solidFill>
          <a:ln w="9525">
            <a:solidFill>
              <a:srgbClr val="1E2A3A"/>
            </a:solidFill>
            <a:prstDash val="solid"/>
          </a:ln>
        </p:spPr>
      </p:sp>
      <p:sp>
        <p:nvSpPr>
          <p:cNvPr id="12" name="Text 7"/>
          <p:cNvSpPr txBox="1"/>
          <p:nvPr/>
        </p:nvSpPr>
        <p:spPr>
          <a:xfrm>
            <a:off x="685800" y="4965192"/>
            <a:ext cx="4572000" cy="274320"/>
          </a:xfrm>
          <a:prstGeom prst="rect">
            <a:avLst/>
          </a:prstGeom>
          <a:noFill/>
          <a:ln/>
        </p:spPr>
        <p:txBody>
          <a:bodyPr wrap="square" lIns="0" tIns="0" rIns="0" bIns="0" rtlCol="0" anchor="ctr"/>
          <a:lstStyle/>
          <a:p>
            <a:pPr indent="0" marL="0">
              <a:buNone/>
            </a:pPr>
            <a:r>
              <a:rPr lang="en-US" sz="1050" dirty="0">
                <a:solidFill>
                  <a:srgbClr val="39A56A"/>
                </a:solidFill>
                <a:latin typeface="Calibri" pitchFamily="34" charset="0"/>
                <a:ea typeface="Calibri" pitchFamily="34" charset="-122"/>
                <a:cs typeface="Calibri" pitchFamily="34" charset="-120"/>
              </a:rPr>
              <a:t>MODEL 1 DELIVERABLES: BUILT</a:t>
            </a:r>
            <a:endParaRPr lang="en-US" sz="1050" dirty="0"/>
          </a:p>
        </p:txBody>
      </p:sp>
      <p:sp>
        <p:nvSpPr>
          <p:cNvPr id="13" name="Text 8"/>
          <p:cNvSpPr txBox="1"/>
          <p:nvPr/>
        </p:nvSpPr>
        <p:spPr>
          <a:xfrm>
            <a:off x="685800" y="5230368"/>
            <a:ext cx="5394960" cy="1051560"/>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Registry portal with a GIS console: street, light and satellite basemaps; department layers, coverage sectors, activity, cluster hulls, coverage gaps</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Onboarding by form, bulk CSV (each row accepted or rejected with a reason) and POST /api/cameras, every action audited</a:t>
            </a:r>
            <a:endParaRPr lang="en-US" sz="1050" dirty="0"/>
          </a:p>
        </p:txBody>
      </p:sp>
      <p:sp>
        <p:nvSpPr>
          <p:cNvPr id="14" name="Text 9"/>
          <p:cNvSpPr txBox="1"/>
          <p:nvPr/>
        </p:nvSpPr>
        <p:spPr>
          <a:xfrm>
            <a:off x="6217920" y="5230368"/>
            <a:ext cx="5349240" cy="1051560"/>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58 cameras registered: the organisers' 30 across 5 departments and 28 local sample feeds; registry API documented as OpenAPI; gap-analysis report; health monitoring</a:t>
            </a:r>
            <a:endParaRPr lang="en-US" sz="1050" dirty="0"/>
          </a:p>
          <a:p>
            <a:pPr marL="342900" indent="-342900">
              <a:spcAft>
                <a:spcPts val="500"/>
              </a:spcAft>
              <a:buSzPct val="100000"/>
              <a:buChar char="•"/>
            </a:pPr>
            <a:r>
              <a:rPr lang="en-US" sz="1050" dirty="0">
                <a:solidFill>
                  <a:srgbClr val="8A97A6"/>
                </a:solidFill>
                <a:latin typeface="Calibri" pitchFamily="34" charset="0"/>
                <a:ea typeface="Calibri" pitchFamily="34" charset="-122"/>
                <a:cs typeface="Calibri" pitchFamily="34" charset="-120"/>
              </a:rPr>
              <a:t>Disclosed: the catalogue carries only id and name. Departments and coordinates of the sandbox cameras and of the sample feeds are seeded in committed files.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Model 2: two different systems in one viewer</a:t>
            </a:r>
            <a:endParaRPr lang="en-US" sz="3000" dirty="0"/>
          </a:p>
        </p:txBody>
      </p:sp>
      <p:pic>
        <p:nvPicPr>
          <p:cNvPr id="5" name="Image 0" descr="D:\projects\sentinel-gujarat\deliverables\deck\img\wall.png">    </p:cNvPr>
          <p:cNvPicPr>
            <a:picLocks noChangeAspect="1"/>
          </p:cNvPicPr>
          <p:nvPr/>
        </p:nvPicPr>
        <p:blipFill>
          <a:blip r:embed="rId1"/>
          <a:stretch>
            <a:fillRect/>
          </a:stretch>
        </p:blipFill>
        <p:spPr>
          <a:xfrm>
            <a:off x="457200" y="1371600"/>
            <a:ext cx="5532120" cy="3111817"/>
          </a:xfrm>
          <a:prstGeom prst="rect">
            <a:avLst/>
          </a:prstGeom>
        </p:spPr>
      </p:pic>
      <p:sp>
        <p:nvSpPr>
          <p:cNvPr id="6" name="Shape 2"/>
          <p:cNvSpPr/>
          <p:nvPr/>
        </p:nvSpPr>
        <p:spPr>
          <a:xfrm>
            <a:off x="457200" y="1371600"/>
            <a:ext cx="5532120" cy="3111817"/>
          </a:xfrm>
          <a:prstGeom prst="rect">
            <a:avLst/>
          </a:prstGeom>
          <a:solidFill>
            <a:srgbClr val="0A0E14">
              <a:alpha val="0"/>
            </a:srgbClr>
          </a:solidFill>
          <a:ln w="9525">
            <a:solidFill>
              <a:srgbClr val="1E2A3A"/>
            </a:solidFill>
            <a:prstDash val="solid"/>
          </a:ln>
        </p:spPr>
      </p:sp>
      <p:sp>
        <p:nvSpPr>
          <p:cNvPr id="7" name="Text 3"/>
          <p:cNvSpPr txBox="1"/>
          <p:nvPr/>
        </p:nvSpPr>
        <p:spPr>
          <a:xfrm>
            <a:off x="457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System A, the organisers' sandbox: four analysed cameras pulled live over RTSP and played through the relay</a:t>
            </a:r>
            <a:endParaRPr lang="en-US" sz="900" dirty="0"/>
          </a:p>
        </p:txBody>
      </p:sp>
      <p:pic>
        <p:nvPicPr>
          <p:cNvPr id="8" name="Image 1" descr="D:\projects\sentinel-gujarat\deliverables\deck\img\wall-local.png">    </p:cNvPr>
          <p:cNvPicPr>
            <a:picLocks noChangeAspect="1"/>
          </p:cNvPicPr>
          <p:nvPr/>
        </p:nvPicPr>
        <p:blipFill>
          <a:blip r:embed="rId2"/>
          <a:stretch>
            <a:fillRect/>
          </a:stretch>
        </p:blipFill>
        <p:spPr>
          <a:xfrm>
            <a:off x="6172200" y="1371600"/>
            <a:ext cx="5532120" cy="3111817"/>
          </a:xfrm>
          <a:prstGeom prst="rect">
            <a:avLst/>
          </a:prstGeom>
        </p:spPr>
      </p:pic>
      <p:sp>
        <p:nvSpPr>
          <p:cNvPr id="9" name="Shape 4"/>
          <p:cNvSpPr/>
          <p:nvPr/>
        </p:nvSpPr>
        <p:spPr>
          <a:xfrm>
            <a:off x="6172200" y="1371600"/>
            <a:ext cx="5532120" cy="3111817"/>
          </a:xfrm>
          <a:prstGeom prst="rect">
            <a:avLst/>
          </a:prstGeom>
          <a:solidFill>
            <a:srgbClr val="0A0E14">
              <a:alpha val="0"/>
            </a:srgbClr>
          </a:solidFill>
          <a:ln w="9525">
            <a:solidFill>
              <a:srgbClr val="1E2A3A"/>
            </a:solidFill>
            <a:prstDash val="solid"/>
          </a:ln>
        </p:spPr>
      </p:sp>
      <p:sp>
        <p:nvSpPr>
          <p:cNvPr id="10" name="Text 5"/>
          <p:cNvSpPr txBox="1"/>
          <p:nvPr/>
        </p:nvSpPr>
        <p:spPr>
          <a:xfrm>
            <a:off x="6172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System B, a local camera server: 28 stock-footage feeds (sample clips at seeded coordinates, labelled on every tile)</a:t>
            </a:r>
            <a:endParaRPr lang="en-US" sz="900" dirty="0"/>
          </a:p>
        </p:txBody>
      </p:sp>
      <p:sp>
        <p:nvSpPr>
          <p:cNvPr id="11" name="Shape 6"/>
          <p:cNvSpPr/>
          <p:nvPr/>
        </p:nvSpPr>
        <p:spPr>
          <a:xfrm>
            <a:off x="457200" y="4892040"/>
            <a:ext cx="11247120" cy="1417320"/>
          </a:xfrm>
          <a:prstGeom prst="roundRect">
            <a:avLst>
              <a:gd name="adj" fmla="val 7742"/>
            </a:avLst>
          </a:prstGeom>
          <a:solidFill>
            <a:srgbClr val="111823"/>
          </a:solidFill>
          <a:ln w="9525">
            <a:solidFill>
              <a:srgbClr val="1E2A3A"/>
            </a:solidFill>
            <a:prstDash val="solid"/>
          </a:ln>
        </p:spPr>
      </p:sp>
      <p:sp>
        <p:nvSpPr>
          <p:cNvPr id="12" name="Text 7"/>
          <p:cNvSpPr txBox="1"/>
          <p:nvPr/>
        </p:nvSpPr>
        <p:spPr>
          <a:xfrm>
            <a:off x="685800" y="5001768"/>
            <a:ext cx="5394960" cy="1280160"/>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One pull per camera, RTSP over TCP and never UDP; decoder warnings on join are logged, never fatal</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All timing from PTS; jittered exponential backoff (2 s base, 30 s cap) and a stall watchdog on every pull</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Consume-only: no publishing, no control-API calls, no footage download</a:t>
            </a:r>
            <a:endParaRPr lang="en-US" sz="1050" dirty="0"/>
          </a:p>
        </p:txBody>
      </p:sp>
      <p:sp>
        <p:nvSpPr>
          <p:cNvPr id="13" name="Text 8"/>
          <p:cNvSpPr txBox="1"/>
          <p:nvPr/>
        </p:nvSpPr>
        <p:spPr>
          <a:xfrm>
            <a:off x="6217920" y="5001768"/>
            <a:ext cx="5349240" cy="1280160"/>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Every registered camera opens on the Live Wall through the relay: the node's own pull, the organisers' CDN recording, or the local server's HLS</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Only the tiles on screen hold a stream; the relay sits behind the login and is rate-limited</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The sample feeds are stock footage, not sandbox footage and not filmed by the team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Video analytics: ANPR, objects, intrusion, tracking</a:t>
            </a:r>
            <a:endParaRPr lang="en-US" sz="3000" dirty="0"/>
          </a:p>
        </p:txBody>
      </p:sp>
      <p:pic>
        <p:nvPicPr>
          <p:cNvPr id="5" name="Image 0" descr="D:\projects\sentinel-gujarat\deliverables\deck\img\search.png">    </p:cNvPr>
          <p:cNvPicPr>
            <a:picLocks noChangeAspect="1"/>
          </p:cNvPicPr>
          <p:nvPr/>
        </p:nvPicPr>
        <p:blipFill>
          <a:blip r:embed="rId1"/>
          <a:stretch>
            <a:fillRect/>
          </a:stretch>
        </p:blipFill>
        <p:spPr>
          <a:xfrm>
            <a:off x="457200" y="1417320"/>
            <a:ext cx="5852160" cy="3291840"/>
          </a:xfrm>
          <a:prstGeom prst="rect">
            <a:avLst/>
          </a:prstGeom>
        </p:spPr>
      </p:pic>
      <p:sp>
        <p:nvSpPr>
          <p:cNvPr id="6" name="Shape 2"/>
          <p:cNvSpPr/>
          <p:nvPr/>
        </p:nvSpPr>
        <p:spPr>
          <a:xfrm>
            <a:off x="457200" y="1417320"/>
            <a:ext cx="5852160" cy="3291840"/>
          </a:xfrm>
          <a:prstGeom prst="rect">
            <a:avLst/>
          </a:prstGeom>
          <a:solidFill>
            <a:srgbClr val="0A0E14">
              <a:alpha val="0"/>
            </a:srgbClr>
          </a:solidFill>
          <a:ln w="9525">
            <a:solidFill>
              <a:srgbClr val="1E2A3A"/>
            </a:solidFill>
            <a:prstDash val="solid"/>
          </a:ln>
        </p:spPr>
      </p:sp>
      <p:sp>
        <p:nvSpPr>
          <p:cNvPr id="7" name="Text 3"/>
          <p:cNvSpPr txBox="1"/>
          <p:nvPr/>
        </p:nvSpPr>
        <p:spPr>
          <a:xfrm>
            <a:off x="457200" y="4764024"/>
            <a:ext cx="585216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ANPR on the live sandbox: every read of GJ11S7924 on cam06, the OCR text kept beside the coerced plate, with crop, confidence, class and provenance</a:t>
            </a:r>
            <a:endParaRPr lang="en-US" sz="900" dirty="0"/>
          </a:p>
        </p:txBody>
      </p:sp>
      <p:sp>
        <p:nvSpPr>
          <p:cNvPr id="8" name="Shape 4"/>
          <p:cNvSpPr/>
          <p:nvPr/>
        </p:nvSpPr>
        <p:spPr>
          <a:xfrm>
            <a:off x="6583680" y="1472184"/>
            <a:ext cx="292608" cy="292608"/>
          </a:xfrm>
          <a:prstGeom prst="ellipse">
            <a:avLst/>
          </a:prstGeom>
          <a:solidFill>
            <a:srgbClr val="3D7FD6"/>
          </a:solidFill>
          <a:ln w="12700">
            <a:solidFill>
              <a:srgbClr val="3D7FD6"/>
            </a:solidFill>
            <a:prstDash val="solid"/>
          </a:ln>
        </p:spPr>
      </p:sp>
      <p:sp>
        <p:nvSpPr>
          <p:cNvPr id="9" name="Text 5"/>
          <p:cNvSpPr txBox="1"/>
          <p:nvPr/>
        </p:nvSpPr>
        <p:spPr>
          <a:xfrm>
            <a:off x="6583680" y="14721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6"/>
          <p:cNvSpPr txBox="1"/>
          <p:nvPr/>
        </p:nvSpPr>
        <p:spPr>
          <a:xfrm>
            <a:off x="7040880" y="1417320"/>
            <a:ext cx="4663440" cy="585216"/>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Motion gate  </a:t>
            </a:r>
            <a:pPr indent="0" marL="0">
              <a:buNone/>
            </a:pPr>
            <a:r>
              <a:rPr lang="en-US" sz="1100" dirty="0">
                <a:solidFill>
                  <a:srgbClr val="8A97A6"/>
                </a:solidFill>
                <a:latin typeface="Calibri" pitchFamily="34" charset="0"/>
                <a:ea typeface="Calibri" pitchFamily="34" charset="-122"/>
                <a:cs typeface="Calibri" pitchFamily="34" charset="-120"/>
              </a:rPr>
              <a:t>MOG2 skips static frames; measured skip rate 0 to 54% by camera [measured]</a:t>
            </a:r>
            <a:endParaRPr lang="en-US" sz="1100" dirty="0"/>
          </a:p>
        </p:txBody>
      </p:sp>
      <p:sp>
        <p:nvSpPr>
          <p:cNvPr id="11" name="Shape 7"/>
          <p:cNvSpPr/>
          <p:nvPr/>
        </p:nvSpPr>
        <p:spPr>
          <a:xfrm>
            <a:off x="6583680" y="2093976"/>
            <a:ext cx="292608" cy="292608"/>
          </a:xfrm>
          <a:prstGeom prst="ellipse">
            <a:avLst/>
          </a:prstGeom>
          <a:solidFill>
            <a:srgbClr val="3D7FD6"/>
          </a:solidFill>
          <a:ln w="12700">
            <a:solidFill>
              <a:srgbClr val="3D7FD6"/>
            </a:solidFill>
            <a:prstDash val="solid"/>
          </a:ln>
        </p:spPr>
      </p:sp>
      <p:sp>
        <p:nvSpPr>
          <p:cNvPr id="12" name="Text 8"/>
          <p:cNvSpPr txBox="1"/>
          <p:nvPr/>
        </p:nvSpPr>
        <p:spPr>
          <a:xfrm>
            <a:off x="6583680" y="209397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9"/>
          <p:cNvSpPr txBox="1"/>
          <p:nvPr/>
        </p:nvSpPr>
        <p:spPr>
          <a:xfrm>
            <a:off x="7040880" y="2039112"/>
            <a:ext cx="4663440" cy="585216"/>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Detect  </a:t>
            </a:r>
            <a:pPr indent="0" marL="0">
              <a:buNone/>
            </a:pPr>
            <a:r>
              <a:rPr lang="en-US" sz="1100" dirty="0">
                <a:solidFill>
                  <a:srgbClr val="8A97A6"/>
                </a:solidFill>
                <a:latin typeface="Calibri" pitchFamily="34" charset="0"/>
                <a:ea typeface="Calibri" pitchFamily="34" charset="-122"/>
                <a:cs typeface="Calibri" pitchFamily="34" charset="-120"/>
              </a:rPr>
              <a:t>YOLOX-S (Apache-2.0) on ONNX Runtime, on the GPU through DirectML. Never Ultralytics (AGPL)</a:t>
            </a:r>
            <a:endParaRPr lang="en-US" sz="1100" dirty="0"/>
          </a:p>
        </p:txBody>
      </p:sp>
      <p:sp>
        <p:nvSpPr>
          <p:cNvPr id="14" name="Shape 10"/>
          <p:cNvSpPr/>
          <p:nvPr/>
        </p:nvSpPr>
        <p:spPr>
          <a:xfrm>
            <a:off x="6583680" y="2715768"/>
            <a:ext cx="292608" cy="292608"/>
          </a:xfrm>
          <a:prstGeom prst="ellipse">
            <a:avLst/>
          </a:prstGeom>
          <a:solidFill>
            <a:srgbClr val="3D7FD6"/>
          </a:solidFill>
          <a:ln w="12700">
            <a:solidFill>
              <a:srgbClr val="3D7FD6"/>
            </a:solidFill>
            <a:prstDash val="solid"/>
          </a:ln>
        </p:spPr>
      </p:sp>
      <p:sp>
        <p:nvSpPr>
          <p:cNvPr id="15" name="Text 11"/>
          <p:cNvSpPr txBox="1"/>
          <p:nvPr/>
        </p:nvSpPr>
        <p:spPr>
          <a:xfrm>
            <a:off x="6583680" y="27157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2"/>
          <p:cNvSpPr txBox="1"/>
          <p:nvPr/>
        </p:nvSpPr>
        <p:spPr>
          <a:xfrm>
            <a:off x="7040880" y="2660904"/>
            <a:ext cx="4663440" cy="585216"/>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Track  </a:t>
            </a:r>
            <a:pPr indent="0" marL="0">
              <a:buNone/>
            </a:pPr>
            <a:r>
              <a:rPr lang="en-US" sz="1100" dirty="0">
                <a:solidFill>
                  <a:srgbClr val="8A97A6"/>
                </a:solidFill>
                <a:latin typeface="Calibri" pitchFamily="34" charset="0"/>
                <a:ea typeface="Calibri" pitchFamily="34" charset="-122"/>
                <a:cs typeface="Calibri" pitchFamily="34" charset="-120"/>
              </a:rPr>
              <a:t>A greedy IoU and centre-distance tracker on PTS deltas: an IoU tracker, not ByteTrack</a:t>
            </a:r>
            <a:endParaRPr lang="en-US" sz="1100" dirty="0"/>
          </a:p>
        </p:txBody>
      </p:sp>
      <p:sp>
        <p:nvSpPr>
          <p:cNvPr id="17" name="Shape 13"/>
          <p:cNvSpPr/>
          <p:nvPr/>
        </p:nvSpPr>
        <p:spPr>
          <a:xfrm>
            <a:off x="6583680" y="3337560"/>
            <a:ext cx="292608" cy="292608"/>
          </a:xfrm>
          <a:prstGeom prst="ellipse">
            <a:avLst/>
          </a:prstGeom>
          <a:solidFill>
            <a:srgbClr val="3D7FD6"/>
          </a:solidFill>
          <a:ln w="12700">
            <a:solidFill>
              <a:srgbClr val="3D7FD6"/>
            </a:solidFill>
            <a:prstDash val="solid"/>
          </a:ln>
        </p:spPr>
      </p:sp>
      <p:sp>
        <p:nvSpPr>
          <p:cNvPr id="18" name="Text 14"/>
          <p:cNvSpPr txBox="1"/>
          <p:nvPr/>
        </p:nvSpPr>
        <p:spPr>
          <a:xfrm>
            <a:off x="6583680" y="33375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5"/>
          <p:cNvSpPr txBox="1"/>
          <p:nvPr/>
        </p:nvSpPr>
        <p:spPr>
          <a:xfrm>
            <a:off x="7040880" y="3282696"/>
            <a:ext cx="4663440" cy="585216"/>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Crop and OCR  </a:t>
            </a:r>
            <a:pPr indent="0" marL="0">
              <a:buNone/>
            </a:pPr>
            <a:r>
              <a:rPr lang="en-US" sz="1100" dirty="0">
                <a:solidFill>
                  <a:srgbClr val="8A97A6"/>
                </a:solidFill>
                <a:latin typeface="Calibri" pitchFamily="34" charset="0"/>
                <a:ea typeface="Calibri" pitchFamily="34" charset="-122"/>
                <a:cs typeface="Calibri" pitchFamily="34" charset="-120"/>
              </a:rPr>
              <a:t>The vehicle crop, never the frame, upscaled and read by PaddleOCR PP-OCRv5 mobile</a:t>
            </a:r>
            <a:endParaRPr lang="en-US" sz="1100" dirty="0"/>
          </a:p>
        </p:txBody>
      </p:sp>
      <p:sp>
        <p:nvSpPr>
          <p:cNvPr id="20" name="Shape 16"/>
          <p:cNvSpPr/>
          <p:nvPr/>
        </p:nvSpPr>
        <p:spPr>
          <a:xfrm>
            <a:off x="6583680" y="3959352"/>
            <a:ext cx="292608" cy="292608"/>
          </a:xfrm>
          <a:prstGeom prst="ellipse">
            <a:avLst/>
          </a:prstGeom>
          <a:solidFill>
            <a:srgbClr val="3D7FD6"/>
          </a:solidFill>
          <a:ln w="12700">
            <a:solidFill>
              <a:srgbClr val="3D7FD6"/>
            </a:solidFill>
            <a:prstDash val="solid"/>
          </a:ln>
        </p:spPr>
      </p:sp>
      <p:sp>
        <p:nvSpPr>
          <p:cNvPr id="21" name="Text 17"/>
          <p:cNvSpPr txBox="1"/>
          <p:nvPr/>
        </p:nvSpPr>
        <p:spPr>
          <a:xfrm>
            <a:off x="6583680" y="39593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2" name="Text 18"/>
          <p:cNvSpPr txBox="1"/>
          <p:nvPr/>
        </p:nvSpPr>
        <p:spPr>
          <a:xfrm>
            <a:off x="7040880" y="3904488"/>
            <a:ext cx="4663440" cy="585216"/>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Plate grammar  </a:t>
            </a:r>
            <a:pPr indent="0" marL="0">
              <a:buNone/>
            </a:pPr>
            <a:r>
              <a:rPr lang="en-US" sz="1100" dirty="0">
                <a:solidFill>
                  <a:srgbClr val="8A97A6"/>
                </a:solidFill>
                <a:latin typeface="Calibri" pitchFamily="34" charset="0"/>
                <a:ea typeface="Calibri" pitchFamily="34" charset="-122"/>
                <a:cs typeface="Calibri" pitchFamily="34" charset="-120"/>
              </a:rPr>
              <a:t>Indian format with position-aware coercion (GJ1157924 stored as GJ11S7924); a track's reads are voted; raw OCR kept</a:t>
            </a:r>
            <a:endParaRPr lang="en-US" sz="1100" dirty="0"/>
          </a:p>
        </p:txBody>
      </p:sp>
      <p:sp>
        <p:nvSpPr>
          <p:cNvPr id="23" name="Shape 19"/>
          <p:cNvSpPr/>
          <p:nvPr/>
        </p:nvSpPr>
        <p:spPr>
          <a:xfrm>
            <a:off x="6583680" y="4581144"/>
            <a:ext cx="292608" cy="292608"/>
          </a:xfrm>
          <a:prstGeom prst="ellipse">
            <a:avLst/>
          </a:prstGeom>
          <a:solidFill>
            <a:srgbClr val="3D7FD6"/>
          </a:solidFill>
          <a:ln w="12700">
            <a:solidFill>
              <a:srgbClr val="3D7FD6"/>
            </a:solidFill>
            <a:prstDash val="solid"/>
          </a:ln>
        </p:spPr>
      </p:sp>
      <p:sp>
        <p:nvSpPr>
          <p:cNvPr id="24" name="Text 20"/>
          <p:cNvSpPr txBox="1"/>
          <p:nvPr/>
        </p:nvSpPr>
        <p:spPr>
          <a:xfrm>
            <a:off x="6583680" y="45811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5" name="Text 21"/>
          <p:cNvSpPr txBox="1"/>
          <p:nvPr/>
        </p:nvSpPr>
        <p:spPr>
          <a:xfrm>
            <a:off x="7040880" y="4526280"/>
            <a:ext cx="4663440" cy="585216"/>
          </a:xfrm>
          <a:prstGeom prst="rect">
            <a:avLst/>
          </a:prstGeom>
          <a:noFill/>
          <a:ln/>
        </p:spPr>
        <p:txBody>
          <a:bodyPr wrap="square" lIns="0" tIns="0" rIns="0" bIns="0" rtlCol="0" anchor="t"/>
          <a:lstStyle/>
          <a:p>
            <a:pPr indent="0" marL="0">
              <a:buNone/>
            </a:pPr>
            <a:r>
              <a:rPr lang="en-US" sz="1100" b="1" dirty="0">
                <a:solidFill>
                  <a:srgbClr val="E6EDF5"/>
                </a:solidFill>
                <a:latin typeface="Calibri" pitchFamily="34" charset="0"/>
                <a:ea typeface="Calibri" pitchFamily="34" charset="-122"/>
                <a:cs typeface="Calibri" pitchFamily="34" charset="-120"/>
              </a:rPr>
              <a:t>Events  </a:t>
            </a:r>
            <a:pPr indent="0" marL="0">
              <a:buNone/>
            </a:pPr>
            <a:r>
              <a:rPr lang="en-US" sz="1100" dirty="0">
                <a:solidFill>
                  <a:srgbClr val="8A97A6"/>
                </a:solidFill>
                <a:latin typeface="Calibri" pitchFamily="34" charset="0"/>
                <a:ea typeface="Calibri" pitchFamily="34" charset="-122"/>
                <a:cs typeface="Calibri" pitchFamily="34" charset="-120"/>
              </a:rPr>
              <a:t>Object and person counts, intrusion polygons, directional line crossing</a:t>
            </a:r>
            <a:endParaRPr lang="en-US" sz="1100" dirty="0"/>
          </a:p>
        </p:txBody>
      </p:sp>
      <p:sp>
        <p:nvSpPr>
          <p:cNvPr id="26" name="Shape 22"/>
          <p:cNvSpPr/>
          <p:nvPr/>
        </p:nvSpPr>
        <p:spPr>
          <a:xfrm>
            <a:off x="6583680" y="5230368"/>
            <a:ext cx="5120640" cy="1078992"/>
          </a:xfrm>
          <a:prstGeom prst="roundRect">
            <a:avLst>
              <a:gd name="adj" fmla="val 10169"/>
            </a:avLst>
          </a:prstGeom>
          <a:solidFill>
            <a:srgbClr val="111823"/>
          </a:solidFill>
          <a:ln w="9525">
            <a:solidFill>
              <a:srgbClr val="1E2A3A"/>
            </a:solidFill>
            <a:prstDash val="solid"/>
          </a:ln>
        </p:spPr>
      </p:sp>
      <p:sp>
        <p:nvSpPr>
          <p:cNvPr id="27" name="Text 23"/>
          <p:cNvSpPr txBox="1"/>
          <p:nvPr/>
        </p:nvSpPr>
        <p:spPr>
          <a:xfrm>
            <a:off x="6720840" y="5285232"/>
            <a:ext cx="4846320" cy="987552"/>
          </a:xfrm>
          <a:prstGeom prst="rect">
            <a:avLst/>
          </a:prstGeom>
          <a:noFill/>
          <a:ln/>
        </p:spPr>
        <p:txBody>
          <a:bodyPr wrap="square" lIns="0" tIns="0" rIns="0" bIns="0" rtlCol="0" anchor="ctr"/>
          <a:lstStyle/>
          <a:p>
            <a:pPr indent="0" marL="0">
              <a:buNone/>
            </a:pPr>
            <a:r>
              <a:rPr lang="en-US" sz="1000" b="1" dirty="0">
                <a:solidFill>
                  <a:srgbClr val="39A56A"/>
                </a:solidFill>
                <a:latin typeface="Calibri" pitchFamily="34" charset="0"/>
                <a:ea typeface="Calibri" pitchFamily="34" charset="-122"/>
                <a:cs typeface="Calibri" pitchFamily="34" charset="-120"/>
              </a:rPr>
              <a:t>MEASURED ON THE LIVE SANDBOX, 25 SEP  </a:t>
            </a:r>
            <a:pPr indent="0" marL="0">
              <a:buNone/>
            </a:pPr>
            <a:r>
              <a:rPr lang="en-US" sz="1000" dirty="0">
                <a:solidFill>
                  <a:srgbClr val="E6EDF5"/>
                </a:solidFill>
                <a:latin typeface="Calibri" pitchFamily="34" charset="0"/>
                <a:ea typeface="Calibri" pitchFamily="34" charset="-122"/>
                <a:cs typeface="Calibri" pitchFamily="34" charset="-120"/>
              </a:rPr>
              <a:t>(10-minute run, five cameras over RTSP, laptop GTX 1650): inference 0.6 to 1.5 fps per camera; peak GPU memory 119 MiB; peak RAM 1,749 MB; plate-read rate 0.062 [measured]. The ANPR viability gate passed; the binding stage was CPU OCR, not the GPU.</a:t>
            </a:r>
            <a:endParaRPr lang="en-US" sz="1000" dirty="0"/>
          </a:p>
        </p:txBody>
      </p:sp>
      <p:sp>
        <p:nvSpPr>
          <p:cNvPr id="28" name="Shape 24"/>
          <p:cNvSpPr/>
          <p:nvPr/>
        </p:nvSpPr>
        <p:spPr>
          <a:xfrm>
            <a:off x="457200" y="5230368"/>
            <a:ext cx="5852160" cy="1078992"/>
          </a:xfrm>
          <a:prstGeom prst="roundRect">
            <a:avLst>
              <a:gd name="adj" fmla="val 10169"/>
            </a:avLst>
          </a:prstGeom>
          <a:solidFill>
            <a:srgbClr val="111823"/>
          </a:solidFill>
          <a:ln w="9525">
            <a:solidFill>
              <a:srgbClr val="1E2A3A"/>
            </a:solidFill>
            <a:prstDash val="solid"/>
          </a:ln>
        </p:spPr>
      </p:sp>
      <p:sp>
        <p:nvSpPr>
          <p:cNvPr id="29" name="Text 25"/>
          <p:cNvSpPr txBox="1"/>
          <p:nvPr/>
        </p:nvSpPr>
        <p:spPr>
          <a:xfrm>
            <a:off x="640080" y="5285232"/>
            <a:ext cx="5486400" cy="987552"/>
          </a:xfrm>
          <a:prstGeom prst="rect">
            <a:avLst/>
          </a:prstGeom>
          <a:noFill/>
          <a:ln/>
        </p:spPr>
        <p:txBody>
          <a:bodyPr wrap="square" lIns="0" tIns="0" rIns="0" bIns="0" rtlCol="0" anchor="ctr"/>
          <a:lstStyle/>
          <a:p>
            <a:pPr indent="0" marL="0">
              <a:buNone/>
            </a:pPr>
            <a:r>
              <a:rPr lang="en-US" sz="1050" b="1" dirty="0">
                <a:solidFill>
                  <a:srgbClr val="E0912F"/>
                </a:solidFill>
                <a:latin typeface="Calibri" pitchFamily="34" charset="0"/>
                <a:ea typeface="Calibri" pitchFamily="34" charset="-122"/>
                <a:cs typeface="Calibri" pitchFamily="34" charset="-120"/>
              </a:rPr>
              <a:t>Facial recognition: described, not built. </a:t>
            </a:r>
            <a:pPr indent="0" marL="0">
              <a:buNone/>
            </a:pPr>
            <a:r>
              <a:rPr lang="en-US" sz="1050" dirty="0">
                <a:solidFill>
                  <a:srgbClr val="E6EDF5"/>
                </a:solidFill>
                <a:latin typeface="Calibri" pitchFamily="34" charset="0"/>
                <a:ea typeface="Calibri" pitchFamily="34" charset="-122"/>
                <a:cs typeface="Calibri" pitchFamily="34" charset="-120"/>
              </a:rPr>
              <a:t>Face detection at the edge, then embedding, then matching against an authorised gallery only, with the same edge-cached posture. No general-population face database. Non-match embeddings are not retained. Every match is logged.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Watchlist correlation and real-time alerting</a:t>
            </a:r>
            <a:endParaRPr lang="en-US" sz="3000" dirty="0"/>
          </a:p>
        </p:txBody>
      </p:sp>
      <p:pic>
        <p:nvPicPr>
          <p:cNvPr id="5" name="Image 0" descr="D:\projects\sentinel-gujarat\deliverables\deck\img\alerts.png">    </p:cNvPr>
          <p:cNvPicPr>
            <a:picLocks noChangeAspect="1"/>
          </p:cNvPicPr>
          <p:nvPr/>
        </p:nvPicPr>
        <p:blipFill>
          <a:blip r:embed="rId1"/>
          <a:stretch>
            <a:fillRect/>
          </a:stretch>
        </p:blipFill>
        <p:spPr>
          <a:xfrm>
            <a:off x="457200" y="1371600"/>
            <a:ext cx="5532120" cy="3111817"/>
          </a:xfrm>
          <a:prstGeom prst="rect">
            <a:avLst/>
          </a:prstGeom>
        </p:spPr>
      </p:pic>
      <p:sp>
        <p:nvSpPr>
          <p:cNvPr id="6" name="Shape 2"/>
          <p:cNvSpPr/>
          <p:nvPr/>
        </p:nvSpPr>
        <p:spPr>
          <a:xfrm>
            <a:off x="457200" y="1371600"/>
            <a:ext cx="5532120" cy="3111817"/>
          </a:xfrm>
          <a:prstGeom prst="rect">
            <a:avLst/>
          </a:prstGeom>
          <a:solidFill>
            <a:srgbClr val="0A0E14">
              <a:alpha val="0"/>
            </a:srgbClr>
          </a:solidFill>
          <a:ln w="9525">
            <a:solidFill>
              <a:srgbClr val="1E2A3A"/>
            </a:solidFill>
            <a:prstDash val="solid"/>
          </a:ln>
        </p:spPr>
      </p:sp>
      <p:sp>
        <p:nvSpPr>
          <p:cNvPr id="7" name="Text 3"/>
          <p:cNvSpPr txBox="1"/>
          <p:nvPr/>
        </p:nvSpPr>
        <p:spPr>
          <a:xfrm>
            <a:off x="457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Alert stream: plate crop, severity, category, match type and a DEMO badge on every demonstration row</a:t>
            </a:r>
            <a:endParaRPr lang="en-US" sz="900" dirty="0"/>
          </a:p>
        </p:txBody>
      </p:sp>
      <p:pic>
        <p:nvPicPr>
          <p:cNvPr id="8" name="Image 1" descr="D:\projects\sentinel-gujarat\deliverables\deck\img\search-ambiguity.png">    </p:cNvPr>
          <p:cNvPicPr>
            <a:picLocks noChangeAspect="1"/>
          </p:cNvPicPr>
          <p:nvPr/>
        </p:nvPicPr>
        <p:blipFill>
          <a:blip r:embed="rId2"/>
          <a:stretch>
            <a:fillRect/>
          </a:stretch>
        </p:blipFill>
        <p:spPr>
          <a:xfrm>
            <a:off x="6172200" y="1371600"/>
            <a:ext cx="5532120" cy="3111817"/>
          </a:xfrm>
          <a:prstGeom prst="rect">
            <a:avLst/>
          </a:prstGeom>
        </p:spPr>
      </p:pic>
      <p:sp>
        <p:nvSpPr>
          <p:cNvPr id="9" name="Shape 4"/>
          <p:cNvSpPr/>
          <p:nvPr/>
        </p:nvSpPr>
        <p:spPr>
          <a:xfrm>
            <a:off x="6172200" y="1371600"/>
            <a:ext cx="5532120" cy="3111817"/>
          </a:xfrm>
          <a:prstGeom prst="rect">
            <a:avLst/>
          </a:prstGeom>
          <a:solidFill>
            <a:srgbClr val="0A0E14">
              <a:alpha val="0"/>
            </a:srgbClr>
          </a:solidFill>
          <a:ln w="9525">
            <a:solidFill>
              <a:srgbClr val="1E2A3A"/>
            </a:solidFill>
            <a:prstDash val="solid"/>
          </a:ln>
        </p:spPr>
      </p:sp>
      <p:sp>
        <p:nvSpPr>
          <p:cNvPr id="10" name="Text 5"/>
          <p:cNvSpPr txBox="1"/>
          <p:nvPr/>
        </p:nvSpPr>
        <p:spPr>
          <a:xfrm>
            <a:off x="6172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A mistyped query (GJ01A81234) still finds the watchlisted vehicle: the 8/B look-alike is corrected by position</a:t>
            </a:r>
            <a:endParaRPr lang="en-US" sz="900" dirty="0"/>
          </a:p>
        </p:txBody>
      </p:sp>
      <p:sp>
        <p:nvSpPr>
          <p:cNvPr id="11" name="Shape 6"/>
          <p:cNvSpPr/>
          <p:nvPr/>
        </p:nvSpPr>
        <p:spPr>
          <a:xfrm>
            <a:off x="457200" y="4892040"/>
            <a:ext cx="11247120" cy="1417320"/>
          </a:xfrm>
          <a:prstGeom prst="roundRect">
            <a:avLst>
              <a:gd name="adj" fmla="val 7742"/>
            </a:avLst>
          </a:prstGeom>
          <a:solidFill>
            <a:srgbClr val="111823"/>
          </a:solidFill>
          <a:ln w="9525">
            <a:solidFill>
              <a:srgbClr val="1E2A3A"/>
            </a:solidFill>
            <a:prstDash val="solid"/>
          </a:ln>
        </p:spPr>
      </p:sp>
      <p:sp>
        <p:nvSpPr>
          <p:cNvPr id="12" name="Text 7"/>
          <p:cNvSpPr txBox="1"/>
          <p:nvPr/>
        </p:nvSpPr>
        <p:spPr>
          <a:xfrm>
            <a:off x="685800" y="4983480"/>
            <a:ext cx="5394960" cy="1298448"/>
          </a:xfrm>
          <a:prstGeom prst="rect">
            <a:avLst/>
          </a:prstGeom>
          <a:noFill/>
          <a:ln/>
        </p:spPr>
        <p:txBody>
          <a:bodyPr wrap="square" lIns="25400" tIns="25400" rIns="25400" bIns="25400" rtlCol="0" anchor="t"/>
          <a:lstStyle/>
          <a:p>
            <a:pPr marL="342900" indent="-342900">
              <a:spcAft>
                <a:spcPts val="500"/>
              </a:spcAft>
              <a:buSzPct val="100000"/>
              <a:buChar char="•"/>
            </a:pPr>
            <a:r>
              <a:rPr lang="en-US" sz="1050" b="1" dirty="0">
                <a:solidFill>
                  <a:srgbClr val="E6EDF5"/>
                </a:solidFill>
                <a:latin typeface="Calibri" pitchFamily="34" charset="0"/>
                <a:ea typeface="Calibri" pitchFamily="34" charset="-122"/>
                <a:cs typeface="Calibri" pitchFamily="34" charset="-120"/>
              </a:rPr>
              <a:t>Matching is local, against a cached watchlist: never a per-detection call to VAHAN or eGujCop</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Three match types in order: exact, OCR-ambiguity (O/0, I/1, S/5, B/8, Z/2, G/6, Q/0), then confusion-weighted fuzzy</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Alerts fire on exact and ambiguity; fuzzy is shown and flagged, not alerted by default; partial reads never alert</a:t>
            </a:r>
            <a:endParaRPr lang="en-US" sz="1050" dirty="0"/>
          </a:p>
        </p:txBody>
      </p:sp>
      <p:sp>
        <p:nvSpPr>
          <p:cNvPr id="13" name="Text 8"/>
          <p:cNvSpPr txBox="1"/>
          <p:nvPr/>
        </p:nvSpPr>
        <p:spPr>
          <a:xfrm>
            <a:off x="6217920" y="4983480"/>
            <a:ext cx="5349240" cy="1298448"/>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Sighting written before matching; alert row written before broadcast; the API tails the alerts table and pushes Server-Sent Events</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Five-minute cooldown per plate per camera, derived from the database rather than process memory</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Acknowledgements persisted and audited under the operator's name; every plate lookup is audited too</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Route reconstruction: the scored capability</a:t>
            </a:r>
            <a:endParaRPr lang="en-US" sz="3000" dirty="0"/>
          </a:p>
        </p:txBody>
      </p:sp>
      <p:pic>
        <p:nvPicPr>
          <p:cNvPr id="5" name="Image 0" descr="D:\projects\sentinel-gujarat\deliverables\deck\img\route.png">    </p:cNvPr>
          <p:cNvPicPr>
            <a:picLocks noChangeAspect="1"/>
          </p:cNvPicPr>
          <p:nvPr/>
        </p:nvPicPr>
        <p:blipFill>
          <a:blip r:embed="rId1"/>
          <a:stretch>
            <a:fillRect/>
          </a:stretch>
        </p:blipFill>
        <p:spPr>
          <a:xfrm>
            <a:off x="457200" y="1417320"/>
            <a:ext cx="7132320" cy="4011930"/>
          </a:xfrm>
          <a:prstGeom prst="rect">
            <a:avLst/>
          </a:prstGeom>
        </p:spPr>
      </p:pic>
      <p:sp>
        <p:nvSpPr>
          <p:cNvPr id="6" name="Shape 2"/>
          <p:cNvSpPr/>
          <p:nvPr/>
        </p:nvSpPr>
        <p:spPr>
          <a:xfrm>
            <a:off x="457200" y="1417320"/>
            <a:ext cx="7132320" cy="4011930"/>
          </a:xfrm>
          <a:prstGeom prst="rect">
            <a:avLst/>
          </a:prstGeom>
          <a:solidFill>
            <a:srgbClr val="0A0E14">
              <a:alpha val="0"/>
            </a:srgbClr>
          </a:solidFill>
          <a:ln w="9525">
            <a:solidFill>
              <a:srgbClr val="1E2A3A"/>
            </a:solidFill>
            <a:prstDash val="solid"/>
          </a:ln>
        </p:spPr>
      </p:sp>
      <p:sp>
        <p:nvSpPr>
          <p:cNvPr id="7" name="Text 3"/>
          <p:cNvSpPr txBox="1"/>
          <p:nvPr/>
        </p:nvSpPr>
        <p:spPr>
          <a:xfrm>
            <a:off x="457200" y="5484114"/>
            <a:ext cx="71323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GJ01AB1234, the labelled demonstration vehicle: 4 stops, 3 cameras, 3 departments, numbered in time order with crops and implied speeds</a:t>
            </a:r>
            <a:endParaRPr lang="en-US" sz="900" dirty="0"/>
          </a:p>
        </p:txBody>
      </p:sp>
      <p:sp>
        <p:nvSpPr>
          <p:cNvPr id="8" name="Shape 4"/>
          <p:cNvSpPr/>
          <p:nvPr/>
        </p:nvSpPr>
        <p:spPr>
          <a:xfrm>
            <a:off x="7863840" y="1417320"/>
            <a:ext cx="3840480" cy="4892040"/>
          </a:xfrm>
          <a:prstGeom prst="roundRect">
            <a:avLst>
              <a:gd name="adj" fmla="val 2857"/>
            </a:avLst>
          </a:prstGeom>
          <a:solidFill>
            <a:srgbClr val="111823"/>
          </a:solidFill>
          <a:ln w="9525">
            <a:solidFill>
              <a:srgbClr val="1E2A3A"/>
            </a:solidFill>
            <a:prstDash val="solid"/>
          </a:ln>
        </p:spPr>
      </p:sp>
      <p:sp>
        <p:nvSpPr>
          <p:cNvPr id="9" name="Text 5"/>
          <p:cNvSpPr txBox="1"/>
          <p:nvPr/>
        </p:nvSpPr>
        <p:spPr>
          <a:xfrm>
            <a:off x="8092440" y="1554480"/>
            <a:ext cx="3657600" cy="274320"/>
          </a:xfrm>
          <a:prstGeom prst="rect">
            <a:avLst/>
          </a:prstGeom>
          <a:noFill/>
          <a:ln/>
        </p:spPr>
        <p:txBody>
          <a:bodyPr wrap="square" lIns="0" tIns="0" rIns="0" bIns="0" rtlCol="0" anchor="ctr"/>
          <a:lstStyle/>
          <a:p>
            <a:pPr indent="0" marL="0">
              <a:buNone/>
            </a:pPr>
            <a:r>
              <a:rPr lang="en-US" sz="1100" dirty="0">
                <a:solidFill>
                  <a:srgbClr val="3D7FD6"/>
                </a:solidFill>
                <a:latin typeface="Calibri" pitchFamily="34" charset="0"/>
                <a:ea typeface="Calibri" pitchFamily="34" charset="-122"/>
                <a:cs typeface="Calibri" pitchFamily="34" charset="-120"/>
              </a:rPr>
              <a:t>GET /api/plates/{plate}/route</a:t>
            </a:r>
            <a:endParaRPr lang="en-US" sz="1100" dirty="0"/>
          </a:p>
        </p:txBody>
      </p:sp>
      <p:sp>
        <p:nvSpPr>
          <p:cNvPr id="10" name="Text 6"/>
          <p:cNvSpPr txBox="1"/>
          <p:nvPr/>
        </p:nvSpPr>
        <p:spPr>
          <a:xfrm>
            <a:off x="8092440" y="1874520"/>
            <a:ext cx="3474720" cy="4389120"/>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Ordered stops: camera, department, coordinates, timestamp, crop, match type and provenance</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Elapsed time and implied speed only within one clock; an implausible speed flags the stop as suspect</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Fuzzy candidates are surfaced and marked, never silently merged</a:t>
            </a:r>
            <a:endParaRPr lang="en-US" sz="1050" dirty="0"/>
          </a:p>
          <a:p>
            <a:pPr marL="342900" indent="-342900">
              <a:spcAft>
                <a:spcPts val="500"/>
              </a:spcAft>
              <a:buSzPct val="100000"/>
              <a:buChar char="•"/>
            </a:pPr>
            <a:r>
              <a:rPr lang="en-US" sz="1050" b="1" dirty="0">
                <a:solidFill>
                  <a:srgbClr val="E6EDF5"/>
                </a:solidFill>
                <a:latin typeface="Calibri" pitchFamily="34" charset="0"/>
                <a:ea typeface="Calibri" pitchFamily="34" charset="-122"/>
                <a:cs typeface="Calibri" pitchFamily="34" charset="-120"/>
              </a:rPr>
              <a:t>departments_crossed is the integration proof</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Coverage gaps are shown rather than hidden</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Route export and detection report as CSV and printable HTML, each with a provenance column</a:t>
            </a:r>
            <a:endParaRPr lang="en-US" sz="1050" dirty="0"/>
          </a:p>
          <a:p>
            <a:pPr marL="342900" indent="-342900">
              <a:spcAft>
                <a:spcPts val="500"/>
              </a:spcAft>
              <a:buSzPct val="100000"/>
              <a:buChar char="•"/>
            </a:pPr>
            <a:r>
              <a:rPr lang="en-US" sz="1050" dirty="0">
                <a:solidFill>
                  <a:srgbClr val="E0912F"/>
                </a:solidFill>
                <a:latin typeface="Calibri" pitchFamily="34" charset="0"/>
                <a:ea typeface="Calibri" pitchFamily="34" charset="-122"/>
                <a:cs typeface="Calibri" pitchFamily="34" charset="-120"/>
              </a:rPr>
              <a:t>Disclosed: no real vehicle has been read on two sandbox cameras. The route shown is demonstration data, labelled DEMO on every screen and export.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Beyond ANPR: intrusion zones, object counts, output reports</a:t>
            </a:r>
            <a:endParaRPr lang="en-US" sz="3000" dirty="0"/>
          </a:p>
        </p:txBody>
      </p:sp>
      <p:pic>
        <p:nvPicPr>
          <p:cNvPr id="5" name="Image 0" descr="D:\projects\sentinel-gujarat\deliverables\deck\img\zones.png">    </p:cNvPr>
          <p:cNvPicPr>
            <a:picLocks noChangeAspect="1"/>
          </p:cNvPicPr>
          <p:nvPr/>
        </p:nvPicPr>
        <p:blipFill>
          <a:blip r:embed="rId1"/>
          <a:stretch>
            <a:fillRect/>
          </a:stretch>
        </p:blipFill>
        <p:spPr>
          <a:xfrm>
            <a:off x="457200" y="1371600"/>
            <a:ext cx="5532120" cy="3111817"/>
          </a:xfrm>
          <a:prstGeom prst="rect">
            <a:avLst/>
          </a:prstGeom>
        </p:spPr>
      </p:pic>
      <p:sp>
        <p:nvSpPr>
          <p:cNvPr id="6" name="Shape 2"/>
          <p:cNvSpPr/>
          <p:nvPr/>
        </p:nvSpPr>
        <p:spPr>
          <a:xfrm>
            <a:off x="457200" y="1371600"/>
            <a:ext cx="5532120" cy="3111817"/>
          </a:xfrm>
          <a:prstGeom prst="rect">
            <a:avLst/>
          </a:prstGeom>
          <a:solidFill>
            <a:srgbClr val="0A0E14">
              <a:alpha val="0"/>
            </a:srgbClr>
          </a:solidFill>
          <a:ln w="9525">
            <a:solidFill>
              <a:srgbClr val="1E2A3A"/>
            </a:solidFill>
            <a:prstDash val="solid"/>
          </a:ln>
        </p:spPr>
      </p:sp>
      <p:sp>
        <p:nvSpPr>
          <p:cNvPr id="7" name="Text 3"/>
          <p:cNvSpPr txBox="1"/>
          <p:nvPr/>
        </p:nvSpPr>
        <p:spPr>
          <a:xfrm>
            <a:off x="457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Zone editor on the live cam06 picture: the crossing line that fired 53 line-crossing events on the live sandbox during the measured afternoon run</a:t>
            </a:r>
            <a:endParaRPr lang="en-US" sz="900" dirty="0"/>
          </a:p>
        </p:txBody>
      </p:sp>
      <p:pic>
        <p:nvPicPr>
          <p:cNvPr id="8" name="Image 1" descr="D:\projects\sentinel-gujarat\deliverables\deck\img\reports.png">    </p:cNvPr>
          <p:cNvPicPr>
            <a:picLocks noChangeAspect="1"/>
          </p:cNvPicPr>
          <p:nvPr/>
        </p:nvPicPr>
        <p:blipFill>
          <a:blip r:embed="rId2"/>
          <a:stretch>
            <a:fillRect/>
          </a:stretch>
        </p:blipFill>
        <p:spPr>
          <a:xfrm>
            <a:off x="6172200" y="1371600"/>
            <a:ext cx="5532120" cy="3111817"/>
          </a:xfrm>
          <a:prstGeom prst="rect">
            <a:avLst/>
          </a:prstGeom>
        </p:spPr>
      </p:pic>
      <p:sp>
        <p:nvSpPr>
          <p:cNvPr id="9" name="Shape 4"/>
          <p:cNvSpPr/>
          <p:nvPr/>
        </p:nvSpPr>
        <p:spPr>
          <a:xfrm>
            <a:off x="6172200" y="1371600"/>
            <a:ext cx="5532120" cy="3111817"/>
          </a:xfrm>
          <a:prstGeom prst="rect">
            <a:avLst/>
          </a:prstGeom>
          <a:solidFill>
            <a:srgbClr val="0A0E14">
              <a:alpha val="0"/>
            </a:srgbClr>
          </a:solidFill>
          <a:ln w="9525">
            <a:solidFill>
              <a:srgbClr val="1E2A3A"/>
            </a:solidFill>
            <a:prstDash val="solid"/>
          </a:ln>
        </p:spPr>
      </p:sp>
      <p:sp>
        <p:nvSpPr>
          <p:cNvPr id="10" name="Text 5"/>
          <p:cNvSpPr txBox="1"/>
          <p:nvPr/>
        </p:nvSpPr>
        <p:spPr>
          <a:xfrm>
            <a:off x="6172200" y="4538281"/>
            <a:ext cx="5532120" cy="36576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Reports: detection report as CSV and printable HTML, gap analysis, OpenAPI; object counts per camera; every row labelled live or demo</a:t>
            </a:r>
            <a:endParaRPr lang="en-US" sz="900" dirty="0"/>
          </a:p>
        </p:txBody>
      </p:sp>
      <p:sp>
        <p:nvSpPr>
          <p:cNvPr id="11" name="Shape 6"/>
          <p:cNvSpPr/>
          <p:nvPr/>
        </p:nvSpPr>
        <p:spPr>
          <a:xfrm>
            <a:off x="457200" y="4892040"/>
            <a:ext cx="11247120" cy="1417320"/>
          </a:xfrm>
          <a:prstGeom prst="roundRect">
            <a:avLst>
              <a:gd name="adj" fmla="val 7742"/>
            </a:avLst>
          </a:prstGeom>
          <a:solidFill>
            <a:srgbClr val="111823"/>
          </a:solidFill>
          <a:ln w="9525">
            <a:solidFill>
              <a:srgbClr val="1E2A3A"/>
            </a:solidFill>
            <a:prstDash val="solid"/>
          </a:ln>
        </p:spPr>
      </p:sp>
      <p:sp>
        <p:nvSpPr>
          <p:cNvPr id="12" name="Text 7"/>
          <p:cNvSpPr txBox="1"/>
          <p:nvPr/>
        </p:nvSpPr>
        <p:spPr>
          <a:xfrm>
            <a:off x="685800" y="4983480"/>
            <a:ext cx="10881360" cy="1298448"/>
          </a:xfrm>
          <a:prstGeom prst="rect">
            <a:avLst/>
          </a:prstGeom>
          <a:noFill/>
          <a:ln/>
        </p:spPr>
        <p:txBody>
          <a:bodyPr wrap="square" lIns="25400" tIns="25400" rIns="25400" bIns="25400" rtlCol="0" anchor="t"/>
          <a:lstStyle/>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Intrusion: a tracked object's foot point must be inside a zone for two consecutive sampled frames before it fires; a line crossing is measured against the last confirmed side, with direction. High-severity zones raise alerts on the same stream.</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Object and person detection: per-class events, throttled to one per class per camera every 5 s of stream time, counted on Command and in Reports. Zones are stored in normalised 0 to 1 coordinates, so they survive a change of resolution.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Why edge-first: what crosses the WAN at 80,000 cameras</a:t>
            </a:r>
            <a:endParaRPr lang="en-US" sz="3000" dirty="0"/>
          </a:p>
        </p:txBody>
      </p:sp>
      <p:sp>
        <p:nvSpPr>
          <p:cNvPr id="5" name="Text 2"/>
          <p:cNvSpPr txBox="1"/>
          <p:nvPr/>
        </p:nvSpPr>
        <p:spPr>
          <a:xfrm>
            <a:off x="457200" y="932688"/>
            <a:ext cx="11247120" cy="365760"/>
          </a:xfrm>
          <a:prstGeom prst="rect">
            <a:avLst/>
          </a:prstGeom>
          <a:noFill/>
          <a:ln/>
        </p:spPr>
        <p:txBody>
          <a:bodyPr wrap="square" lIns="0" tIns="0" rIns="0" bIns="0" rtlCol="0" anchor="ctr"/>
          <a:lstStyle/>
          <a:p>
            <a:pPr indent="0" marL="0">
              <a:buNone/>
            </a:pPr>
            <a:r>
              <a:rPr lang="en-US" sz="1400" dirty="0">
                <a:solidFill>
                  <a:srgbClr val="8A97A6"/>
                </a:solidFill>
                <a:latin typeface="Calibri" pitchFamily="34" charset="0"/>
                <a:ea typeface="Calibri" pitchFamily="34" charset="-122"/>
                <a:cs typeface="Calibri" pitchFamily="34" charset="-120"/>
              </a:rPr>
              <a:t>All figures are [model], from one plate read per camera per minute, to be replaced by measurement in the pilot</a:t>
            </a:r>
            <a:endParaRPr lang="en-US" sz="1400" dirty="0"/>
          </a:p>
        </p:txBody>
      </p:sp>
      <p:sp>
        <p:nvSpPr>
          <p:cNvPr id="6" name="Text 3"/>
          <p:cNvSpPr txBox="1"/>
          <p:nvPr/>
        </p:nvSpPr>
        <p:spPr>
          <a:xfrm>
            <a:off x="457200" y="1737360"/>
            <a:ext cx="3657600" cy="822960"/>
          </a:xfrm>
          <a:prstGeom prst="rect">
            <a:avLst/>
          </a:prstGeom>
          <a:noFill/>
          <a:ln/>
        </p:spPr>
        <p:txBody>
          <a:bodyPr wrap="square" lIns="0" tIns="0" rIns="0" bIns="0" rtlCol="0" anchor="ctr"/>
          <a:lstStyle/>
          <a:p>
            <a:pPr algn="ctr" indent="0" marL="0">
              <a:buNone/>
            </a:pPr>
            <a:r>
              <a:rPr lang="en-US" sz="4400" b="1" dirty="0">
                <a:solidFill>
                  <a:srgbClr val="D64F6A"/>
                </a:solidFill>
                <a:latin typeface="Calibri" pitchFamily="34" charset="0"/>
                <a:ea typeface="Calibri" pitchFamily="34" charset="-122"/>
                <a:cs typeface="Calibri" pitchFamily="34" charset="-120"/>
              </a:rPr>
              <a:t>240 Gbps</a:t>
            </a:r>
            <a:endParaRPr lang="en-US" sz="4400" dirty="0"/>
          </a:p>
        </p:txBody>
      </p:sp>
      <p:sp>
        <p:nvSpPr>
          <p:cNvPr id="7" name="Text 4"/>
          <p:cNvSpPr txBox="1"/>
          <p:nvPr/>
        </p:nvSpPr>
        <p:spPr>
          <a:xfrm>
            <a:off x="457200" y="2560320"/>
            <a:ext cx="3657600" cy="457200"/>
          </a:xfrm>
          <a:prstGeom prst="rect">
            <a:avLst/>
          </a:prstGeom>
          <a:noFill/>
          <a:ln/>
        </p:spPr>
        <p:txBody>
          <a:bodyPr wrap="square" lIns="0" tIns="0" rIns="0" bIns="0" rtlCol="0" anchor="ctr"/>
          <a:lstStyle/>
          <a:p>
            <a:pPr algn="ctr" indent="0" marL="0">
              <a:buNone/>
            </a:pPr>
            <a:r>
              <a:rPr lang="en-US" sz="1200" dirty="0">
                <a:solidFill>
                  <a:srgbClr val="8A97A6"/>
                </a:solidFill>
                <a:latin typeface="Calibri" pitchFamily="34" charset="0"/>
                <a:ea typeface="Calibri" pitchFamily="34" charset="-122"/>
                <a:cs typeface="Calibri" pitchFamily="34" charset="-120"/>
              </a:rPr>
              <a:t>raw video, centralised (1080p at 3 Mbps)</a:t>
            </a:r>
            <a:endParaRPr lang="en-US" sz="1200" dirty="0"/>
          </a:p>
        </p:txBody>
      </p:sp>
      <p:sp>
        <p:nvSpPr>
          <p:cNvPr id="8" name="Text 5"/>
          <p:cNvSpPr txBox="1"/>
          <p:nvPr/>
        </p:nvSpPr>
        <p:spPr>
          <a:xfrm>
            <a:off x="4114800" y="1828800"/>
            <a:ext cx="914400" cy="822960"/>
          </a:xfrm>
          <a:prstGeom prst="rect">
            <a:avLst/>
          </a:prstGeom>
          <a:noFill/>
          <a:ln/>
        </p:spPr>
        <p:txBody>
          <a:bodyPr wrap="square" lIns="0" tIns="0" rIns="0" bIns="0" rtlCol="0" anchor="ctr"/>
          <a:lstStyle/>
          <a:p>
            <a:pPr algn="ctr" indent="0" marL="0">
              <a:buNone/>
            </a:pPr>
            <a:r>
              <a:rPr lang="en-US" sz="4000" dirty="0">
                <a:solidFill>
                  <a:srgbClr val="8A97A6"/>
                </a:solidFill>
                <a:latin typeface="Calibri" pitchFamily="34" charset="0"/>
                <a:ea typeface="Calibri" pitchFamily="34" charset="-122"/>
                <a:cs typeface="Calibri" pitchFamily="34" charset="-120"/>
              </a:rPr>
              <a:t>&gt;</a:t>
            </a:r>
            <a:endParaRPr lang="en-US" sz="4000" dirty="0"/>
          </a:p>
        </p:txBody>
      </p:sp>
      <p:sp>
        <p:nvSpPr>
          <p:cNvPr id="9" name="Text 6"/>
          <p:cNvSpPr txBox="1"/>
          <p:nvPr/>
        </p:nvSpPr>
        <p:spPr>
          <a:xfrm>
            <a:off x="5029200" y="1737360"/>
            <a:ext cx="3657600" cy="822960"/>
          </a:xfrm>
          <a:prstGeom prst="rect">
            <a:avLst/>
          </a:prstGeom>
          <a:noFill/>
          <a:ln/>
        </p:spPr>
        <p:txBody>
          <a:bodyPr wrap="square" lIns="0" tIns="0" rIns="0" bIns="0" rtlCol="0" anchor="ctr"/>
          <a:lstStyle/>
          <a:p>
            <a:pPr algn="ctr" indent="0" marL="0">
              <a:buNone/>
            </a:pPr>
            <a:r>
              <a:rPr lang="en-US" sz="4400" b="1" dirty="0">
                <a:solidFill>
                  <a:srgbClr val="39A56A"/>
                </a:solidFill>
                <a:latin typeface="Calibri" pitchFamily="34" charset="0"/>
                <a:ea typeface="Calibri" pitchFamily="34" charset="-122"/>
                <a:cs typeface="Calibri" pitchFamily="34" charset="-120"/>
              </a:rPr>
              <a:t>23 Mbps</a:t>
            </a:r>
            <a:endParaRPr lang="en-US" sz="4400" dirty="0"/>
          </a:p>
        </p:txBody>
      </p:sp>
      <p:sp>
        <p:nvSpPr>
          <p:cNvPr id="10" name="Text 7"/>
          <p:cNvSpPr txBox="1"/>
          <p:nvPr/>
        </p:nvSpPr>
        <p:spPr>
          <a:xfrm>
            <a:off x="5029200" y="2560320"/>
            <a:ext cx="3657600" cy="457200"/>
          </a:xfrm>
          <a:prstGeom prst="rect">
            <a:avLst/>
          </a:prstGeom>
          <a:noFill/>
          <a:ln/>
        </p:spPr>
        <p:txBody>
          <a:bodyPr wrap="square" lIns="0" tIns="0" rIns="0" bIns="0" rtlCol="0" anchor="ctr"/>
          <a:lstStyle/>
          <a:p>
            <a:pPr algn="ctr" indent="0" marL="0">
              <a:buNone/>
            </a:pPr>
            <a:r>
              <a:rPr lang="en-US" sz="1200" dirty="0">
                <a:solidFill>
                  <a:srgbClr val="8A97A6"/>
                </a:solidFill>
                <a:latin typeface="Calibri" pitchFamily="34" charset="0"/>
                <a:ea typeface="Calibri" pitchFamily="34" charset="-122"/>
                <a:cs typeface="Calibri" pitchFamily="34" charset="-120"/>
              </a:rPr>
              <a:t>text rows and plate crops, edge-first</a:t>
            </a:r>
            <a:endParaRPr lang="en-US" sz="1200" dirty="0"/>
          </a:p>
        </p:txBody>
      </p:sp>
      <p:sp>
        <p:nvSpPr>
          <p:cNvPr id="11" name="Text 8"/>
          <p:cNvSpPr txBox="1"/>
          <p:nvPr/>
        </p:nvSpPr>
        <p:spPr>
          <a:xfrm>
            <a:off x="8686800" y="1737360"/>
            <a:ext cx="3017520" cy="822960"/>
          </a:xfrm>
          <a:prstGeom prst="rect">
            <a:avLst/>
          </a:prstGeom>
          <a:noFill/>
          <a:ln/>
        </p:spPr>
        <p:txBody>
          <a:bodyPr wrap="square" lIns="0" tIns="0" rIns="0" bIns="0" rtlCol="0" anchor="ctr"/>
          <a:lstStyle/>
          <a:p>
            <a:pPr algn="ctr" indent="0" marL="0">
              <a:buNone/>
            </a:pPr>
            <a:r>
              <a:rPr lang="en-US" sz="4400" b="1" dirty="0">
                <a:solidFill>
                  <a:srgbClr val="3D7FD6"/>
                </a:solidFill>
                <a:latin typeface="Calibri" pitchFamily="34" charset="0"/>
                <a:ea typeface="Calibri" pitchFamily="34" charset="-122"/>
                <a:cs typeface="Calibri" pitchFamily="34" charset="-120"/>
              </a:rPr>
              <a:t>10,000x</a:t>
            </a:r>
            <a:endParaRPr lang="en-US" sz="4400" dirty="0"/>
          </a:p>
        </p:txBody>
      </p:sp>
      <p:sp>
        <p:nvSpPr>
          <p:cNvPr id="12" name="Text 9"/>
          <p:cNvSpPr txBox="1"/>
          <p:nvPr/>
        </p:nvSpPr>
        <p:spPr>
          <a:xfrm>
            <a:off x="8686800" y="2560320"/>
            <a:ext cx="3017520" cy="457200"/>
          </a:xfrm>
          <a:prstGeom prst="rect">
            <a:avLst/>
          </a:prstGeom>
          <a:noFill/>
          <a:ln/>
        </p:spPr>
        <p:txBody>
          <a:bodyPr wrap="square" lIns="0" tIns="0" rIns="0" bIns="0" rtlCol="0" anchor="ctr"/>
          <a:lstStyle/>
          <a:p>
            <a:pPr algn="ctr" indent="0" marL="0">
              <a:buNone/>
            </a:pPr>
            <a:r>
              <a:rPr lang="en-US" sz="1200" dirty="0">
                <a:solidFill>
                  <a:srgbClr val="8A97A6"/>
                </a:solidFill>
                <a:latin typeface="Calibri" pitchFamily="34" charset="0"/>
                <a:ea typeface="Calibri" pitchFamily="34" charset="-122"/>
                <a:cs typeface="Calibri" pitchFamily="34" charset="-120"/>
              </a:rPr>
              <a:t>less WAN load</a:t>
            </a:r>
            <a:endParaRPr lang="en-US" sz="1200" dirty="0"/>
          </a:p>
        </p:txBody>
      </p:sp>
      <p:sp>
        <p:nvSpPr>
          <p:cNvPr id="13" name="Shape 10"/>
          <p:cNvSpPr/>
          <p:nvPr/>
        </p:nvSpPr>
        <p:spPr>
          <a:xfrm>
            <a:off x="457200" y="3383280"/>
            <a:ext cx="5486400" cy="2743200"/>
          </a:xfrm>
          <a:prstGeom prst="roundRect">
            <a:avLst>
              <a:gd name="adj" fmla="val 4000"/>
            </a:avLst>
          </a:prstGeom>
          <a:solidFill>
            <a:srgbClr val="111823"/>
          </a:solidFill>
          <a:ln w="9525">
            <a:solidFill>
              <a:srgbClr val="1E2A3A"/>
            </a:solidFill>
            <a:prstDash val="solid"/>
          </a:ln>
        </p:spPr>
      </p:sp>
      <p:sp>
        <p:nvSpPr>
          <p:cNvPr id="14" name="Text 11"/>
          <p:cNvSpPr txBox="1"/>
          <p:nvPr/>
        </p:nvSpPr>
        <p:spPr>
          <a:xfrm>
            <a:off x="685800" y="3520440"/>
            <a:ext cx="5029200" cy="274320"/>
          </a:xfrm>
          <a:prstGeom prst="rect">
            <a:avLst/>
          </a:prstGeom>
          <a:noFill/>
          <a:ln/>
        </p:spPr>
        <p:txBody>
          <a:bodyPr wrap="square" lIns="0" tIns="0" rIns="0" bIns="0" rtlCol="0" anchor="ctr"/>
          <a:lstStyle/>
          <a:p>
            <a:pPr indent="0" marL="0">
              <a:buNone/>
            </a:pPr>
            <a:r>
              <a:rPr lang="en-US" sz="1050" dirty="0">
                <a:solidFill>
                  <a:srgbClr val="3D7FD6"/>
                </a:solidFill>
                <a:latin typeface="Calibri" pitchFamily="34" charset="0"/>
                <a:ea typeface="Calibri" pitchFamily="34" charset="-122"/>
                <a:cs typeface="Calibri" pitchFamily="34" charset="-120"/>
              </a:rPr>
              <a:t>GPU FLEET: SIZING FOLLOWS ENGINEERING CHOICES [model]</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3840480"/>
          <a:ext cx="5029200" cy="914400"/>
        </p:xfrm>
        <a:graphic>
          <a:graphicData uri="http://schemas.openxmlformats.org/drawingml/2006/table">
            <a:tbl>
              <a:tblPr/>
              <a:tblGrid>
                <a:gridCol w="3017520"/>
                <a:gridCol w="914400"/>
                <a:gridCol w="1097280"/>
              </a:tblGrid>
              <a:tr h="365760">
                <a:tc>
                  <a:txBody>
                    <a:bodyPr/>
                    <a:lstStyle/>
                    <a:p>
                      <a:pPr algn="l" indent="0" marL="0">
                        <a:buNone/>
                      </a:pPr>
                      <a:r>
                        <a:rPr lang="en-US" sz="1050" dirty="0">
                          <a:solidFill>
                            <a:srgbClr val="E6EDF5"/>
                          </a:solidFill>
                          <a:latin typeface="Calibri" pitchFamily="34" charset="0"/>
                          <a:ea typeface="Calibri" pitchFamily="34" charset="-122"/>
                          <a:cs typeface="Calibri" pitchFamily="34" charset="-120"/>
                        </a:rPr>
                        <a:t>Naive: every frame, full-frame ANPR</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dirty="0">
                          <a:solidFill>
                            <a:srgbClr val="8A97A6"/>
                          </a:solidFill>
                          <a:latin typeface="Calibri" pitchFamily="34" charset="0"/>
                          <a:ea typeface="Calibri" pitchFamily="34" charset="-122"/>
                          <a:cs typeface="Calibri" pitchFamily="34" charset="-120"/>
                        </a:rPr>
                        <a:t>30 / GPU</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b="1" dirty="0">
                          <a:solidFill>
                            <a:srgbClr val="8A97A6"/>
                          </a:solidFill>
                          <a:latin typeface="Calibri" pitchFamily="34" charset="0"/>
                          <a:ea typeface="Calibri" pitchFamily="34" charset="-122"/>
                          <a:cs typeface="Calibri" pitchFamily="34" charset="-120"/>
                        </a:rPr>
                        <a:t>2,667 GPUs</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r>
              <a:tr h="365760">
                <a:tc>
                  <a:txBody>
                    <a:bodyPr/>
                    <a:lstStyle/>
                    <a:p>
                      <a:pPr algn="l" indent="0" marL="0">
                        <a:buNone/>
                      </a:pPr>
                      <a:r>
                        <a:rPr lang="en-US" sz="1050" dirty="0">
                          <a:solidFill>
                            <a:srgbClr val="E6EDF5"/>
                          </a:solidFill>
                          <a:latin typeface="Calibri" pitchFamily="34" charset="0"/>
                          <a:ea typeface="Calibri" pitchFamily="34" charset="-122"/>
                          <a:cs typeface="Calibri" pitchFamily="34" charset="-120"/>
                        </a:rPr>
                        <a:t>5 fps sampling</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dirty="0">
                          <a:solidFill>
                            <a:srgbClr val="8A97A6"/>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b="1" dirty="0">
                          <a:solidFill>
                            <a:srgbClr val="8A97A6"/>
                          </a:solidFill>
                          <a:latin typeface="Calibri" pitchFamily="34" charset="0"/>
                          <a:ea typeface="Calibri" pitchFamily="34" charset="-122"/>
                          <a:cs typeface="Calibri" pitchFamily="34" charset="-120"/>
                        </a:rPr>
                        <a:t>1,600</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r>
              <a:tr h="365760">
                <a:tc>
                  <a:txBody>
                    <a:bodyPr/>
                    <a:lstStyle/>
                    <a:p>
                      <a:pPr algn="l" indent="0" marL="0">
                        <a:buNone/>
                      </a:pPr>
                      <a:r>
                        <a:rPr lang="en-US" sz="1050" dirty="0">
                          <a:solidFill>
                            <a:srgbClr val="E6EDF5"/>
                          </a:solidFill>
                          <a:latin typeface="Calibri" pitchFamily="34" charset="0"/>
                          <a:ea typeface="Calibri" pitchFamily="34" charset="-122"/>
                          <a:cs typeface="Calibri" pitchFamily="34" charset="-120"/>
                        </a:rPr>
                        <a:t>plus motion gating</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dirty="0">
                          <a:solidFill>
                            <a:srgbClr val="8A97A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b="1" dirty="0">
                          <a:solidFill>
                            <a:srgbClr val="8A97A6"/>
                          </a:solidFill>
                          <a:latin typeface="Calibri" pitchFamily="34" charset="0"/>
                          <a:ea typeface="Calibri" pitchFamily="34" charset="-122"/>
                          <a:cs typeface="Calibri" pitchFamily="34" charset="-120"/>
                        </a:rPr>
                        <a:t>800</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r>
              <a:tr h="365760">
                <a:tc>
                  <a:txBody>
                    <a:bodyPr/>
                    <a:lstStyle/>
                    <a:p>
                      <a:pPr algn="l" indent="0" marL="0">
                        <a:buNone/>
                      </a:pPr>
                      <a:r>
                        <a:rPr lang="en-US" sz="1050" dirty="0">
                          <a:solidFill>
                            <a:srgbClr val="E6EDF5"/>
                          </a:solidFill>
                          <a:latin typeface="Calibri" pitchFamily="34" charset="0"/>
                          <a:ea typeface="Calibri" pitchFamily="34" charset="-122"/>
                          <a:cs typeface="Calibri" pitchFamily="34" charset="-120"/>
                        </a:rPr>
                        <a:t>plus cascade and INT8</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dirty="0">
                          <a:solidFill>
                            <a:srgbClr val="8A97A6"/>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b="1" dirty="0">
                          <a:solidFill>
                            <a:srgbClr val="8A97A6"/>
                          </a:solidFill>
                          <a:latin typeface="Calibri" pitchFamily="34" charset="0"/>
                          <a:ea typeface="Calibri" pitchFamily="34" charset="-122"/>
                          <a:cs typeface="Calibri" pitchFamily="34" charset="-120"/>
                        </a:rPr>
                        <a:t>533</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r>
              <a:tr h="365760">
                <a:tc>
                  <a:txBody>
                    <a:bodyPr/>
                    <a:lstStyle/>
                    <a:p>
                      <a:pPr algn="l" indent="0" marL="0">
                        <a:buNone/>
                      </a:pPr>
                      <a:r>
                        <a:rPr lang="en-US" sz="1050" dirty="0">
                          <a:solidFill>
                            <a:srgbClr val="E6EDF5"/>
                          </a:solidFill>
                          <a:latin typeface="Calibri" pitchFamily="34" charset="0"/>
                          <a:ea typeface="Calibri" pitchFamily="34" charset="-122"/>
                          <a:cs typeface="Calibri" pitchFamily="34" charset="-120"/>
                        </a:rPr>
                        <a:t>plus ROI and tuning</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dirty="0">
                          <a:solidFill>
                            <a:srgbClr val="8A97A6"/>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c>
                  <a:txBody>
                    <a:bodyPr/>
                    <a:lstStyle/>
                    <a:p>
                      <a:pPr algn="r" indent="0" marL="0">
                        <a:buNone/>
                      </a:pPr>
                      <a:r>
                        <a:rPr lang="en-US" sz="1050" b="1" dirty="0">
                          <a:solidFill>
                            <a:srgbClr val="8A97A6"/>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91440" marR="91440" marT="45720" marB="45720">
                    <a:lnL w="6350" cap="flat" cmpd="sng" algn="ctr">
                      <a:solidFill>
                        <a:srgbClr val="1E2A3A"/>
                      </a:solidFill>
                      <a:prstDash val="solid"/>
                      <a:round/>
                      <a:headEnd type="none" w="med" len="med"/>
                      <a:tailEnd type="none" w="med" len="med"/>
                    </a:lnL>
                    <a:lnR w="6350" cap="flat" cmpd="sng" algn="ctr">
                      <a:solidFill>
                        <a:srgbClr val="1E2A3A"/>
                      </a:solidFill>
                      <a:prstDash val="solid"/>
                      <a:round/>
                      <a:headEnd type="none" w="med" len="med"/>
                      <a:tailEnd type="none" w="med" len="med"/>
                    </a:lnR>
                    <a:lnT w="6350" cap="flat" cmpd="sng" algn="ctr">
                      <a:solidFill>
                        <a:srgbClr val="1E2A3A"/>
                      </a:solidFill>
                      <a:prstDash val="solid"/>
                      <a:round/>
                      <a:headEnd type="none" w="med" len="med"/>
                      <a:tailEnd type="none" w="med" len="med"/>
                    </a:lnT>
                    <a:lnB w="6350" cap="flat" cmpd="sng" algn="ctr">
                      <a:solidFill>
                        <a:srgbClr val="1E2A3A"/>
                      </a:solidFill>
                      <a:prstDash val="solid"/>
                      <a:round/>
                      <a:headEnd type="none" w="med" len="med"/>
                      <a:tailEnd type="none" w="med" len="med"/>
                    </a:lnB>
                    <a:solidFill>
                      <a:srgbClr val="111823"/>
                    </a:solidFill>
                  </a:tcPr>
                </a:tc>
              </a:tr>
            </a:tbl>
          </a:graphicData>
        </a:graphic>
      </p:graphicFrame>
      <p:sp>
        <p:nvSpPr>
          <p:cNvPr id="16" name="Shape 12"/>
          <p:cNvSpPr/>
          <p:nvPr/>
        </p:nvSpPr>
        <p:spPr>
          <a:xfrm>
            <a:off x="6217920" y="3383280"/>
            <a:ext cx="5486400" cy="2743200"/>
          </a:xfrm>
          <a:prstGeom prst="roundRect">
            <a:avLst>
              <a:gd name="adj" fmla="val 4000"/>
            </a:avLst>
          </a:prstGeom>
          <a:solidFill>
            <a:srgbClr val="111823"/>
          </a:solidFill>
          <a:ln w="9525">
            <a:solidFill>
              <a:srgbClr val="1E2A3A"/>
            </a:solidFill>
            <a:prstDash val="solid"/>
          </a:ln>
        </p:spPr>
      </p:sp>
      <p:sp>
        <p:nvSpPr>
          <p:cNvPr id="17" name="Text 13"/>
          <p:cNvSpPr txBox="1"/>
          <p:nvPr/>
        </p:nvSpPr>
        <p:spPr>
          <a:xfrm>
            <a:off x="6446520" y="3520440"/>
            <a:ext cx="5029200" cy="274320"/>
          </a:xfrm>
          <a:prstGeom prst="rect">
            <a:avLst/>
          </a:prstGeom>
          <a:noFill/>
          <a:ln/>
        </p:spPr>
        <p:txBody>
          <a:bodyPr wrap="square" lIns="0" tIns="0" rIns="0" bIns="0" rtlCol="0" anchor="ctr"/>
          <a:lstStyle/>
          <a:p>
            <a:pPr indent="0" marL="0">
              <a:buNone/>
            </a:pPr>
            <a:r>
              <a:rPr lang="en-US" sz="1050" dirty="0">
                <a:solidFill>
                  <a:srgbClr val="D64F6A"/>
                </a:solidFill>
                <a:latin typeface="Calibri" pitchFamily="34" charset="0"/>
                <a:ea typeface="Calibri" pitchFamily="34" charset="-122"/>
                <a:cs typeface="Calibri" pitchFamily="34" charset="-120"/>
              </a:rPr>
              <a:t>DECODE IS USUALLY THE BINDING CEILING</a:t>
            </a:r>
            <a:endParaRPr lang="en-US" sz="1050" dirty="0"/>
          </a:p>
        </p:txBody>
      </p:sp>
      <p:sp>
        <p:nvSpPr>
          <p:cNvPr id="18" name="Text 14"/>
          <p:cNvSpPr txBox="1"/>
          <p:nvPr/>
        </p:nvSpPr>
        <p:spPr>
          <a:xfrm>
            <a:off x="6446520" y="3840480"/>
            <a:ext cx="5029200" cy="2240280"/>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Every stream is H.264 or H.265 decoded before any model sees it, and decode engines cap at roughly 20 to 40 sessions per GPU [estimate]</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At 30 per GPU, decode alone needs 2,667 GPUs, so tuning inference to 200 streams per GPU leaves the tensor cores about 85% idle [model]</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Mitigation: decode only the frames that are inferred, prefer H.265, CPU-decode low-fps tiers, provision against the ceiling that binds</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The laptop run adds a lesson: its binding stage was OCR on the CPU, so a node budgets OCR on the accelerator too</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Storage at scale</a:t>
            </a:r>
            <a:endParaRPr lang="en-US" sz="3000" dirty="0"/>
          </a:p>
        </p:txBody>
      </p:sp>
      <p:sp>
        <p:nvSpPr>
          <p:cNvPr id="5" name="Text 2"/>
          <p:cNvSpPr txBox="1"/>
          <p:nvPr/>
        </p:nvSpPr>
        <p:spPr>
          <a:xfrm>
            <a:off x="457200" y="932688"/>
            <a:ext cx="11247120" cy="365760"/>
          </a:xfrm>
          <a:prstGeom prst="rect">
            <a:avLst/>
          </a:prstGeom>
          <a:noFill/>
          <a:ln/>
        </p:spPr>
        <p:txBody>
          <a:bodyPr wrap="square" lIns="0" tIns="0" rIns="0" bIns="0" rtlCol="0" anchor="ctr"/>
          <a:lstStyle/>
          <a:p>
            <a:pPr indent="0" marL="0">
              <a:buNone/>
            </a:pPr>
            <a:r>
              <a:rPr lang="en-US" sz="1400" dirty="0">
                <a:solidFill>
                  <a:srgbClr val="8A97A6"/>
                </a:solidFill>
                <a:latin typeface="Calibri" pitchFamily="34" charset="0"/>
                <a:ea typeface="Calibri" pitchFamily="34" charset="-122"/>
                <a:cs typeface="Calibri" pitchFamily="34" charset="-120"/>
              </a:rPr>
              <a:t>Per day, statewide. [model] from one plate read per camera per minute</a:t>
            </a:r>
            <a:endParaRPr lang="en-US" sz="1400" dirty="0"/>
          </a:p>
        </p:txBody>
      </p:sp>
      <p:sp>
        <p:nvSpPr>
          <p:cNvPr id="6" name="Text 3"/>
          <p:cNvSpPr txBox="1"/>
          <p:nvPr/>
        </p:nvSpPr>
        <p:spPr>
          <a:xfrm>
            <a:off x="457200" y="1645920"/>
            <a:ext cx="3657600" cy="822960"/>
          </a:xfrm>
          <a:prstGeom prst="rect">
            <a:avLst/>
          </a:prstGeom>
          <a:noFill/>
          <a:ln/>
        </p:spPr>
        <p:txBody>
          <a:bodyPr wrap="square" lIns="0" tIns="0" rIns="0" bIns="0" rtlCol="0" anchor="ctr"/>
          <a:lstStyle/>
          <a:p>
            <a:pPr algn="ctr" indent="0" marL="0">
              <a:buNone/>
            </a:pPr>
            <a:r>
              <a:rPr lang="en-US" sz="4400" b="1" dirty="0">
                <a:solidFill>
                  <a:srgbClr val="D64F6A"/>
                </a:solidFill>
                <a:latin typeface="Calibri" pitchFamily="34" charset="0"/>
                <a:ea typeface="Calibri" pitchFamily="34" charset="-122"/>
                <a:cs typeface="Calibri" pitchFamily="34" charset="-120"/>
              </a:rPr>
              <a:t>3.46 TB</a:t>
            </a:r>
            <a:endParaRPr lang="en-US" sz="4400" dirty="0"/>
          </a:p>
        </p:txBody>
      </p:sp>
      <p:sp>
        <p:nvSpPr>
          <p:cNvPr id="7" name="Text 4"/>
          <p:cNvSpPr txBox="1"/>
          <p:nvPr/>
        </p:nvSpPr>
        <p:spPr>
          <a:xfrm>
            <a:off x="457200" y="2468880"/>
            <a:ext cx="3657600" cy="457200"/>
          </a:xfrm>
          <a:prstGeom prst="rect">
            <a:avLst/>
          </a:prstGeom>
          <a:noFill/>
          <a:ln/>
        </p:spPr>
        <p:txBody>
          <a:bodyPr wrap="square" lIns="0" tIns="0" rIns="0" bIns="0" rtlCol="0" anchor="ctr"/>
          <a:lstStyle/>
          <a:p>
            <a:pPr algn="ctr" indent="0" marL="0">
              <a:buNone/>
            </a:pPr>
            <a:r>
              <a:rPr lang="en-US" sz="1200" dirty="0">
                <a:solidFill>
                  <a:srgbClr val="8A97A6"/>
                </a:solidFill>
                <a:latin typeface="Calibri" pitchFamily="34" charset="0"/>
                <a:ea typeface="Calibri" pitchFamily="34" charset="-122"/>
                <a:cs typeface="Calibri" pitchFamily="34" charset="-120"/>
              </a:rPr>
              <a:t>detection snapshots as full frames</a:t>
            </a:r>
            <a:endParaRPr lang="en-US" sz="1200" dirty="0"/>
          </a:p>
        </p:txBody>
      </p:sp>
      <p:sp>
        <p:nvSpPr>
          <p:cNvPr id="8" name="Text 5"/>
          <p:cNvSpPr txBox="1"/>
          <p:nvPr/>
        </p:nvSpPr>
        <p:spPr>
          <a:xfrm>
            <a:off x="4206240" y="1645920"/>
            <a:ext cx="3657600" cy="822960"/>
          </a:xfrm>
          <a:prstGeom prst="rect">
            <a:avLst/>
          </a:prstGeom>
          <a:noFill/>
          <a:ln/>
        </p:spPr>
        <p:txBody>
          <a:bodyPr wrap="square" lIns="0" tIns="0" rIns="0" bIns="0" rtlCol="0" anchor="ctr"/>
          <a:lstStyle/>
          <a:p>
            <a:pPr algn="ctr" indent="0" marL="0">
              <a:buNone/>
            </a:pPr>
            <a:r>
              <a:rPr lang="en-US" sz="4400" b="1" dirty="0">
                <a:solidFill>
                  <a:srgbClr val="39A56A"/>
                </a:solidFill>
                <a:latin typeface="Calibri" pitchFamily="34" charset="0"/>
                <a:ea typeface="Calibri" pitchFamily="34" charset="-122"/>
                <a:cs typeface="Calibri" pitchFamily="34" charset="-120"/>
              </a:rPr>
              <a:t>0.23 TB</a:t>
            </a:r>
            <a:endParaRPr lang="en-US" sz="4400" dirty="0"/>
          </a:p>
        </p:txBody>
      </p:sp>
      <p:sp>
        <p:nvSpPr>
          <p:cNvPr id="9" name="Text 6"/>
          <p:cNvSpPr txBox="1"/>
          <p:nvPr/>
        </p:nvSpPr>
        <p:spPr>
          <a:xfrm>
            <a:off x="4206240" y="2468880"/>
            <a:ext cx="3657600" cy="457200"/>
          </a:xfrm>
          <a:prstGeom prst="rect">
            <a:avLst/>
          </a:prstGeom>
          <a:noFill/>
          <a:ln/>
        </p:spPr>
        <p:txBody>
          <a:bodyPr wrap="square" lIns="0" tIns="0" rIns="0" bIns="0" rtlCol="0" anchor="ctr"/>
          <a:lstStyle/>
          <a:p>
            <a:pPr algn="ctr" indent="0" marL="0">
              <a:buNone/>
            </a:pPr>
            <a:r>
              <a:rPr lang="en-US" sz="1200" dirty="0">
                <a:solidFill>
                  <a:srgbClr val="8A97A6"/>
                </a:solidFill>
                <a:latin typeface="Calibri" pitchFamily="34" charset="0"/>
                <a:ea typeface="Calibri" pitchFamily="34" charset="-122"/>
                <a:cs typeface="Calibri" pitchFamily="34" charset="-120"/>
              </a:rPr>
              <a:t>plate crops of about 2 KB instead, 15 times less</a:t>
            </a:r>
            <a:endParaRPr lang="en-US" sz="1200" dirty="0"/>
          </a:p>
        </p:txBody>
      </p:sp>
      <p:sp>
        <p:nvSpPr>
          <p:cNvPr id="10" name="Text 7"/>
          <p:cNvSpPr txBox="1"/>
          <p:nvPr/>
        </p:nvSpPr>
        <p:spPr>
          <a:xfrm>
            <a:off x="7955280" y="1645920"/>
            <a:ext cx="3749040" cy="822960"/>
          </a:xfrm>
          <a:prstGeom prst="rect">
            <a:avLst/>
          </a:prstGeom>
          <a:noFill/>
          <a:ln/>
        </p:spPr>
        <p:txBody>
          <a:bodyPr wrap="square" lIns="0" tIns="0" rIns="0" bIns="0" rtlCol="0" anchor="ctr"/>
          <a:lstStyle/>
          <a:p>
            <a:pPr algn="ctr" indent="0" marL="0">
              <a:buNone/>
            </a:pPr>
            <a:r>
              <a:rPr lang="en-US" sz="4400" b="1" dirty="0">
                <a:solidFill>
                  <a:srgbClr val="E0912F"/>
                </a:solidFill>
                <a:latin typeface="Calibri" pitchFamily="34" charset="0"/>
                <a:ea typeface="Calibri" pitchFamily="34" charset="-122"/>
                <a:cs typeface="Calibri" pitchFamily="34" charset="-120"/>
              </a:rPr>
              <a:t>220 GB</a:t>
            </a:r>
            <a:endParaRPr lang="en-US" sz="4400" dirty="0"/>
          </a:p>
        </p:txBody>
      </p:sp>
      <p:sp>
        <p:nvSpPr>
          <p:cNvPr id="11" name="Text 8"/>
          <p:cNvSpPr txBox="1"/>
          <p:nvPr/>
        </p:nvSpPr>
        <p:spPr>
          <a:xfrm>
            <a:off x="7955280" y="2468880"/>
            <a:ext cx="3749040" cy="457200"/>
          </a:xfrm>
          <a:prstGeom prst="rect">
            <a:avLst/>
          </a:prstGeom>
          <a:noFill/>
          <a:ln/>
        </p:spPr>
        <p:txBody>
          <a:bodyPr wrap="square" lIns="0" tIns="0" rIns="0" bIns="0" rtlCol="0" anchor="ctr"/>
          <a:lstStyle/>
          <a:p>
            <a:pPr algn="ctr" indent="0" marL="0">
              <a:buNone/>
            </a:pPr>
            <a:r>
              <a:rPr lang="en-US" sz="1200" dirty="0">
                <a:solidFill>
                  <a:srgbClr val="8A97A6"/>
                </a:solidFill>
                <a:latin typeface="Calibri" pitchFamily="34" charset="0"/>
                <a:ea typeface="Calibri" pitchFamily="34" charset="-122"/>
                <a:cs typeface="Calibri" pitchFamily="34" charset="-120"/>
              </a:rPr>
              <a:t>evidence clips at 10,000 hits per day</a:t>
            </a:r>
            <a:endParaRPr lang="en-US" sz="1200" dirty="0"/>
          </a:p>
        </p:txBody>
      </p:sp>
      <p:sp>
        <p:nvSpPr>
          <p:cNvPr id="12" name="Shape 9"/>
          <p:cNvSpPr/>
          <p:nvPr/>
        </p:nvSpPr>
        <p:spPr>
          <a:xfrm>
            <a:off x="457200" y="3291840"/>
            <a:ext cx="11247120" cy="2834640"/>
          </a:xfrm>
          <a:prstGeom prst="roundRect">
            <a:avLst>
              <a:gd name="adj" fmla="val 3871"/>
            </a:avLst>
          </a:prstGeom>
          <a:solidFill>
            <a:srgbClr val="111823"/>
          </a:solidFill>
          <a:ln w="9525">
            <a:solidFill>
              <a:srgbClr val="1E2A3A"/>
            </a:solidFill>
            <a:prstDash val="solid"/>
          </a:ln>
        </p:spPr>
      </p:sp>
      <p:sp>
        <p:nvSpPr>
          <p:cNvPr id="13" name="Text 10"/>
          <p:cNvSpPr txBox="1"/>
          <p:nvPr/>
        </p:nvSpPr>
        <p:spPr>
          <a:xfrm>
            <a:off x="685800" y="3429000"/>
            <a:ext cx="10881360" cy="2606040"/>
          </a:xfrm>
          <a:prstGeom prst="rect">
            <a:avLst/>
          </a:prstGeom>
          <a:noFill/>
          <a:ln/>
        </p:spPr>
        <p:txBody>
          <a:bodyPr wrap="square" lIns="25400" tIns="25400" rIns="25400" bIns="25400" rtlCol="0" anchor="t"/>
          <a:lstStyle/>
          <a:p>
            <a:pPr marL="342900" indent="-342900">
              <a:spcAft>
                <a:spcPts val="500"/>
              </a:spcAft>
              <a:buSzPct val="100000"/>
              <a:buChar char="•"/>
            </a:pPr>
            <a:r>
              <a:rPr lang="en-US" sz="1150" dirty="0">
                <a:solidFill>
                  <a:srgbClr val="E6EDF5"/>
                </a:solidFill>
                <a:latin typeface="Calibri" pitchFamily="34" charset="0"/>
                <a:ea typeface="Calibri" pitchFamily="34" charset="-122"/>
                <a:cs typeface="Calibri" pitchFamily="34" charset="-120"/>
              </a:rPr>
              <a:t>Retention tiers: hot for 7 days, warm for 90, then a cold or frozen archive. Sighting records run to about 115 million a day, 42 billion a year and 21 TB a year indexed [model], so shard and tier from day one. Retrofitting that after the index is built is a migration with no good window.</a:t>
            </a:r>
            <a:endParaRPr lang="en-US" sz="1150" dirty="0"/>
          </a:p>
          <a:p>
            <a:pPr marL="342900" indent="-342900">
              <a:spcAft>
                <a:spcPts val="500"/>
              </a:spcAft>
              <a:buSzPct val="100000"/>
              <a:buChar char="•"/>
            </a:pPr>
            <a:r>
              <a:rPr lang="en-US" sz="1150" dirty="0">
                <a:solidFill>
                  <a:srgbClr val="E6EDF5"/>
                </a:solidFill>
                <a:latin typeface="Calibri" pitchFamily="34" charset="0"/>
                <a:ea typeface="Calibri" pitchFamily="34" charset="-122"/>
                <a:cs typeface="Calibri" pitchFamily="34" charset="-120"/>
              </a:rPr>
              <a:t>Full frames only for confirmed watchlist hits, where the evidence clip exists anyway. Unmatched sighting crops expire in days rather than years.</a:t>
            </a:r>
            <a:endParaRPr lang="en-US" sz="1150" dirty="0"/>
          </a:p>
          <a:p>
            <a:pPr marL="342900" indent="-342900">
              <a:spcAft>
                <a:spcPts val="500"/>
              </a:spcAft>
              <a:buSzPct val="100000"/>
              <a:buChar char="•"/>
            </a:pPr>
            <a:r>
              <a:rPr lang="en-US" sz="1150" dirty="0">
                <a:solidFill>
                  <a:srgbClr val="E6EDF5"/>
                </a:solidFill>
                <a:latin typeface="Calibri" pitchFamily="34" charset="0"/>
                <a:ea typeface="Calibri" pitchFamily="34" charset="-122"/>
                <a:cs typeface="Calibri" pitchFamily="34" charset="-120"/>
              </a:rPr>
              <a:t>Evidence capture (Pipeline 3) is designed and validated separately and is not built in the demo: a fixed-size rolling buffer per camera stays flat and promotes a hashed clip only on a match. In the demo, the only video on disk is the self-overwriting 20-second relay window per analysed camera.</a:t>
            </a:r>
            <a:endParaRPr lang="en-US" sz="1150" dirty="0"/>
          </a:p>
          <a:p>
            <a:pPr marL="342900" indent="-342900">
              <a:spcAft>
                <a:spcPts val="500"/>
              </a:spcAft>
              <a:buSzPct val="100000"/>
              <a:buChar char="•"/>
            </a:pPr>
            <a:r>
              <a:rPr lang="en-US" sz="1150" dirty="0">
                <a:solidFill>
                  <a:srgbClr val="E6EDF5"/>
                </a:solidFill>
                <a:latin typeface="Calibri" pitchFamily="34" charset="0"/>
                <a:ea typeface="Calibri" pitchFamily="34" charset="-122"/>
                <a:cs typeface="Calibri" pitchFamily="34" charset="-120"/>
              </a:rPr>
              <a:t>Retention by data class, purged on a schedule: proposed non-hit crops 30 days, sighting rows 180 days, hit evidence for the life of the case [estimate]. Each department's own 7 to 15-day video retention is untouched. The purge is part of the pilot build.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Cybersecurity, privacy and auditability</a:t>
            </a:r>
            <a:endParaRPr lang="en-US" sz="3000" dirty="0"/>
          </a:p>
        </p:txBody>
      </p:sp>
      <p:sp>
        <p:nvSpPr>
          <p:cNvPr id="5" name="Shape 2"/>
          <p:cNvSpPr/>
          <p:nvPr/>
        </p:nvSpPr>
        <p:spPr>
          <a:xfrm>
            <a:off x="457200" y="1463040"/>
            <a:ext cx="3657600" cy="2194560"/>
          </a:xfrm>
          <a:prstGeom prst="roundRect">
            <a:avLst>
              <a:gd name="adj" fmla="val 5000"/>
            </a:avLst>
          </a:prstGeom>
          <a:solidFill>
            <a:srgbClr val="111823"/>
          </a:solidFill>
          <a:ln w="9525">
            <a:solidFill>
              <a:srgbClr val="1E2A3A"/>
            </a:solidFill>
            <a:prstDash val="solid"/>
          </a:ln>
        </p:spPr>
      </p:sp>
      <p:sp>
        <p:nvSpPr>
          <p:cNvPr id="6" name="Shape 3"/>
          <p:cNvSpPr/>
          <p:nvPr/>
        </p:nvSpPr>
        <p:spPr>
          <a:xfrm>
            <a:off x="640080" y="1664208"/>
            <a:ext cx="274320" cy="274320"/>
          </a:xfrm>
          <a:prstGeom prst="ellipse">
            <a:avLst/>
          </a:prstGeom>
          <a:solidFill>
            <a:srgbClr val="3D7FD6"/>
          </a:solidFill>
          <a:ln w="12700">
            <a:solidFill>
              <a:srgbClr val="3D7FD6"/>
            </a:solidFill>
            <a:prstDash val="solid"/>
          </a:ln>
        </p:spPr>
      </p:sp>
      <p:sp>
        <p:nvSpPr>
          <p:cNvPr id="7" name="Text 4"/>
          <p:cNvSpPr txBox="1"/>
          <p:nvPr/>
        </p:nvSpPr>
        <p:spPr>
          <a:xfrm>
            <a:off x="1024128" y="1627632"/>
            <a:ext cx="2926080" cy="347472"/>
          </a:xfrm>
          <a:prstGeom prst="rect">
            <a:avLst/>
          </a:prstGeom>
          <a:noFill/>
          <a:ln/>
        </p:spPr>
        <p:txBody>
          <a:bodyPr wrap="square" lIns="0" tIns="0" rIns="0" bIns="0" rtlCol="0" anchor="ctr"/>
          <a:lstStyle/>
          <a:p>
            <a:pPr indent="0" marL="0">
              <a:buNone/>
            </a:pPr>
            <a:r>
              <a:rPr lang="en-US" sz="1300" b="1" dirty="0">
                <a:solidFill>
                  <a:srgbClr val="E6EDF5"/>
                </a:solidFill>
                <a:latin typeface="Calibri" pitchFamily="34" charset="0"/>
                <a:ea typeface="Calibri" pitchFamily="34" charset="-122"/>
                <a:cs typeface="Calibri" pitchFamily="34" charset="-120"/>
              </a:rPr>
              <a:t>Credentials</a:t>
            </a:r>
            <a:endParaRPr lang="en-US" sz="1300" dirty="0"/>
          </a:p>
        </p:txBody>
      </p:sp>
      <p:sp>
        <p:nvSpPr>
          <p:cNvPr id="8" name="Text 5"/>
          <p:cNvSpPr txBox="1"/>
          <p:nvPr/>
        </p:nvSpPr>
        <p:spPr>
          <a:xfrm>
            <a:off x="640080" y="205740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Environment or secret store only. Never hard-coded, logged, persisted or shown unmasked; the registry holds URL templates with placeholders filled in memory. A vault with per-department rotation in production.</a:t>
            </a:r>
            <a:endParaRPr lang="en-US" sz="1050" dirty="0"/>
          </a:p>
        </p:txBody>
      </p:sp>
      <p:sp>
        <p:nvSpPr>
          <p:cNvPr id="9" name="Shape 6"/>
          <p:cNvSpPr/>
          <p:nvPr/>
        </p:nvSpPr>
        <p:spPr>
          <a:xfrm>
            <a:off x="4251960" y="1463040"/>
            <a:ext cx="3657600" cy="2194560"/>
          </a:xfrm>
          <a:prstGeom prst="roundRect">
            <a:avLst>
              <a:gd name="adj" fmla="val 5000"/>
            </a:avLst>
          </a:prstGeom>
          <a:solidFill>
            <a:srgbClr val="111823"/>
          </a:solidFill>
          <a:ln w="9525">
            <a:solidFill>
              <a:srgbClr val="1E2A3A"/>
            </a:solidFill>
            <a:prstDash val="solid"/>
          </a:ln>
        </p:spPr>
      </p:sp>
      <p:sp>
        <p:nvSpPr>
          <p:cNvPr id="10" name="Shape 7"/>
          <p:cNvSpPr/>
          <p:nvPr/>
        </p:nvSpPr>
        <p:spPr>
          <a:xfrm>
            <a:off x="4434840" y="1664208"/>
            <a:ext cx="274320" cy="274320"/>
          </a:xfrm>
          <a:prstGeom prst="ellipse">
            <a:avLst/>
          </a:prstGeom>
          <a:solidFill>
            <a:srgbClr val="B45FD1"/>
          </a:solidFill>
          <a:ln w="12700">
            <a:solidFill>
              <a:srgbClr val="B45FD1"/>
            </a:solidFill>
            <a:prstDash val="solid"/>
          </a:ln>
        </p:spPr>
      </p:sp>
      <p:sp>
        <p:nvSpPr>
          <p:cNvPr id="11" name="Text 8"/>
          <p:cNvSpPr txBox="1"/>
          <p:nvPr/>
        </p:nvSpPr>
        <p:spPr>
          <a:xfrm>
            <a:off x="4818888" y="1627632"/>
            <a:ext cx="2926080" cy="347472"/>
          </a:xfrm>
          <a:prstGeom prst="rect">
            <a:avLst/>
          </a:prstGeom>
          <a:noFill/>
          <a:ln/>
        </p:spPr>
        <p:txBody>
          <a:bodyPr wrap="square" lIns="0" tIns="0" rIns="0" bIns="0" rtlCol="0" anchor="ctr"/>
          <a:lstStyle/>
          <a:p>
            <a:pPr indent="0" marL="0">
              <a:buNone/>
            </a:pPr>
            <a:r>
              <a:rPr lang="en-US" sz="1300" b="1" dirty="0">
                <a:solidFill>
                  <a:srgbClr val="E6EDF5"/>
                </a:solidFill>
                <a:latin typeface="Calibri" pitchFamily="34" charset="0"/>
                <a:ea typeface="Calibri" pitchFamily="34" charset="-122"/>
                <a:cs typeface="Calibri" pitchFamily="34" charset="-120"/>
              </a:rPr>
              <a:t>Login and roles (built)</a:t>
            </a:r>
            <a:endParaRPr lang="en-US" sz="1300" dirty="0"/>
          </a:p>
        </p:txBody>
      </p:sp>
      <p:sp>
        <p:nvSpPr>
          <p:cNvPr id="12" name="Text 9"/>
          <p:cNvSpPr txBox="1"/>
          <p:nvPr/>
        </p:nvSpPr>
        <p:spPr>
          <a:xfrm>
            <a:off x="4434840" y="205740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People sign in as viewer, evaluator or admin. Passwords only as scrypt hashes; server-side sessions in HttpOnly, SameSite=Strict cookies expiring after 8 h; lockout after five failures. Department scoping is added in production.</a:t>
            </a:r>
            <a:endParaRPr lang="en-US" sz="1050" dirty="0"/>
          </a:p>
        </p:txBody>
      </p:sp>
      <p:sp>
        <p:nvSpPr>
          <p:cNvPr id="13" name="Shape 10"/>
          <p:cNvSpPr/>
          <p:nvPr/>
        </p:nvSpPr>
        <p:spPr>
          <a:xfrm>
            <a:off x="8046720" y="1463040"/>
            <a:ext cx="3657600" cy="2194560"/>
          </a:xfrm>
          <a:prstGeom prst="roundRect">
            <a:avLst>
              <a:gd name="adj" fmla="val 5000"/>
            </a:avLst>
          </a:prstGeom>
          <a:solidFill>
            <a:srgbClr val="111823"/>
          </a:solidFill>
          <a:ln w="9525">
            <a:solidFill>
              <a:srgbClr val="1E2A3A"/>
            </a:solidFill>
            <a:prstDash val="solid"/>
          </a:ln>
        </p:spPr>
      </p:sp>
      <p:sp>
        <p:nvSpPr>
          <p:cNvPr id="14" name="Shape 11"/>
          <p:cNvSpPr/>
          <p:nvPr/>
        </p:nvSpPr>
        <p:spPr>
          <a:xfrm>
            <a:off x="8229600" y="1664208"/>
            <a:ext cx="274320" cy="274320"/>
          </a:xfrm>
          <a:prstGeom prst="ellipse">
            <a:avLst/>
          </a:prstGeom>
          <a:solidFill>
            <a:srgbClr val="39A56A"/>
          </a:solidFill>
          <a:ln w="12700">
            <a:solidFill>
              <a:srgbClr val="39A56A"/>
            </a:solidFill>
            <a:prstDash val="solid"/>
          </a:ln>
        </p:spPr>
      </p:sp>
      <p:sp>
        <p:nvSpPr>
          <p:cNvPr id="15" name="Text 12"/>
          <p:cNvSpPr txBox="1"/>
          <p:nvPr/>
        </p:nvSpPr>
        <p:spPr>
          <a:xfrm>
            <a:off x="8613648" y="1627632"/>
            <a:ext cx="2926080" cy="347472"/>
          </a:xfrm>
          <a:prstGeom prst="rect">
            <a:avLst/>
          </a:prstGeom>
          <a:noFill/>
          <a:ln/>
        </p:spPr>
        <p:txBody>
          <a:bodyPr wrap="square" lIns="0" tIns="0" rIns="0" bIns="0" rtlCol="0" anchor="ctr"/>
          <a:lstStyle/>
          <a:p>
            <a:pPr indent="0" marL="0">
              <a:buNone/>
            </a:pPr>
            <a:r>
              <a:rPr lang="en-US" sz="1300" b="1" dirty="0">
                <a:solidFill>
                  <a:srgbClr val="E6EDF5"/>
                </a:solidFill>
                <a:latin typeface="Calibri" pitchFamily="34" charset="0"/>
                <a:ea typeface="Calibri" pitchFamily="34" charset="-122"/>
                <a:cs typeface="Calibri" pitchFamily="34" charset="-120"/>
              </a:rPr>
              <a:t>Encryption</a:t>
            </a:r>
            <a:endParaRPr lang="en-US" sz="1300" dirty="0"/>
          </a:p>
        </p:txBody>
      </p:sp>
      <p:sp>
        <p:nvSpPr>
          <p:cNvPr id="16" name="Text 13"/>
          <p:cNvSpPr txBox="1"/>
          <p:nvPr/>
        </p:nvSpPr>
        <p:spPr>
          <a:xfrm>
            <a:off x="8229600" y="205740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TLS on every hop the platform controls. When the demo is published, it goes out over an outbound-only tunnel with TLS terminated on the laptop. Encryption at rest for the evidence store and the databases in production.</a:t>
            </a:r>
            <a:endParaRPr lang="en-US" sz="1050" dirty="0"/>
          </a:p>
        </p:txBody>
      </p:sp>
      <p:sp>
        <p:nvSpPr>
          <p:cNvPr id="17" name="Shape 14"/>
          <p:cNvSpPr/>
          <p:nvPr/>
        </p:nvSpPr>
        <p:spPr>
          <a:xfrm>
            <a:off x="457200" y="3840480"/>
            <a:ext cx="3657600" cy="2194560"/>
          </a:xfrm>
          <a:prstGeom prst="roundRect">
            <a:avLst>
              <a:gd name="adj" fmla="val 5000"/>
            </a:avLst>
          </a:prstGeom>
          <a:solidFill>
            <a:srgbClr val="111823"/>
          </a:solidFill>
          <a:ln w="9525">
            <a:solidFill>
              <a:srgbClr val="1E2A3A"/>
            </a:solidFill>
            <a:prstDash val="solid"/>
          </a:ln>
        </p:spPr>
      </p:sp>
      <p:sp>
        <p:nvSpPr>
          <p:cNvPr id="18" name="Shape 15"/>
          <p:cNvSpPr/>
          <p:nvPr/>
        </p:nvSpPr>
        <p:spPr>
          <a:xfrm>
            <a:off x="640080" y="4041648"/>
            <a:ext cx="274320" cy="274320"/>
          </a:xfrm>
          <a:prstGeom prst="ellipse">
            <a:avLst/>
          </a:prstGeom>
          <a:solidFill>
            <a:srgbClr val="E0912F"/>
          </a:solidFill>
          <a:ln w="12700">
            <a:solidFill>
              <a:srgbClr val="E0912F"/>
            </a:solidFill>
            <a:prstDash val="solid"/>
          </a:ln>
        </p:spPr>
      </p:sp>
      <p:sp>
        <p:nvSpPr>
          <p:cNvPr id="19" name="Text 16"/>
          <p:cNvSpPr txBox="1"/>
          <p:nvPr/>
        </p:nvSpPr>
        <p:spPr>
          <a:xfrm>
            <a:off x="1024128" y="4005072"/>
            <a:ext cx="2926080" cy="347472"/>
          </a:xfrm>
          <a:prstGeom prst="rect">
            <a:avLst/>
          </a:prstGeom>
          <a:noFill/>
          <a:ln/>
        </p:spPr>
        <p:txBody>
          <a:bodyPr wrap="square" lIns="0" tIns="0" rIns="0" bIns="0" rtlCol="0" anchor="ctr"/>
          <a:lstStyle/>
          <a:p>
            <a:pPr indent="0" marL="0">
              <a:buNone/>
            </a:pPr>
            <a:r>
              <a:rPr lang="en-US" sz="1300" b="1" dirty="0">
                <a:solidFill>
                  <a:srgbClr val="E6EDF5"/>
                </a:solidFill>
                <a:latin typeface="Calibri" pitchFamily="34" charset="0"/>
                <a:ea typeface="Calibri" pitchFamily="34" charset="-122"/>
                <a:cs typeface="Calibri" pitchFamily="34" charset="-120"/>
              </a:rPr>
              <a:t>Hardening (built)</a:t>
            </a:r>
            <a:endParaRPr lang="en-US" sz="1300" dirty="0"/>
          </a:p>
        </p:txBody>
      </p:sp>
      <p:sp>
        <p:nvSpPr>
          <p:cNvPr id="20" name="Text 17"/>
          <p:cNvSpPr txBox="1"/>
          <p:nvPr/>
        </p:nvSpPr>
        <p:spPr>
          <a:xfrm>
            <a:off x="640080" y="443484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Nothing is reachable without signing in except the login page, /api/health and static assets. Content-Security-Policy, nosniff, frame denial, rate limits on expensive reads. Only the API port is published.</a:t>
            </a:r>
            <a:endParaRPr lang="en-US" sz="1050" dirty="0"/>
          </a:p>
        </p:txBody>
      </p:sp>
      <p:sp>
        <p:nvSpPr>
          <p:cNvPr id="21" name="Shape 18"/>
          <p:cNvSpPr/>
          <p:nvPr/>
        </p:nvSpPr>
        <p:spPr>
          <a:xfrm>
            <a:off x="4251960" y="3840480"/>
            <a:ext cx="3657600" cy="2194560"/>
          </a:xfrm>
          <a:prstGeom prst="roundRect">
            <a:avLst>
              <a:gd name="adj" fmla="val 5000"/>
            </a:avLst>
          </a:prstGeom>
          <a:solidFill>
            <a:srgbClr val="111823"/>
          </a:solidFill>
          <a:ln w="9525">
            <a:solidFill>
              <a:srgbClr val="1E2A3A"/>
            </a:solidFill>
            <a:prstDash val="solid"/>
          </a:ln>
        </p:spPr>
      </p:sp>
      <p:sp>
        <p:nvSpPr>
          <p:cNvPr id="22" name="Shape 19"/>
          <p:cNvSpPr/>
          <p:nvPr/>
        </p:nvSpPr>
        <p:spPr>
          <a:xfrm>
            <a:off x="4434840" y="4041648"/>
            <a:ext cx="274320" cy="274320"/>
          </a:xfrm>
          <a:prstGeom prst="ellipse">
            <a:avLst/>
          </a:prstGeom>
          <a:solidFill>
            <a:srgbClr val="D64F6A"/>
          </a:solidFill>
          <a:ln w="12700">
            <a:solidFill>
              <a:srgbClr val="D64F6A"/>
            </a:solidFill>
            <a:prstDash val="solid"/>
          </a:ln>
        </p:spPr>
      </p:sp>
      <p:sp>
        <p:nvSpPr>
          <p:cNvPr id="23" name="Text 20"/>
          <p:cNvSpPr txBox="1"/>
          <p:nvPr/>
        </p:nvSpPr>
        <p:spPr>
          <a:xfrm>
            <a:off x="4818888" y="4005072"/>
            <a:ext cx="2926080" cy="347472"/>
          </a:xfrm>
          <a:prstGeom prst="rect">
            <a:avLst/>
          </a:prstGeom>
          <a:noFill/>
          <a:ln/>
        </p:spPr>
        <p:txBody>
          <a:bodyPr wrap="square" lIns="0" tIns="0" rIns="0" bIns="0" rtlCol="0" anchor="ctr"/>
          <a:lstStyle/>
          <a:p>
            <a:pPr indent="0" marL="0">
              <a:buNone/>
            </a:pPr>
            <a:r>
              <a:rPr lang="en-US" sz="1300" b="1" dirty="0">
                <a:solidFill>
                  <a:srgbClr val="E6EDF5"/>
                </a:solidFill>
                <a:latin typeface="Calibri" pitchFamily="34" charset="0"/>
                <a:ea typeface="Calibri" pitchFamily="34" charset="-122"/>
                <a:cs typeface="Calibri" pitchFamily="34" charset="-120"/>
              </a:rPr>
              <a:t>Audit (built)</a:t>
            </a:r>
            <a:endParaRPr lang="en-US" sz="1300" dirty="0"/>
          </a:p>
        </p:txBody>
      </p:sp>
      <p:sp>
        <p:nvSpPr>
          <p:cNvPr id="24" name="Text 21"/>
          <p:cNvSpPr txBox="1"/>
          <p:nvPr/>
        </p:nvSpPr>
        <p:spPr>
          <a:xfrm>
            <a:off x="4434840" y="443484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An append-only audit table names the user for every onboarding, watchlist change, acknowledgement, zone edit and login, and for every plate lookup, search and route export. Pipeline 3 adds hashed evidence rows.</a:t>
            </a:r>
            <a:endParaRPr lang="en-US" sz="1050" dirty="0"/>
          </a:p>
        </p:txBody>
      </p:sp>
      <p:sp>
        <p:nvSpPr>
          <p:cNvPr id="25" name="Shape 22"/>
          <p:cNvSpPr/>
          <p:nvPr/>
        </p:nvSpPr>
        <p:spPr>
          <a:xfrm>
            <a:off x="8046720" y="3840480"/>
            <a:ext cx="3657600" cy="2194560"/>
          </a:xfrm>
          <a:prstGeom prst="roundRect">
            <a:avLst>
              <a:gd name="adj" fmla="val 5000"/>
            </a:avLst>
          </a:prstGeom>
          <a:solidFill>
            <a:srgbClr val="111823"/>
          </a:solidFill>
          <a:ln w="9525">
            <a:solidFill>
              <a:srgbClr val="1E2A3A"/>
            </a:solidFill>
            <a:prstDash val="solid"/>
          </a:ln>
        </p:spPr>
      </p:sp>
      <p:sp>
        <p:nvSpPr>
          <p:cNvPr id="26" name="Shape 23"/>
          <p:cNvSpPr/>
          <p:nvPr/>
        </p:nvSpPr>
        <p:spPr>
          <a:xfrm>
            <a:off x="8229600" y="4041648"/>
            <a:ext cx="274320" cy="274320"/>
          </a:xfrm>
          <a:prstGeom prst="ellipse">
            <a:avLst/>
          </a:prstGeom>
          <a:solidFill>
            <a:srgbClr val="E6EDF5"/>
          </a:solidFill>
          <a:ln w="12700">
            <a:solidFill>
              <a:srgbClr val="E6EDF5"/>
            </a:solidFill>
            <a:prstDash val="solid"/>
          </a:ln>
        </p:spPr>
      </p:sp>
      <p:sp>
        <p:nvSpPr>
          <p:cNvPr id="27" name="Text 24"/>
          <p:cNvSpPr txBox="1"/>
          <p:nvPr/>
        </p:nvSpPr>
        <p:spPr>
          <a:xfrm>
            <a:off x="8613648" y="4005072"/>
            <a:ext cx="2926080" cy="347472"/>
          </a:xfrm>
          <a:prstGeom prst="rect">
            <a:avLst/>
          </a:prstGeom>
          <a:noFill/>
          <a:ln/>
        </p:spPr>
        <p:txBody>
          <a:bodyPr wrap="square" lIns="0" tIns="0" rIns="0" bIns="0" rtlCol="0" anchor="ctr"/>
          <a:lstStyle/>
          <a:p>
            <a:pPr indent="0" marL="0">
              <a:buNone/>
            </a:pPr>
            <a:r>
              <a:rPr lang="en-US" sz="1300" b="1" dirty="0">
                <a:solidFill>
                  <a:srgbClr val="E6EDF5"/>
                </a:solidFill>
                <a:latin typeface="Calibri" pitchFamily="34" charset="0"/>
                <a:ea typeface="Calibri" pitchFamily="34" charset="-122"/>
                <a:cs typeface="Calibri" pitchFamily="34" charset="-120"/>
              </a:rPr>
              <a:t>Privacy</a:t>
            </a:r>
            <a:endParaRPr lang="en-US" sz="1300" dirty="0"/>
          </a:p>
        </p:txBody>
      </p:sp>
      <p:sp>
        <p:nvSpPr>
          <p:cNvPr id="28" name="Text 25"/>
          <p:cNvSpPr txBox="1"/>
          <p:nvPr/>
        </p:nvSpPr>
        <p:spPr>
          <a:xfrm>
            <a:off x="8229600" y="443484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Relayed, not recorded: text and a 2 KB crop per read. Retention by data class, designed to the DPDP Act, 2023 duties. Facial recognition only ever against an authorised gallery.</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Deployment, scalability and the phased rollout</a:t>
            </a:r>
            <a:endParaRPr lang="en-US" sz="3000" dirty="0"/>
          </a:p>
        </p:txBody>
      </p:sp>
      <p:sp>
        <p:nvSpPr>
          <p:cNvPr id="5" name="Shape 2"/>
          <p:cNvSpPr/>
          <p:nvPr/>
        </p:nvSpPr>
        <p:spPr>
          <a:xfrm>
            <a:off x="457200" y="1417320"/>
            <a:ext cx="3657600" cy="1920240"/>
          </a:xfrm>
          <a:prstGeom prst="roundRect">
            <a:avLst>
              <a:gd name="adj" fmla="val 5714"/>
            </a:avLst>
          </a:prstGeom>
          <a:solidFill>
            <a:srgbClr val="111823"/>
          </a:solidFill>
          <a:ln w="9525">
            <a:solidFill>
              <a:srgbClr val="1E2A3A"/>
            </a:solidFill>
            <a:prstDash val="solid"/>
          </a:ln>
        </p:spPr>
      </p:sp>
      <p:sp>
        <p:nvSpPr>
          <p:cNvPr id="6" name="Text 3"/>
          <p:cNvSpPr txBox="1"/>
          <p:nvPr/>
        </p:nvSpPr>
        <p:spPr>
          <a:xfrm>
            <a:off x="640080" y="1508760"/>
            <a:ext cx="3291840" cy="320040"/>
          </a:xfrm>
          <a:prstGeom prst="rect">
            <a:avLst/>
          </a:prstGeom>
          <a:noFill/>
          <a:ln/>
        </p:spPr>
        <p:txBody>
          <a:bodyPr wrap="square" lIns="0" tIns="0" rIns="0" bIns="0" rtlCol="0" anchor="ctr"/>
          <a:lstStyle/>
          <a:p>
            <a:pPr indent="0" marL="0">
              <a:buNone/>
            </a:pPr>
            <a:r>
              <a:rPr lang="en-US" sz="1300" b="1" dirty="0">
                <a:solidFill>
                  <a:srgbClr val="39A56A"/>
                </a:solidFill>
                <a:latin typeface="Calibri" pitchFamily="34" charset="0"/>
                <a:ea typeface="Calibri" pitchFamily="34" charset="-122"/>
                <a:cs typeface="Calibri" pitchFamily="34" charset="-120"/>
              </a:rPr>
              <a:t>EDGE</a:t>
            </a:r>
            <a:endParaRPr lang="en-US" sz="1300" dirty="0"/>
          </a:p>
        </p:txBody>
      </p:sp>
      <p:sp>
        <p:nvSpPr>
          <p:cNvPr id="7" name="Text 4"/>
          <p:cNvSpPr txBox="1"/>
          <p:nvPr/>
        </p:nvSpPr>
        <p:spPr>
          <a:xfrm>
            <a:off x="640080" y="1801368"/>
            <a:ext cx="329184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district or department</a:t>
            </a:r>
            <a:endParaRPr lang="en-US" sz="1000" dirty="0"/>
          </a:p>
        </p:txBody>
      </p:sp>
      <p:sp>
        <p:nvSpPr>
          <p:cNvPr id="8" name="Text 5"/>
          <p:cNvSpPr txBox="1"/>
          <p:nvPr/>
        </p:nvSpPr>
        <p:spPr>
          <a:xfrm>
            <a:off x="640080" y="2103120"/>
            <a:ext cx="3291840" cy="1188720"/>
          </a:xfrm>
          <a:prstGeom prst="rect">
            <a:avLst/>
          </a:prstGeom>
          <a:noFill/>
          <a:ln/>
        </p:spPr>
        <p:txBody>
          <a:bodyPr wrap="square" lIns="0" tIns="0" rIns="0" bIns="0" rtlCol="0" anchor="ctr"/>
          <a:lstStyle/>
          <a:p>
            <a:pPr indent="0" marL="0">
              <a:buNone/>
            </a:pPr>
            <a:r>
              <a:rPr lang="en-US" sz="1050" dirty="0">
                <a:solidFill>
                  <a:srgbClr val="E6EDF5"/>
                </a:solidFill>
                <a:latin typeface="Calibri" pitchFamily="34" charset="0"/>
                <a:ea typeface="Calibri" pitchFamily="34" charset="-122"/>
                <a:cs typeface="Calibri" pitchFamily="34" charset="-120"/>
              </a:rPr>
              <a:t>pull, decode, motion gate, detect, OCR, local watchlist match, ring buffer. Emits text and crops</a:t>
            </a:r>
            <a:endParaRPr lang="en-US" sz="1050" dirty="0"/>
          </a:p>
        </p:txBody>
      </p:sp>
      <p:sp>
        <p:nvSpPr>
          <p:cNvPr id="9" name="Shape 6"/>
          <p:cNvSpPr/>
          <p:nvPr/>
        </p:nvSpPr>
        <p:spPr>
          <a:xfrm>
            <a:off x="4251960" y="1417320"/>
            <a:ext cx="3657600" cy="1920240"/>
          </a:xfrm>
          <a:prstGeom prst="roundRect">
            <a:avLst>
              <a:gd name="adj" fmla="val 5714"/>
            </a:avLst>
          </a:prstGeom>
          <a:solidFill>
            <a:srgbClr val="111823"/>
          </a:solidFill>
          <a:ln w="9525">
            <a:solidFill>
              <a:srgbClr val="1E2A3A"/>
            </a:solidFill>
            <a:prstDash val="solid"/>
          </a:ln>
        </p:spPr>
      </p:sp>
      <p:sp>
        <p:nvSpPr>
          <p:cNvPr id="10" name="Text 7"/>
          <p:cNvSpPr txBox="1"/>
          <p:nvPr/>
        </p:nvSpPr>
        <p:spPr>
          <a:xfrm>
            <a:off x="4434840" y="1508760"/>
            <a:ext cx="3291840" cy="320040"/>
          </a:xfrm>
          <a:prstGeom prst="rect">
            <a:avLst/>
          </a:prstGeom>
          <a:noFill/>
          <a:ln/>
        </p:spPr>
        <p:txBody>
          <a:bodyPr wrap="square" lIns="0" tIns="0" rIns="0" bIns="0" rtlCol="0" anchor="ctr"/>
          <a:lstStyle/>
          <a:p>
            <a:pPr indent="0" marL="0">
              <a:buNone/>
            </a:pPr>
            <a:r>
              <a:rPr lang="en-US" sz="1300" b="1" dirty="0">
                <a:solidFill>
                  <a:srgbClr val="3D7FD6"/>
                </a:solidFill>
                <a:latin typeface="Calibri" pitchFamily="34" charset="0"/>
                <a:ea typeface="Calibri" pitchFamily="34" charset="-122"/>
                <a:cs typeface="Calibri" pitchFamily="34" charset="-120"/>
              </a:rPr>
              <a:t>REGIONAL</a:t>
            </a:r>
            <a:endParaRPr lang="en-US" sz="1300" dirty="0"/>
          </a:p>
        </p:txBody>
      </p:sp>
      <p:sp>
        <p:nvSpPr>
          <p:cNvPr id="11" name="Text 8"/>
          <p:cNvSpPr txBox="1"/>
          <p:nvPr/>
        </p:nvSpPr>
        <p:spPr>
          <a:xfrm>
            <a:off x="4434840" y="1801368"/>
            <a:ext cx="329184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district cluster</a:t>
            </a:r>
            <a:endParaRPr lang="en-US" sz="1000" dirty="0"/>
          </a:p>
        </p:txBody>
      </p:sp>
      <p:sp>
        <p:nvSpPr>
          <p:cNvPr id="12" name="Text 9"/>
          <p:cNvSpPr txBox="1"/>
          <p:nvPr/>
        </p:nvSpPr>
        <p:spPr>
          <a:xfrm>
            <a:off x="4434840" y="2103120"/>
            <a:ext cx="3291840" cy="1188720"/>
          </a:xfrm>
          <a:prstGeom prst="rect">
            <a:avLst/>
          </a:prstGeom>
          <a:noFill/>
          <a:ln/>
        </p:spPr>
        <p:txBody>
          <a:bodyPr wrap="square" lIns="0" tIns="0" rIns="0" bIns="0" rtlCol="0" anchor="ctr"/>
          <a:lstStyle/>
          <a:p>
            <a:pPr indent="0" marL="0">
              <a:buNone/>
            </a:pPr>
            <a:r>
              <a:rPr lang="en-US" sz="1050" dirty="0">
                <a:solidFill>
                  <a:srgbClr val="E6EDF5"/>
                </a:solidFill>
                <a:latin typeface="Calibri" pitchFamily="34" charset="0"/>
                <a:ea typeface="Calibri" pitchFamily="34" charset="-122"/>
                <a:cs typeface="Calibri" pitchFamily="34" charset="-120"/>
              </a:rPr>
              <a:t>aggregation, regional search index, evidence store, model rollout, camera health scoring</a:t>
            </a:r>
            <a:endParaRPr lang="en-US" sz="1050" dirty="0"/>
          </a:p>
        </p:txBody>
      </p:sp>
      <p:sp>
        <p:nvSpPr>
          <p:cNvPr id="13" name="Shape 10"/>
          <p:cNvSpPr/>
          <p:nvPr/>
        </p:nvSpPr>
        <p:spPr>
          <a:xfrm>
            <a:off x="8046720" y="1417320"/>
            <a:ext cx="3657600" cy="1920240"/>
          </a:xfrm>
          <a:prstGeom prst="roundRect">
            <a:avLst>
              <a:gd name="adj" fmla="val 5714"/>
            </a:avLst>
          </a:prstGeom>
          <a:solidFill>
            <a:srgbClr val="111823"/>
          </a:solidFill>
          <a:ln w="9525">
            <a:solidFill>
              <a:srgbClr val="1E2A3A"/>
            </a:solidFill>
            <a:prstDash val="solid"/>
          </a:ln>
        </p:spPr>
      </p:sp>
      <p:sp>
        <p:nvSpPr>
          <p:cNvPr id="14" name="Text 11"/>
          <p:cNvSpPr txBox="1"/>
          <p:nvPr/>
        </p:nvSpPr>
        <p:spPr>
          <a:xfrm>
            <a:off x="8229600" y="1508760"/>
            <a:ext cx="3291840" cy="320040"/>
          </a:xfrm>
          <a:prstGeom prst="rect">
            <a:avLst/>
          </a:prstGeom>
          <a:noFill/>
          <a:ln/>
        </p:spPr>
        <p:txBody>
          <a:bodyPr wrap="square" lIns="0" tIns="0" rIns="0" bIns="0" rtlCol="0" anchor="ctr"/>
          <a:lstStyle/>
          <a:p>
            <a:pPr indent="0" marL="0">
              <a:buNone/>
            </a:pPr>
            <a:r>
              <a:rPr lang="en-US" sz="1300" b="1" dirty="0">
                <a:solidFill>
                  <a:srgbClr val="B45FD1"/>
                </a:solidFill>
                <a:latin typeface="Calibri" pitchFamily="34" charset="0"/>
                <a:ea typeface="Calibri" pitchFamily="34" charset="-122"/>
                <a:cs typeface="Calibri" pitchFamily="34" charset="-120"/>
              </a:rPr>
              <a:t>CENTRAL</a:t>
            </a:r>
            <a:endParaRPr lang="en-US" sz="1300" dirty="0"/>
          </a:p>
        </p:txBody>
      </p:sp>
      <p:sp>
        <p:nvSpPr>
          <p:cNvPr id="15" name="Text 12"/>
          <p:cNvSpPr txBox="1"/>
          <p:nvPr/>
        </p:nvSpPr>
        <p:spPr>
          <a:xfrm>
            <a:off x="8229600" y="1801368"/>
            <a:ext cx="329184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SCRB or state data centre</a:t>
            </a:r>
            <a:endParaRPr lang="en-US" sz="1000" dirty="0"/>
          </a:p>
        </p:txBody>
      </p:sp>
      <p:sp>
        <p:nvSpPr>
          <p:cNvPr id="16" name="Text 13"/>
          <p:cNvSpPr txBox="1"/>
          <p:nvPr/>
        </p:nvSpPr>
        <p:spPr>
          <a:xfrm>
            <a:off x="8229600" y="2103120"/>
            <a:ext cx="3291840" cy="1188720"/>
          </a:xfrm>
          <a:prstGeom prst="rect">
            <a:avLst/>
          </a:prstGeom>
          <a:noFill/>
          <a:ln/>
        </p:spPr>
        <p:txBody>
          <a:bodyPr wrap="square" lIns="0" tIns="0" rIns="0" bIns="0" rtlCol="0" anchor="ctr"/>
          <a:lstStyle/>
          <a:p>
            <a:pPr indent="0" marL="0">
              <a:buNone/>
            </a:pPr>
            <a:r>
              <a:rPr lang="en-US" sz="1050" dirty="0">
                <a:solidFill>
                  <a:srgbClr val="E6EDF5"/>
                </a:solidFill>
                <a:latin typeface="Calibri" pitchFamily="34" charset="0"/>
                <a:ea typeface="Calibri" pitchFamily="34" charset="-122"/>
                <a:cs typeface="Calibri" pitchFamily="34" charset="-120"/>
              </a:rPr>
              <a:t>statewide search, cross-region route correlation, watchlist master, and VAHAN, SARTHI, eGujCop, AFIS and NAFIS enrichment</a:t>
            </a:r>
            <a:endParaRPr lang="en-US" sz="1050" dirty="0"/>
          </a:p>
        </p:txBody>
      </p:sp>
      <p:sp>
        <p:nvSpPr>
          <p:cNvPr id="17" name="Shape 14"/>
          <p:cNvSpPr/>
          <p:nvPr/>
        </p:nvSpPr>
        <p:spPr>
          <a:xfrm>
            <a:off x="457200" y="3520440"/>
            <a:ext cx="5943600" cy="2651760"/>
          </a:xfrm>
          <a:prstGeom prst="roundRect">
            <a:avLst>
              <a:gd name="adj" fmla="val 4138"/>
            </a:avLst>
          </a:prstGeom>
          <a:solidFill>
            <a:srgbClr val="111823"/>
          </a:solidFill>
          <a:ln w="9525">
            <a:solidFill>
              <a:srgbClr val="1E2A3A"/>
            </a:solidFill>
            <a:prstDash val="solid"/>
          </a:ln>
        </p:spPr>
      </p:sp>
      <p:sp>
        <p:nvSpPr>
          <p:cNvPr id="18" name="Text 15"/>
          <p:cNvSpPr txBox="1"/>
          <p:nvPr/>
        </p:nvSpPr>
        <p:spPr>
          <a:xfrm>
            <a:off x="685800" y="3657600"/>
            <a:ext cx="5486400" cy="274320"/>
          </a:xfrm>
          <a:prstGeom prst="rect">
            <a:avLst/>
          </a:prstGeom>
          <a:noFill/>
          <a:ln/>
        </p:spPr>
        <p:txBody>
          <a:bodyPr wrap="square" lIns="0" tIns="0" rIns="0" bIns="0" rtlCol="0" anchor="ctr"/>
          <a:lstStyle/>
          <a:p>
            <a:pPr indent="0" marL="0">
              <a:buNone/>
            </a:pPr>
            <a:r>
              <a:rPr lang="en-US" sz="1050" dirty="0">
                <a:solidFill>
                  <a:srgbClr val="D64F6A"/>
                </a:solidFill>
                <a:latin typeface="Calibri" pitchFamily="34" charset="0"/>
                <a:ea typeface="Calibri" pitchFamily="34" charset="-122"/>
                <a:cs typeface="Calibri" pitchFamily="34" charset="-120"/>
              </a:rPr>
              <a:t>RESILIENCE AND DAY-2 OPERATIONS</a:t>
            </a:r>
            <a:endParaRPr lang="en-US" sz="1050" dirty="0"/>
          </a:p>
        </p:txBody>
      </p:sp>
      <p:sp>
        <p:nvSpPr>
          <p:cNvPr id="19" name="Text 16"/>
          <p:cNvSpPr txBox="1"/>
          <p:nvPr/>
        </p:nvSpPr>
        <p:spPr>
          <a:xfrm>
            <a:off x="685800" y="3950208"/>
            <a:ext cx="5486400" cy="2194560"/>
          </a:xfrm>
          <a:prstGeom prst="rect">
            <a:avLst/>
          </a:prstGeom>
          <a:noFill/>
          <a:ln/>
        </p:spPr>
        <p:txBody>
          <a:bodyPr wrap="square" lIns="25400" tIns="25400" rIns="25400" bIns="25400" rtlCol="0" anchor="t"/>
          <a:lstStyle/>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Reconnect storms: jittered backoff, admission control, staggered cold start, and a circuit breaker per department</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Split-brain ownership: distributed camera leases, so never two pulls and never duplicate alerts</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The alert path is the real single point of failure: detections are persisted before alerting, with synthetic end-to-end tests</a:t>
            </a:r>
            <a:endParaRPr lang="en-US" sz="1050" dirty="0"/>
          </a:p>
          <a:p>
            <a:pPr marL="342900" indent="-342900">
              <a:spcAft>
                <a:spcPts val="500"/>
              </a:spcAft>
              <a:buSzPct val="100000"/>
              <a:buChar char="•"/>
            </a:pPr>
            <a:r>
              <a:rPr lang="en-US" sz="1050" dirty="0">
                <a:solidFill>
                  <a:srgbClr val="E6EDF5"/>
                </a:solidFill>
                <a:latin typeface="Calibri" pitchFamily="34" charset="0"/>
                <a:ea typeface="Calibri" pitchFamily="34" charset="-122"/>
                <a:cs typeface="Calibri" pitchFamily="34" charset="-120"/>
              </a:rPr>
              <a:t>A quality score per camera including drift detection, feeding a ranked maintenance worklist. Shadow then canary model rollout. GitOps configuration</a:t>
            </a:r>
            <a:endParaRPr lang="en-US" sz="1050" dirty="0"/>
          </a:p>
        </p:txBody>
      </p:sp>
      <p:sp>
        <p:nvSpPr>
          <p:cNvPr id="20" name="Shape 17"/>
          <p:cNvSpPr/>
          <p:nvPr/>
        </p:nvSpPr>
        <p:spPr>
          <a:xfrm>
            <a:off x="6675120" y="3520440"/>
            <a:ext cx="5029200" cy="2651760"/>
          </a:xfrm>
          <a:prstGeom prst="roundRect">
            <a:avLst>
              <a:gd name="adj" fmla="val 4138"/>
            </a:avLst>
          </a:prstGeom>
          <a:solidFill>
            <a:srgbClr val="111823"/>
          </a:solidFill>
          <a:ln w="9525">
            <a:solidFill>
              <a:srgbClr val="1E2A3A"/>
            </a:solidFill>
            <a:prstDash val="solid"/>
          </a:ln>
        </p:spPr>
      </p:sp>
      <p:sp>
        <p:nvSpPr>
          <p:cNvPr id="21" name="Text 18"/>
          <p:cNvSpPr txBox="1"/>
          <p:nvPr/>
        </p:nvSpPr>
        <p:spPr>
          <a:xfrm>
            <a:off x="6903720" y="3657600"/>
            <a:ext cx="4572000" cy="274320"/>
          </a:xfrm>
          <a:prstGeom prst="rect">
            <a:avLst/>
          </a:prstGeom>
          <a:noFill/>
          <a:ln/>
        </p:spPr>
        <p:txBody>
          <a:bodyPr wrap="square" lIns="0" tIns="0" rIns="0" bIns="0" rtlCol="0" anchor="ctr"/>
          <a:lstStyle/>
          <a:p>
            <a:pPr indent="0" marL="0">
              <a:buNone/>
            </a:pPr>
            <a:r>
              <a:rPr lang="en-US" sz="1050" dirty="0">
                <a:solidFill>
                  <a:srgbClr val="39A56A"/>
                </a:solidFill>
                <a:latin typeface="Calibri" pitchFamily="34" charset="0"/>
                <a:ea typeface="Calibri" pitchFamily="34" charset="-122"/>
                <a:cs typeface="Calibri" pitchFamily="34" charset="-120"/>
              </a:rPr>
              <a:t>PHASED STATEWIDE ROLLOUT</a:t>
            </a:r>
            <a:endParaRPr lang="en-US" sz="1050" dirty="0"/>
          </a:p>
        </p:txBody>
      </p:sp>
      <p:sp>
        <p:nvSpPr>
          <p:cNvPr id="22" name="Shape 19"/>
          <p:cNvSpPr/>
          <p:nvPr/>
        </p:nvSpPr>
        <p:spPr>
          <a:xfrm>
            <a:off x="6903720" y="4005072"/>
            <a:ext cx="274320" cy="274320"/>
          </a:xfrm>
          <a:prstGeom prst="ellipse">
            <a:avLst/>
          </a:prstGeom>
          <a:solidFill>
            <a:srgbClr val="39A56A"/>
          </a:solidFill>
          <a:ln w="12700">
            <a:solidFill>
              <a:srgbClr val="39A56A"/>
            </a:solidFill>
            <a:prstDash val="solid"/>
          </a:ln>
        </p:spPr>
      </p:sp>
      <p:sp>
        <p:nvSpPr>
          <p:cNvPr id="23" name="Text 20"/>
          <p:cNvSpPr txBox="1"/>
          <p:nvPr/>
        </p:nvSpPr>
        <p:spPr>
          <a:xfrm>
            <a:off x="6903720" y="40050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p>
        </p:txBody>
      </p:sp>
      <p:sp>
        <p:nvSpPr>
          <p:cNvPr id="24" name="Text 21"/>
          <p:cNvSpPr txBox="1"/>
          <p:nvPr/>
        </p:nvSpPr>
        <p:spPr>
          <a:xfrm>
            <a:off x="7269480" y="3977640"/>
            <a:ext cx="4297680" cy="45720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Sandbox, now  </a:t>
            </a:r>
            <a:pPr indent="0" marL="0">
              <a:buNone/>
            </a:pPr>
            <a:r>
              <a:rPr lang="en-US" sz="1050" dirty="0">
                <a:solidFill>
                  <a:srgbClr val="8A97A6"/>
                </a:solidFill>
                <a:latin typeface="Calibri" pitchFamily="34" charset="0"/>
                <a:ea typeface="Calibri" pitchFamily="34" charset="-122"/>
                <a:cs typeface="Calibri" pitchFamily="34" charset="-120"/>
              </a:rPr>
              <a:t>30 sandbox cameras and 28 sample feeds, one node</a:t>
            </a:r>
            <a:endParaRPr lang="en-US" sz="1050" dirty="0"/>
          </a:p>
        </p:txBody>
      </p:sp>
      <p:sp>
        <p:nvSpPr>
          <p:cNvPr id="25" name="Shape 22"/>
          <p:cNvSpPr/>
          <p:nvPr/>
        </p:nvSpPr>
        <p:spPr>
          <a:xfrm>
            <a:off x="6903720" y="4535424"/>
            <a:ext cx="274320" cy="274320"/>
          </a:xfrm>
          <a:prstGeom prst="ellipse">
            <a:avLst/>
          </a:prstGeom>
          <a:solidFill>
            <a:srgbClr val="39A56A"/>
          </a:solidFill>
          <a:ln w="12700">
            <a:solidFill>
              <a:srgbClr val="39A56A"/>
            </a:solidFill>
            <a:prstDash val="solid"/>
          </a:ln>
        </p:spPr>
      </p:sp>
      <p:sp>
        <p:nvSpPr>
          <p:cNvPr id="26" name="Text 23"/>
          <p:cNvSpPr txBox="1"/>
          <p:nvPr/>
        </p:nvSpPr>
        <p:spPr>
          <a:xfrm>
            <a:off x="6903720" y="45354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7" name="Text 24"/>
          <p:cNvSpPr txBox="1"/>
          <p:nvPr/>
        </p:nvSpPr>
        <p:spPr>
          <a:xfrm>
            <a:off x="7269480" y="4507992"/>
            <a:ext cx="4297680" cy="45720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Pilot district  </a:t>
            </a:r>
            <a:pPr indent="0" marL="0">
              <a:buNone/>
            </a:pPr>
            <a:r>
              <a:rPr lang="en-US" sz="1050" dirty="0">
                <a:solidFill>
                  <a:srgbClr val="8A97A6"/>
                </a:solidFill>
                <a:latin typeface="Calibri" pitchFamily="34" charset="0"/>
                <a:ea typeface="Calibri" pitchFamily="34" charset="-122"/>
                <a:cs typeface="Calibri" pitchFamily="34" charset="-120"/>
              </a:rPr>
              <a:t>one department's real cameras, measured streams per accelerator, Pipeline 3 built</a:t>
            </a:r>
            <a:endParaRPr lang="en-US" sz="1050" dirty="0"/>
          </a:p>
        </p:txBody>
      </p:sp>
      <p:sp>
        <p:nvSpPr>
          <p:cNvPr id="28" name="Shape 25"/>
          <p:cNvSpPr/>
          <p:nvPr/>
        </p:nvSpPr>
        <p:spPr>
          <a:xfrm>
            <a:off x="6903720" y="5065776"/>
            <a:ext cx="274320" cy="274320"/>
          </a:xfrm>
          <a:prstGeom prst="ellipse">
            <a:avLst/>
          </a:prstGeom>
          <a:solidFill>
            <a:srgbClr val="39A56A"/>
          </a:solidFill>
          <a:ln w="12700">
            <a:solidFill>
              <a:srgbClr val="39A56A"/>
            </a:solidFill>
            <a:prstDash val="solid"/>
          </a:ln>
        </p:spPr>
      </p:sp>
      <p:sp>
        <p:nvSpPr>
          <p:cNvPr id="29" name="Text 26"/>
          <p:cNvSpPr txBox="1"/>
          <p:nvPr/>
        </p:nvSpPr>
        <p:spPr>
          <a:xfrm>
            <a:off x="6903720" y="5065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7"/>
          <p:cNvSpPr txBox="1"/>
          <p:nvPr/>
        </p:nvSpPr>
        <p:spPr>
          <a:xfrm>
            <a:off x="7269480" y="5038344"/>
            <a:ext cx="4297680" cy="45720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Multi-district  </a:t>
            </a:r>
            <a:pPr indent="0" marL="0">
              <a:buNone/>
            </a:pPr>
            <a:r>
              <a:rPr lang="en-US" sz="1050" dirty="0">
                <a:solidFill>
                  <a:srgbClr val="8A97A6"/>
                </a:solidFill>
                <a:latin typeface="Calibri" pitchFamily="34" charset="0"/>
                <a:ea typeface="Calibri" pitchFamily="34" charset="-122"/>
                <a:cs typeface="Calibri" pitchFamily="34" charset="-120"/>
              </a:rPr>
              <a:t>3 to 5 departments, federation adapters and collector</a:t>
            </a:r>
            <a:endParaRPr lang="en-US" sz="1050" dirty="0"/>
          </a:p>
        </p:txBody>
      </p:sp>
      <p:sp>
        <p:nvSpPr>
          <p:cNvPr id="31" name="Shape 28"/>
          <p:cNvSpPr/>
          <p:nvPr/>
        </p:nvSpPr>
        <p:spPr>
          <a:xfrm>
            <a:off x="6903720" y="5596128"/>
            <a:ext cx="274320" cy="274320"/>
          </a:xfrm>
          <a:prstGeom prst="ellipse">
            <a:avLst/>
          </a:prstGeom>
          <a:solidFill>
            <a:srgbClr val="39A56A"/>
          </a:solidFill>
          <a:ln w="12700">
            <a:solidFill>
              <a:srgbClr val="39A56A"/>
            </a:solidFill>
            <a:prstDash val="solid"/>
          </a:ln>
        </p:spPr>
      </p:sp>
      <p:sp>
        <p:nvSpPr>
          <p:cNvPr id="32" name="Text 29"/>
          <p:cNvSpPr txBox="1"/>
          <p:nvPr/>
        </p:nvSpPr>
        <p:spPr>
          <a:xfrm>
            <a:off x="6903720" y="5596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0"/>
          <p:cNvSpPr txBox="1"/>
          <p:nvPr/>
        </p:nvSpPr>
        <p:spPr>
          <a:xfrm>
            <a:off x="7269480" y="5568696"/>
            <a:ext cx="4297680" cy="45720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Statewide  </a:t>
            </a:r>
            <a:pPr indent="0" marL="0">
              <a:buNone/>
            </a:pPr>
            <a:r>
              <a:rPr lang="en-US" sz="1050" dirty="0">
                <a:solidFill>
                  <a:srgbClr val="8A97A6"/>
                </a:solidFill>
                <a:latin typeface="Calibri" pitchFamily="34" charset="0"/>
                <a:ea typeface="Calibri" pitchFamily="34" charset="-122"/>
                <a:cs typeface="Calibri" pitchFamily="34" charset="-120"/>
              </a:rPr>
              <a:t>towards 80,000 cameras, HA and DR, enrichment integrations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What this system does not do, and why</a:t>
            </a:r>
            <a:endParaRPr lang="en-US" sz="3000" dirty="0"/>
          </a:p>
        </p:txBody>
      </p:sp>
      <p:sp>
        <p:nvSpPr>
          <p:cNvPr id="5" name="Shape 2"/>
          <p:cNvSpPr/>
          <p:nvPr/>
        </p:nvSpPr>
        <p:spPr>
          <a:xfrm>
            <a:off x="457200" y="1417320"/>
            <a:ext cx="5532120" cy="1463040"/>
          </a:xfrm>
          <a:prstGeom prst="roundRect">
            <a:avLst>
              <a:gd name="adj" fmla="val 7500"/>
            </a:avLst>
          </a:prstGeom>
          <a:solidFill>
            <a:srgbClr val="111823"/>
          </a:solidFill>
          <a:ln w="9525">
            <a:solidFill>
              <a:srgbClr val="1E2A3A"/>
            </a:solidFill>
            <a:prstDash val="solid"/>
          </a:ln>
        </p:spPr>
      </p:sp>
      <p:sp>
        <p:nvSpPr>
          <p:cNvPr id="6" name="Text 3"/>
          <p:cNvSpPr txBox="1"/>
          <p:nvPr/>
        </p:nvSpPr>
        <p:spPr>
          <a:xfrm>
            <a:off x="640080" y="1527048"/>
            <a:ext cx="521208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No evidence clips in the demonstrated system</a:t>
            </a:r>
            <a:endParaRPr lang="en-US" sz="1250" dirty="0"/>
          </a:p>
        </p:txBody>
      </p:sp>
      <p:sp>
        <p:nvSpPr>
          <p:cNvPr id="7" name="Text 4"/>
          <p:cNvSpPr txBox="1"/>
          <p:nvPr/>
        </p:nvSpPr>
        <p:spPr>
          <a:xfrm>
            <a:off x="640080" y="1892808"/>
            <a:ext cx="5212080" cy="91440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Pipeline 3 is designed and validated separately and is not built. No alert links a clip, and no video is kept beyond the 20-second relay window.</a:t>
            </a:r>
            <a:endParaRPr lang="en-US" sz="1050" dirty="0"/>
          </a:p>
        </p:txBody>
      </p:sp>
      <p:sp>
        <p:nvSpPr>
          <p:cNvPr id="8" name="Shape 5"/>
          <p:cNvSpPr/>
          <p:nvPr/>
        </p:nvSpPr>
        <p:spPr>
          <a:xfrm>
            <a:off x="6126480" y="1417320"/>
            <a:ext cx="5532120" cy="1463040"/>
          </a:xfrm>
          <a:prstGeom prst="roundRect">
            <a:avLst>
              <a:gd name="adj" fmla="val 7500"/>
            </a:avLst>
          </a:prstGeom>
          <a:solidFill>
            <a:srgbClr val="111823"/>
          </a:solidFill>
          <a:ln w="9525">
            <a:solidFill>
              <a:srgbClr val="1E2A3A"/>
            </a:solidFill>
            <a:prstDash val="solid"/>
          </a:ln>
        </p:spPr>
      </p:sp>
      <p:sp>
        <p:nvSpPr>
          <p:cNvPr id="9" name="Text 6"/>
          <p:cNvSpPr txBox="1"/>
          <p:nvPr/>
        </p:nvSpPr>
        <p:spPr>
          <a:xfrm>
            <a:off x="6309360" y="1527048"/>
            <a:ext cx="521208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No arbitrary rewind, no central recording of all video</a:t>
            </a:r>
            <a:endParaRPr lang="en-US" sz="1250" dirty="0"/>
          </a:p>
        </p:txBody>
      </p:sp>
      <p:sp>
        <p:nvSpPr>
          <p:cNvPr id="10" name="Text 7"/>
          <p:cNvSpPr txBox="1"/>
          <p:nvPr/>
        </p:nvSpPr>
        <p:spPr>
          <a:xfrm>
            <a:off x="6309360" y="1892808"/>
            <a:ext cx="5212080" cy="91440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Both the privacy posture and the 240 Gbps arithmetic rule it out. Video is captured on justified cause only.</a:t>
            </a:r>
            <a:endParaRPr lang="en-US" sz="1050" dirty="0"/>
          </a:p>
        </p:txBody>
      </p:sp>
      <p:sp>
        <p:nvSpPr>
          <p:cNvPr id="11" name="Shape 8"/>
          <p:cNvSpPr/>
          <p:nvPr/>
        </p:nvSpPr>
        <p:spPr>
          <a:xfrm>
            <a:off x="457200" y="3017520"/>
            <a:ext cx="5532120" cy="1463040"/>
          </a:xfrm>
          <a:prstGeom prst="roundRect">
            <a:avLst>
              <a:gd name="adj" fmla="val 7500"/>
            </a:avLst>
          </a:prstGeom>
          <a:solidFill>
            <a:srgbClr val="111823"/>
          </a:solidFill>
          <a:ln w="9525">
            <a:solidFill>
              <a:srgbClr val="1E2A3A"/>
            </a:solidFill>
            <a:prstDash val="solid"/>
          </a:ln>
        </p:spPr>
      </p:sp>
      <p:sp>
        <p:nvSpPr>
          <p:cNvPr id="12" name="Text 9"/>
          <p:cNvSpPr txBox="1"/>
          <p:nvPr/>
        </p:nvSpPr>
        <p:spPr>
          <a:xfrm>
            <a:off x="640080" y="3127248"/>
            <a:ext cx="521208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No real cross-camera route on the sandbox feeds</a:t>
            </a:r>
            <a:endParaRPr lang="en-US" sz="1250" dirty="0"/>
          </a:p>
        </p:txBody>
      </p:sp>
      <p:sp>
        <p:nvSpPr>
          <p:cNvPr id="13" name="Text 10"/>
          <p:cNvSpPr txBox="1"/>
          <p:nvPr/>
        </p:nvSpPr>
        <p:spPr>
          <a:xfrm>
            <a:off x="640080" y="3493008"/>
            <a:ext cx="5212080" cy="91440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No real vehicle has been read on two sandbox cameras. The route shown is a demonstration vehicle labelled DEMO everywhere; the scored test uses the organisers' own vehicle.</a:t>
            </a:r>
            <a:endParaRPr lang="en-US" sz="1050" dirty="0"/>
          </a:p>
        </p:txBody>
      </p:sp>
      <p:sp>
        <p:nvSpPr>
          <p:cNvPr id="14" name="Shape 11"/>
          <p:cNvSpPr/>
          <p:nvPr/>
        </p:nvSpPr>
        <p:spPr>
          <a:xfrm>
            <a:off x="6126480" y="3017520"/>
            <a:ext cx="5532120" cy="1463040"/>
          </a:xfrm>
          <a:prstGeom prst="roundRect">
            <a:avLst>
              <a:gd name="adj" fmla="val 7500"/>
            </a:avLst>
          </a:prstGeom>
          <a:solidFill>
            <a:srgbClr val="111823"/>
          </a:solidFill>
          <a:ln w="9525">
            <a:solidFill>
              <a:srgbClr val="1E2A3A"/>
            </a:solidFill>
            <a:prstDash val="solid"/>
          </a:ln>
        </p:spPr>
      </p:sp>
      <p:sp>
        <p:nvSpPr>
          <p:cNvPr id="15" name="Text 12"/>
          <p:cNvSpPr txBox="1"/>
          <p:nvPr/>
        </p:nvSpPr>
        <p:spPr>
          <a:xfrm>
            <a:off x="6309360" y="3127248"/>
            <a:ext cx="521208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No Model 3 federation, no live facial recognition</a:t>
            </a:r>
            <a:endParaRPr lang="en-US" sz="1250" dirty="0"/>
          </a:p>
        </p:txBody>
      </p:sp>
      <p:sp>
        <p:nvSpPr>
          <p:cNvPr id="16" name="Text 13"/>
          <p:cNvSpPr txBox="1"/>
          <p:nvPr/>
        </p:nvSpPr>
        <p:spPr>
          <a:xfrm>
            <a:off x="6309360" y="3493008"/>
            <a:ext cx="5212080" cy="91440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The sandbox holds no departmental VMS to federate, so Model 3 is the documented integration path. Facial recognition is described with its privacy controls, not built and not claimed.</a:t>
            </a:r>
            <a:endParaRPr lang="en-US" sz="1050" dirty="0"/>
          </a:p>
        </p:txBody>
      </p:sp>
      <p:sp>
        <p:nvSpPr>
          <p:cNvPr id="17" name="Shape 14"/>
          <p:cNvSpPr/>
          <p:nvPr/>
        </p:nvSpPr>
        <p:spPr>
          <a:xfrm>
            <a:off x="457200" y="4617720"/>
            <a:ext cx="5532120" cy="1463040"/>
          </a:xfrm>
          <a:prstGeom prst="roundRect">
            <a:avLst>
              <a:gd name="adj" fmla="val 7500"/>
            </a:avLst>
          </a:prstGeom>
          <a:solidFill>
            <a:srgbClr val="111823"/>
          </a:solidFill>
          <a:ln w="9525">
            <a:solidFill>
              <a:srgbClr val="1E2A3A"/>
            </a:solidFill>
            <a:prstDash val="solid"/>
          </a:ln>
        </p:spPr>
      </p:sp>
      <p:sp>
        <p:nvSpPr>
          <p:cNvPr id="18" name="Text 15"/>
          <p:cNvSpPr txBox="1"/>
          <p:nvPr/>
        </p:nvSpPr>
        <p:spPr>
          <a:xfrm>
            <a:off x="640080" y="4727448"/>
            <a:ext cx="521208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Plate recall on these feeds is low, and stated</a:t>
            </a:r>
            <a:endParaRPr lang="en-US" sz="1250" dirty="0"/>
          </a:p>
        </p:txBody>
      </p:sp>
      <p:sp>
        <p:nvSpPr>
          <p:cNvPr id="19" name="Text 16"/>
          <p:cNvSpPr txBox="1"/>
          <p:nvPr/>
        </p:nvSpPr>
        <p:spPr>
          <a:xfrm>
            <a:off x="640080" y="5093208"/>
            <a:ext cx="5212080" cy="91440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Wide overview cameras put plates at 10 to 25 px [estimate]. Plate-read rate 0.062, 12 reads in 195 vehicle tracks [measured]; cam06 gave 55 real reads over the afternoon, and the ANPR viability gate passed on that evidence.</a:t>
            </a:r>
            <a:endParaRPr lang="en-US" sz="1050" dirty="0"/>
          </a:p>
        </p:txBody>
      </p:sp>
      <p:sp>
        <p:nvSpPr>
          <p:cNvPr id="20" name="Shape 17"/>
          <p:cNvSpPr/>
          <p:nvPr/>
        </p:nvSpPr>
        <p:spPr>
          <a:xfrm>
            <a:off x="6126480" y="4617720"/>
            <a:ext cx="5532120" cy="1463040"/>
          </a:xfrm>
          <a:prstGeom prst="roundRect">
            <a:avLst>
              <a:gd name="adj" fmla="val 7500"/>
            </a:avLst>
          </a:prstGeom>
          <a:solidFill>
            <a:srgbClr val="111823"/>
          </a:solidFill>
          <a:ln w="9525">
            <a:solidFill>
              <a:srgbClr val="1E2A3A"/>
            </a:solidFill>
            <a:prstDash val="solid"/>
          </a:ln>
        </p:spPr>
      </p:sp>
      <p:sp>
        <p:nvSpPr>
          <p:cNvPr id="21" name="Text 18"/>
          <p:cNvSpPr txBox="1"/>
          <p:nvPr/>
        </p:nvSpPr>
        <p:spPr>
          <a:xfrm>
            <a:off x="6309360" y="4727448"/>
            <a:ext cx="521208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Demonstration data, disclosed</a:t>
            </a:r>
            <a:endParaRPr lang="en-US" sz="1250" dirty="0"/>
          </a:p>
        </p:txBody>
      </p:sp>
      <p:sp>
        <p:nvSpPr>
          <p:cNvPr id="22" name="Text 19"/>
          <p:cNvSpPr txBox="1"/>
          <p:nvPr/>
        </p:nvSpPr>
        <p:spPr>
          <a:xfrm>
            <a:off x="6309360" y="5093208"/>
            <a:ext cx="5212080" cy="91440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Sandbox geography is seeded (the catalogue has id and name only); the 28 sample feeds are stock footage at seeded coordinates; the demo vehicle is labelled. Figures are marked [measured], [model] or [estimate]; the 30 versus 50 camera gap is recorded.</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Operational benefits and impact on policing</a:t>
            </a:r>
            <a:endParaRPr lang="en-US" sz="3000" dirty="0"/>
          </a:p>
        </p:txBody>
      </p:sp>
      <p:sp>
        <p:nvSpPr>
          <p:cNvPr id="5" name="Shape 2"/>
          <p:cNvSpPr/>
          <p:nvPr/>
        </p:nvSpPr>
        <p:spPr>
          <a:xfrm>
            <a:off x="457200" y="1463040"/>
            <a:ext cx="3657600" cy="2194560"/>
          </a:xfrm>
          <a:prstGeom prst="roundRect">
            <a:avLst>
              <a:gd name="adj" fmla="val 5000"/>
            </a:avLst>
          </a:prstGeom>
          <a:solidFill>
            <a:srgbClr val="111823"/>
          </a:solidFill>
          <a:ln w="9525">
            <a:solidFill>
              <a:srgbClr val="1E2A3A"/>
            </a:solidFill>
            <a:prstDash val="solid"/>
          </a:ln>
        </p:spPr>
      </p:sp>
      <p:sp>
        <p:nvSpPr>
          <p:cNvPr id="6" name="Shape 3"/>
          <p:cNvSpPr/>
          <p:nvPr/>
        </p:nvSpPr>
        <p:spPr>
          <a:xfrm>
            <a:off x="640080" y="1664208"/>
            <a:ext cx="274320" cy="274320"/>
          </a:xfrm>
          <a:prstGeom prst="ellipse">
            <a:avLst/>
          </a:prstGeom>
          <a:solidFill>
            <a:srgbClr val="3D7FD6"/>
          </a:solidFill>
          <a:ln w="12700">
            <a:solidFill>
              <a:srgbClr val="3D7FD6"/>
            </a:solidFill>
            <a:prstDash val="solid"/>
          </a:ln>
        </p:spPr>
      </p:sp>
      <p:sp>
        <p:nvSpPr>
          <p:cNvPr id="7" name="Text 4"/>
          <p:cNvSpPr txBox="1"/>
          <p:nvPr/>
        </p:nvSpPr>
        <p:spPr>
          <a:xfrm>
            <a:off x="1024128" y="1627632"/>
            <a:ext cx="297180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Hours become seconds</a:t>
            </a:r>
            <a:endParaRPr lang="en-US" sz="1250" dirty="0"/>
          </a:p>
        </p:txBody>
      </p:sp>
      <p:sp>
        <p:nvSpPr>
          <p:cNvPr id="8" name="Text 5"/>
          <p:cNvSpPr txBox="1"/>
          <p:nvPr/>
        </p:nvSpPr>
        <p:spPr>
          <a:xfrm>
            <a:off x="640080" y="205740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A registration number returns a timestamped, location-wise route across departments on one screen, instead of a manual request to each of them.</a:t>
            </a:r>
            <a:endParaRPr lang="en-US" sz="1050" dirty="0"/>
          </a:p>
        </p:txBody>
      </p:sp>
      <p:sp>
        <p:nvSpPr>
          <p:cNvPr id="9" name="Shape 6"/>
          <p:cNvSpPr/>
          <p:nvPr/>
        </p:nvSpPr>
        <p:spPr>
          <a:xfrm>
            <a:off x="4251960" y="1463040"/>
            <a:ext cx="3657600" cy="2194560"/>
          </a:xfrm>
          <a:prstGeom prst="roundRect">
            <a:avLst>
              <a:gd name="adj" fmla="val 5000"/>
            </a:avLst>
          </a:prstGeom>
          <a:solidFill>
            <a:srgbClr val="111823"/>
          </a:solidFill>
          <a:ln w="9525">
            <a:solidFill>
              <a:srgbClr val="1E2A3A"/>
            </a:solidFill>
            <a:prstDash val="solid"/>
          </a:ln>
        </p:spPr>
      </p:sp>
      <p:sp>
        <p:nvSpPr>
          <p:cNvPr id="10" name="Shape 7"/>
          <p:cNvSpPr/>
          <p:nvPr/>
        </p:nvSpPr>
        <p:spPr>
          <a:xfrm>
            <a:off x="4434840" y="1664208"/>
            <a:ext cx="274320" cy="274320"/>
          </a:xfrm>
          <a:prstGeom prst="ellipse">
            <a:avLst/>
          </a:prstGeom>
          <a:solidFill>
            <a:srgbClr val="39A56A"/>
          </a:solidFill>
          <a:ln w="12700">
            <a:solidFill>
              <a:srgbClr val="39A56A"/>
            </a:solidFill>
            <a:prstDash val="solid"/>
          </a:ln>
        </p:spPr>
      </p:sp>
      <p:sp>
        <p:nvSpPr>
          <p:cNvPr id="11" name="Text 8"/>
          <p:cNvSpPr txBox="1"/>
          <p:nvPr/>
        </p:nvSpPr>
        <p:spPr>
          <a:xfrm>
            <a:off x="4818888" y="1627632"/>
            <a:ext cx="297180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One platform, 26 departments</a:t>
            </a:r>
            <a:endParaRPr lang="en-US" sz="1250" dirty="0"/>
          </a:p>
        </p:txBody>
      </p:sp>
      <p:sp>
        <p:nvSpPr>
          <p:cNvPr id="12" name="Text 9"/>
          <p:cNvSpPr txBox="1"/>
          <p:nvPr/>
        </p:nvSpPr>
        <p:spPr>
          <a:xfrm>
            <a:off x="4434840" y="205740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Departments keep their systems untouched. The connector ladder and the department-side collector reach vendor-locked and NAT-bound sites.</a:t>
            </a:r>
            <a:endParaRPr lang="en-US" sz="1050" dirty="0"/>
          </a:p>
        </p:txBody>
      </p:sp>
      <p:sp>
        <p:nvSpPr>
          <p:cNvPr id="13" name="Shape 10"/>
          <p:cNvSpPr/>
          <p:nvPr/>
        </p:nvSpPr>
        <p:spPr>
          <a:xfrm>
            <a:off x="8046720" y="1463040"/>
            <a:ext cx="3657600" cy="2194560"/>
          </a:xfrm>
          <a:prstGeom prst="roundRect">
            <a:avLst>
              <a:gd name="adj" fmla="val 5000"/>
            </a:avLst>
          </a:prstGeom>
          <a:solidFill>
            <a:srgbClr val="111823"/>
          </a:solidFill>
          <a:ln w="9525">
            <a:solidFill>
              <a:srgbClr val="1E2A3A"/>
            </a:solidFill>
            <a:prstDash val="solid"/>
          </a:ln>
        </p:spPr>
      </p:sp>
      <p:sp>
        <p:nvSpPr>
          <p:cNvPr id="14" name="Shape 11"/>
          <p:cNvSpPr/>
          <p:nvPr/>
        </p:nvSpPr>
        <p:spPr>
          <a:xfrm>
            <a:off x="8229600" y="1664208"/>
            <a:ext cx="274320" cy="274320"/>
          </a:xfrm>
          <a:prstGeom prst="ellipse">
            <a:avLst/>
          </a:prstGeom>
          <a:solidFill>
            <a:srgbClr val="D64F6A"/>
          </a:solidFill>
          <a:ln w="12700">
            <a:solidFill>
              <a:srgbClr val="D64F6A"/>
            </a:solidFill>
            <a:prstDash val="solid"/>
          </a:ln>
        </p:spPr>
      </p:sp>
      <p:sp>
        <p:nvSpPr>
          <p:cNvPr id="15" name="Text 12"/>
          <p:cNvSpPr txBox="1"/>
          <p:nvPr/>
        </p:nvSpPr>
        <p:spPr>
          <a:xfrm>
            <a:off x="8613648" y="1627632"/>
            <a:ext cx="297180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Alerts operators act on</a:t>
            </a:r>
            <a:endParaRPr lang="en-US" sz="1250" dirty="0"/>
          </a:p>
        </p:txBody>
      </p:sp>
      <p:sp>
        <p:nvSpPr>
          <p:cNvPr id="16" name="Text 13"/>
          <p:cNvSpPr txBox="1"/>
          <p:nvPr/>
        </p:nvSpPr>
        <p:spPr>
          <a:xfrm>
            <a:off x="8229600" y="205740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Local matching, cooldowns, a plate crop on every alert and an acknowledgement trail. No alert floods, and no neighbour's car alerted on a fuzzy read.</a:t>
            </a:r>
            <a:endParaRPr lang="en-US" sz="1050" dirty="0"/>
          </a:p>
        </p:txBody>
      </p:sp>
      <p:sp>
        <p:nvSpPr>
          <p:cNvPr id="17" name="Shape 14"/>
          <p:cNvSpPr/>
          <p:nvPr/>
        </p:nvSpPr>
        <p:spPr>
          <a:xfrm>
            <a:off x="457200" y="3840480"/>
            <a:ext cx="3657600" cy="2194560"/>
          </a:xfrm>
          <a:prstGeom prst="roundRect">
            <a:avLst>
              <a:gd name="adj" fmla="val 5000"/>
            </a:avLst>
          </a:prstGeom>
          <a:solidFill>
            <a:srgbClr val="111823"/>
          </a:solidFill>
          <a:ln w="9525">
            <a:solidFill>
              <a:srgbClr val="1E2A3A"/>
            </a:solidFill>
            <a:prstDash val="solid"/>
          </a:ln>
        </p:spPr>
      </p:sp>
      <p:sp>
        <p:nvSpPr>
          <p:cNvPr id="18" name="Shape 15"/>
          <p:cNvSpPr/>
          <p:nvPr/>
        </p:nvSpPr>
        <p:spPr>
          <a:xfrm>
            <a:off x="640080" y="4041648"/>
            <a:ext cx="274320" cy="274320"/>
          </a:xfrm>
          <a:prstGeom prst="ellipse">
            <a:avLst/>
          </a:prstGeom>
          <a:solidFill>
            <a:srgbClr val="E0912F"/>
          </a:solidFill>
          <a:ln w="12700">
            <a:solidFill>
              <a:srgbClr val="E0912F"/>
            </a:solidFill>
            <a:prstDash val="solid"/>
          </a:ln>
        </p:spPr>
      </p:sp>
      <p:sp>
        <p:nvSpPr>
          <p:cNvPr id="19" name="Text 16"/>
          <p:cNvSpPr txBox="1"/>
          <p:nvPr/>
        </p:nvSpPr>
        <p:spPr>
          <a:xfrm>
            <a:off x="1024128" y="4005072"/>
            <a:ext cx="297180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Evidence that holds up</a:t>
            </a:r>
            <a:endParaRPr lang="en-US" sz="1250" dirty="0"/>
          </a:p>
        </p:txBody>
      </p:sp>
      <p:sp>
        <p:nvSpPr>
          <p:cNvPr id="20" name="Text 17"/>
          <p:cNvSpPr txBox="1"/>
          <p:nvPr/>
        </p:nvSpPr>
        <p:spPr>
          <a:xfrm>
            <a:off x="640080" y="443484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Built: every lookup, change and acknowledgement is audited under a named user. Designed for the pilot: clips promoted on justified cause, each with a SHA-256 and an audit row.</a:t>
            </a:r>
            <a:endParaRPr lang="en-US" sz="1050" dirty="0"/>
          </a:p>
        </p:txBody>
      </p:sp>
      <p:sp>
        <p:nvSpPr>
          <p:cNvPr id="21" name="Shape 18"/>
          <p:cNvSpPr/>
          <p:nvPr/>
        </p:nvSpPr>
        <p:spPr>
          <a:xfrm>
            <a:off x="4251960" y="3840480"/>
            <a:ext cx="3657600" cy="2194560"/>
          </a:xfrm>
          <a:prstGeom prst="roundRect">
            <a:avLst>
              <a:gd name="adj" fmla="val 5000"/>
            </a:avLst>
          </a:prstGeom>
          <a:solidFill>
            <a:srgbClr val="111823"/>
          </a:solidFill>
          <a:ln w="9525">
            <a:solidFill>
              <a:srgbClr val="1E2A3A"/>
            </a:solidFill>
            <a:prstDash val="solid"/>
          </a:ln>
        </p:spPr>
      </p:sp>
      <p:sp>
        <p:nvSpPr>
          <p:cNvPr id="22" name="Shape 19"/>
          <p:cNvSpPr/>
          <p:nvPr/>
        </p:nvSpPr>
        <p:spPr>
          <a:xfrm>
            <a:off x="4434840" y="4041648"/>
            <a:ext cx="274320" cy="274320"/>
          </a:xfrm>
          <a:prstGeom prst="ellipse">
            <a:avLst/>
          </a:prstGeom>
          <a:solidFill>
            <a:srgbClr val="B45FD1"/>
          </a:solidFill>
          <a:ln w="12700">
            <a:solidFill>
              <a:srgbClr val="B45FD1"/>
            </a:solidFill>
            <a:prstDash val="solid"/>
          </a:ln>
        </p:spPr>
      </p:sp>
      <p:sp>
        <p:nvSpPr>
          <p:cNvPr id="23" name="Text 20"/>
          <p:cNvSpPr txBox="1"/>
          <p:nvPr/>
        </p:nvSpPr>
        <p:spPr>
          <a:xfrm>
            <a:off x="4818888" y="4005072"/>
            <a:ext cx="297180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Coverage that stays usable</a:t>
            </a:r>
            <a:endParaRPr lang="en-US" sz="1250" dirty="0"/>
          </a:p>
        </p:txBody>
      </p:sp>
      <p:sp>
        <p:nvSpPr>
          <p:cNvPr id="24" name="Text 21"/>
          <p:cNvSpPr txBox="1"/>
          <p:nvPr/>
        </p:nvSpPr>
        <p:spPr>
          <a:xfrm>
            <a:off x="4434840" y="443484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Health scoring, drift detection and a ranked maintenance worklist for the roughly 2% of cameras that are always broken [model].</a:t>
            </a:r>
            <a:endParaRPr lang="en-US" sz="1050" dirty="0"/>
          </a:p>
        </p:txBody>
      </p:sp>
      <p:sp>
        <p:nvSpPr>
          <p:cNvPr id="25" name="Shape 22"/>
          <p:cNvSpPr/>
          <p:nvPr/>
        </p:nvSpPr>
        <p:spPr>
          <a:xfrm>
            <a:off x="8046720" y="3840480"/>
            <a:ext cx="3657600" cy="2194560"/>
          </a:xfrm>
          <a:prstGeom prst="roundRect">
            <a:avLst>
              <a:gd name="adj" fmla="val 5000"/>
            </a:avLst>
          </a:prstGeom>
          <a:solidFill>
            <a:srgbClr val="111823"/>
          </a:solidFill>
          <a:ln w="9525">
            <a:solidFill>
              <a:srgbClr val="1E2A3A"/>
            </a:solidFill>
            <a:prstDash val="solid"/>
          </a:ln>
        </p:spPr>
      </p:sp>
      <p:sp>
        <p:nvSpPr>
          <p:cNvPr id="26" name="Shape 23"/>
          <p:cNvSpPr/>
          <p:nvPr/>
        </p:nvSpPr>
        <p:spPr>
          <a:xfrm>
            <a:off x="8229600" y="4041648"/>
            <a:ext cx="274320" cy="274320"/>
          </a:xfrm>
          <a:prstGeom prst="ellipse">
            <a:avLst/>
          </a:prstGeom>
          <a:solidFill>
            <a:srgbClr val="E6EDF5"/>
          </a:solidFill>
          <a:ln w="12700">
            <a:solidFill>
              <a:srgbClr val="E6EDF5"/>
            </a:solidFill>
            <a:prstDash val="solid"/>
          </a:ln>
        </p:spPr>
      </p:sp>
      <p:sp>
        <p:nvSpPr>
          <p:cNvPr id="27" name="Text 24"/>
          <p:cNvSpPr txBox="1"/>
          <p:nvPr/>
        </p:nvSpPr>
        <p:spPr>
          <a:xfrm>
            <a:off x="8613648" y="4005072"/>
            <a:ext cx="2971800" cy="36576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A cost position the State can own</a:t>
            </a:r>
            <a:endParaRPr lang="en-US" sz="1250" dirty="0"/>
          </a:p>
        </p:txBody>
      </p:sp>
      <p:sp>
        <p:nvSpPr>
          <p:cNvPr id="28" name="Text 25"/>
          <p:cNvSpPr txBox="1"/>
          <p:nvPr/>
        </p:nvSpPr>
        <p:spPr>
          <a:xfrm>
            <a:off x="8229600" y="4434840"/>
            <a:ext cx="3291840" cy="1508760"/>
          </a:xfrm>
          <a:prstGeom prst="rect">
            <a:avLst/>
          </a:prstGeom>
          <a:noFill/>
          <a:ln/>
        </p:spPr>
        <p:txBody>
          <a:bodyPr wrap="square" lIns="0" tIns="0" rIns="0" bIns="0" rtlCol="0" anchor="t"/>
          <a:lstStyle/>
          <a:p>
            <a:pPr indent="0" marL="0">
              <a:buNone/>
            </a:pPr>
            <a:r>
              <a:rPr lang="en-US" sz="1050" dirty="0">
                <a:solidFill>
                  <a:srgbClr val="8A97A6"/>
                </a:solidFill>
                <a:latin typeface="Calibri" pitchFamily="34" charset="0"/>
                <a:ea typeface="Calibri" pitchFamily="34" charset="-122"/>
                <a:cs typeface="Calibri" pitchFamily="34" charset="-120"/>
              </a:rPr>
              <a:t>Linked components are Apache, MIT and BSD; ffmpeg runs as a separate GPL process. No per-camera licence avoids about 4 crore rupees a year at 500 rupees per camera [model]. On-premise avoids cloud egress.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4"/>
        </a:solidFill>
      </p:bgPr>
    </p:bg>
    <p:spTree>
      <p:nvGrpSpPr>
        <p:cNvPr id="1" name=""/>
        <p:cNvGrpSpPr/>
        <p:nvPr/>
      </p:nvGrpSpPr>
      <p:grpSpPr>
        <a:xfrm>
          <a:off x="0" y="0"/>
          <a:ext cx="0" cy="0"/>
          <a:chOff x="0" y="0"/>
          <a:chExt cx="0" cy="0"/>
        </a:xfrm>
      </p:grpSpPr>
      <p:sp>
        <p:nvSpPr>
          <p:cNvPr id="2" name="Text 0"/>
          <p:cNvSpPr txBox="1"/>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7A6"/>
                </a:solidFill>
                <a:latin typeface="Calibri" pitchFamily="34" charset="0"/>
                <a:ea typeface="Calibri" pitchFamily="34" charset="-122"/>
                <a:cs typeface="Calibri" pitchFamily="34" charset="-120"/>
              </a:rPr>
              <a:t>SENTINEL  ·  Gujarat Police Innovation Challenge 2026</a:t>
            </a:r>
            <a:endParaRPr lang="en-US" sz="900" dirty="0"/>
          </a:p>
        </p:txBody>
      </p:sp>
      <p:sp>
        <p:nvSpPr>
          <p:cNvPr id="4" name="Text 1"/>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6EDF5"/>
                </a:solidFill>
                <a:latin typeface="Calibri" pitchFamily="34" charset="0"/>
                <a:ea typeface="Calibri" pitchFamily="34" charset="-122"/>
                <a:cs typeface="Calibri" pitchFamily="34" charset="-120"/>
              </a:rPr>
              <a:t>Submission package</a:t>
            </a:r>
            <a:endParaRPr lang="en-US" sz="3000" dirty="0"/>
          </a:p>
        </p:txBody>
      </p:sp>
      <p:sp>
        <p:nvSpPr>
          <p:cNvPr id="5" name="Shape 2"/>
          <p:cNvSpPr/>
          <p:nvPr/>
        </p:nvSpPr>
        <p:spPr>
          <a:xfrm>
            <a:off x="457200" y="1417320"/>
            <a:ext cx="5486400" cy="4754880"/>
          </a:xfrm>
          <a:prstGeom prst="roundRect">
            <a:avLst>
              <a:gd name="adj" fmla="val 2308"/>
            </a:avLst>
          </a:prstGeom>
          <a:solidFill>
            <a:srgbClr val="111823"/>
          </a:solidFill>
          <a:ln w="9525">
            <a:solidFill>
              <a:srgbClr val="1E2A3A"/>
            </a:solidFill>
            <a:prstDash val="solid"/>
          </a:ln>
        </p:spPr>
      </p:sp>
      <p:sp>
        <p:nvSpPr>
          <p:cNvPr id="6" name="Text 3"/>
          <p:cNvSpPr txBox="1"/>
          <p:nvPr/>
        </p:nvSpPr>
        <p:spPr>
          <a:xfrm>
            <a:off x="685800" y="1554480"/>
            <a:ext cx="4572000" cy="274320"/>
          </a:xfrm>
          <a:prstGeom prst="rect">
            <a:avLst/>
          </a:prstGeom>
          <a:noFill/>
          <a:ln/>
        </p:spPr>
        <p:txBody>
          <a:bodyPr wrap="square" lIns="0" tIns="0" rIns="0" bIns="0" rtlCol="0" anchor="ctr"/>
          <a:lstStyle/>
          <a:p>
            <a:pPr indent="0" marL="0">
              <a:buNone/>
            </a:pPr>
            <a:r>
              <a:rPr lang="en-US" sz="1100" dirty="0">
                <a:solidFill>
                  <a:srgbClr val="39A56A"/>
                </a:solidFill>
                <a:latin typeface="Calibri" pitchFamily="34" charset="0"/>
                <a:ea typeface="Calibri" pitchFamily="34" charset="-122"/>
                <a:cs typeface="Calibri" pitchFamily="34" charset="-120"/>
              </a:rPr>
              <a:t>DELIVERED</a:t>
            </a:r>
            <a:endParaRPr lang="en-US" sz="1100" dirty="0"/>
          </a:p>
        </p:txBody>
      </p:sp>
      <p:sp>
        <p:nvSpPr>
          <p:cNvPr id="7" name="Text 4"/>
          <p:cNvSpPr txBox="1"/>
          <p:nvPr/>
        </p:nvSpPr>
        <p:spPr>
          <a:xfrm>
            <a:off x="685800" y="1874520"/>
            <a:ext cx="5029200" cy="4206240"/>
          </a:xfrm>
          <a:prstGeom prst="rect">
            <a:avLst/>
          </a:prstGeom>
          <a:noFill/>
          <a:ln/>
        </p:spPr>
        <p:txBody>
          <a:bodyPr wrap="square" lIns="25400" tIns="25400" rIns="25400" bIns="25400" rtlCol="0" anchor="t"/>
          <a:lstStyle/>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Solution presentation: this deck, as PPTX and PDF</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Technical proposal and HLD: the eight required elements and the ten dimensions, with measured, modelled and estimated figures labelled, as PDF</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Workflow and integration diagram (SVG, PNG and PDF)</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Demo video 1, own feed: onboarding, detection, watchlist correlation, automatic alert</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Demo video 2, government-provided feed: viewing, ANPR with crops, vehicle and person detection, line crossing, detection report</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Registry API documentation (OpenAPI), sample onboarded dataset, gap-analysis report, detection report as CSV and HTML</a:t>
            </a:r>
            <a:endParaRPr lang="en-US" sz="1100" dirty="0"/>
          </a:p>
          <a:p>
            <a:pPr marL="342900" indent="-342900">
              <a:spcAft>
                <a:spcPts val="500"/>
              </a:spcAft>
              <a:buSzPct val="100000"/>
              <a:buChar char="•"/>
            </a:pPr>
            <a:r>
              <a:rPr lang="en-US" sz="1100" dirty="0">
                <a:solidFill>
                  <a:srgbClr val="E6EDF5"/>
                </a:solidFill>
                <a:latin typeface="Calibri" pitchFamily="34" charset="0"/>
                <a:ea typeface="Calibri" pitchFamily="34" charset="-122"/>
                <a:cs typeface="Calibri" pitchFamily="34" charset="-120"/>
              </a:rPr>
              <a:t>Source repository: Python 3.13 with FastAPI and SQLite for the demo, React with Leaflet and hls.js, YOLOX-S and PaddleOCR under Apache-2.0</a:t>
            </a:r>
            <a:endParaRPr lang="en-US" sz="1100" dirty="0"/>
          </a:p>
        </p:txBody>
      </p:sp>
      <p:sp>
        <p:nvSpPr>
          <p:cNvPr id="8" name="Shape 5"/>
          <p:cNvSpPr/>
          <p:nvPr/>
        </p:nvSpPr>
        <p:spPr>
          <a:xfrm>
            <a:off x="6217920" y="1417320"/>
            <a:ext cx="5486400" cy="4754880"/>
          </a:xfrm>
          <a:prstGeom prst="roundRect">
            <a:avLst>
              <a:gd name="adj" fmla="val 2308"/>
            </a:avLst>
          </a:prstGeom>
          <a:solidFill>
            <a:srgbClr val="111823"/>
          </a:solidFill>
          <a:ln w="9525">
            <a:solidFill>
              <a:srgbClr val="1E2A3A"/>
            </a:solidFill>
            <a:prstDash val="solid"/>
          </a:ln>
        </p:spPr>
      </p:sp>
      <p:sp>
        <p:nvSpPr>
          <p:cNvPr id="9" name="Text 6"/>
          <p:cNvSpPr txBox="1"/>
          <p:nvPr/>
        </p:nvSpPr>
        <p:spPr>
          <a:xfrm>
            <a:off x="6446520" y="1554480"/>
            <a:ext cx="4572000" cy="274320"/>
          </a:xfrm>
          <a:prstGeom prst="rect">
            <a:avLst/>
          </a:prstGeom>
          <a:noFill/>
          <a:ln/>
        </p:spPr>
        <p:txBody>
          <a:bodyPr wrap="square" lIns="0" tIns="0" rIns="0" bIns="0" rtlCol="0" anchor="ctr"/>
          <a:lstStyle/>
          <a:p>
            <a:pPr indent="0" marL="0">
              <a:buNone/>
            </a:pPr>
            <a:r>
              <a:rPr lang="en-US" sz="1100" dirty="0">
                <a:solidFill>
                  <a:srgbClr val="3D7FD6"/>
                </a:solidFill>
                <a:latin typeface="Calibri" pitchFamily="34" charset="0"/>
                <a:ea typeface="Calibri" pitchFamily="34" charset="-122"/>
                <a:cs typeface="Calibri" pitchFamily="34" charset="-120"/>
              </a:rPr>
              <a:t>LINKS</a:t>
            </a:r>
            <a:endParaRPr lang="en-US" sz="1100" dirty="0"/>
          </a:p>
        </p:txBody>
      </p:sp>
      <p:sp>
        <p:nvSpPr>
          <p:cNvPr id="10" name="Text 7"/>
          <p:cNvSpPr txBox="1"/>
          <p:nvPr/>
        </p:nvSpPr>
        <p:spPr>
          <a:xfrm>
            <a:off x="6446520" y="1874520"/>
            <a:ext cx="5029200" cy="2468880"/>
          </a:xfrm>
          <a:prstGeom prst="rect">
            <a:avLst/>
          </a:prstGeom>
          <a:noFill/>
          <a:ln/>
        </p:spPr>
        <p:txBody>
          <a:bodyPr wrap="square" lIns="25400" tIns="25400" rIns="25400" bIns="25400" rtlCol="0" anchor="t"/>
          <a:lstStyle/>
          <a:p>
            <a:pPr marL="342900" indent="-342900">
              <a:spcAft>
                <a:spcPts val="600"/>
              </a:spcAft>
              <a:buSzPct val="100000"/>
              <a:buChar char="•"/>
            </a:pPr>
            <a:r>
              <a:rPr lang="en-US" sz="1200" dirty="0">
                <a:solidFill>
                  <a:srgbClr val="E6EDF5"/>
                </a:solidFill>
                <a:latin typeface="Calibri" pitchFamily="34" charset="0"/>
                <a:ea typeface="Calibri" pitchFamily="34" charset="-122"/>
                <a:cs typeface="Calibri" pitchFamily="34" charset="-120"/>
              </a:rPr>
              <a:t>Source repository: </a:t>
            </a:r>
            <a:pPr indent="0" marL="0">
              <a:spcAft>
                <a:spcPts val="600"/>
              </a:spcAft>
              <a:buNone/>
            </a:pPr>
            <a:r>
              <a:rPr lang="en-US" sz="1200" u="sng" dirty="0">
                <a:solidFill>
                  <a:srgbClr val="3D7FD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github.com/adityashroff06-code/sentinel-gujarat</a:t>
            </a:r>
            <a:endParaRPr lang="en-US" sz="1200" dirty="0"/>
          </a:p>
          <a:p>
            <a:pPr marL="342900" indent="-342900">
              <a:spcAft>
                <a:spcPts val="600"/>
              </a:spcAft>
              <a:buSzPct val="100000"/>
              <a:buChar char="•"/>
            </a:pPr>
            <a:r>
              <a:rPr lang="en-US" sz="1200" dirty="0">
                <a:solidFill>
                  <a:srgbClr val="E6EDF5"/>
                </a:solidFill>
                <a:latin typeface="Calibri" pitchFamily="34" charset="0"/>
                <a:ea typeface="Calibri" pitchFamily="34" charset="-122"/>
                <a:cs typeface="Calibri" pitchFamily="34" charset="-120"/>
              </a:rPr>
              <a:t>Demo video 1 (unlisted): </a:t>
            </a:r>
            <a:pPr indent="0" marL="0">
              <a:spcAft>
                <a:spcPts val="600"/>
              </a:spcAft>
              <a:buNone/>
            </a:pPr>
            <a:r>
              <a:rPr lang="en-US" sz="1200" dirty="0">
                <a:solidFill>
                  <a:srgbClr val="8A97A6"/>
                </a:solidFill>
                <a:latin typeface="Calibri" pitchFamily="34" charset="0"/>
                <a:ea typeface="Calibri" pitchFamily="34" charset="-122"/>
                <a:cs typeface="Calibri" pitchFamily="34" charset="-120"/>
              </a:rPr>
              <a:t>to be added at submission</a:t>
            </a:r>
            <a:endParaRPr lang="en-US" sz="1200" dirty="0"/>
          </a:p>
          <a:p>
            <a:pPr marL="342900" indent="-342900">
              <a:spcAft>
                <a:spcPts val="600"/>
              </a:spcAft>
              <a:buSzPct val="100000"/>
              <a:buChar char="•"/>
            </a:pPr>
            <a:r>
              <a:rPr lang="en-US" sz="1200" dirty="0">
                <a:solidFill>
                  <a:srgbClr val="E6EDF5"/>
                </a:solidFill>
                <a:latin typeface="Calibri" pitchFamily="34" charset="0"/>
                <a:ea typeface="Calibri" pitchFamily="34" charset="-122"/>
                <a:cs typeface="Calibri" pitchFamily="34" charset="-120"/>
              </a:rPr>
              <a:t>Demo video 2 (unlisted): </a:t>
            </a:r>
            <a:pPr indent="0" marL="0">
              <a:spcAft>
                <a:spcPts val="600"/>
              </a:spcAft>
              <a:buNone/>
            </a:pPr>
            <a:r>
              <a:rPr lang="en-US" sz="1200" dirty="0">
                <a:solidFill>
                  <a:srgbClr val="8A97A6"/>
                </a:solidFill>
                <a:latin typeface="Calibri" pitchFamily="34" charset="0"/>
                <a:ea typeface="Calibri" pitchFamily="34" charset="-122"/>
                <a:cs typeface="Calibri" pitchFamily="34" charset="-120"/>
              </a:rPr>
              <a:t>to be added at submission</a:t>
            </a:r>
            <a:endParaRPr lang="en-US" sz="1200" dirty="0"/>
          </a:p>
          <a:p>
            <a:pPr marL="342900" indent="-342900">
              <a:spcAft>
                <a:spcPts val="600"/>
              </a:spcAft>
              <a:buSzPct val="100000"/>
              <a:buChar char="•"/>
            </a:pPr>
            <a:r>
              <a:rPr lang="en-US" sz="1200" dirty="0">
                <a:solidFill>
                  <a:srgbClr val="E6EDF5"/>
                </a:solidFill>
                <a:latin typeface="Calibri" pitchFamily="34" charset="0"/>
                <a:ea typeface="Calibri" pitchFamily="34" charset="-122"/>
                <a:cs typeface="Calibri" pitchFamily="34" charset="-120"/>
              </a:rPr>
              <a:t>Hosted platform: </a:t>
            </a:r>
            <a:pPr indent="0" marL="0">
              <a:spcAft>
                <a:spcPts val="600"/>
              </a:spcAft>
              <a:buNone/>
            </a:pPr>
            <a:r>
              <a:rPr lang="en-US" sz="1200" dirty="0">
                <a:solidFill>
                  <a:srgbClr val="8A97A6"/>
                </a:solidFill>
                <a:latin typeface="Calibri" pitchFamily="34" charset="0"/>
                <a:ea typeface="Calibri" pitchFamily="34" charset="-122"/>
                <a:cs typeface="Calibri" pitchFamily="34" charset="-120"/>
              </a:rPr>
              <a:t>to be added at submission; evaluator credentials go on the submission form only</a:t>
            </a:r>
            <a:endParaRPr lang="en-US" sz="1200" dirty="0"/>
          </a:p>
          <a:p>
            <a:pPr marL="342900" indent="-342900">
              <a:spcAft>
                <a:spcPts val="600"/>
              </a:spcAft>
              <a:buSzPct val="100000"/>
              <a:buChar char="•"/>
            </a:pPr>
            <a:r>
              <a:rPr lang="en-US" sz="1200" dirty="0">
                <a:solidFill>
                  <a:srgbClr val="E6EDF5"/>
                </a:solidFill>
                <a:latin typeface="Calibri" pitchFamily="34" charset="0"/>
                <a:ea typeface="Calibri" pitchFamily="34" charset="-122"/>
                <a:cs typeface="Calibri" pitchFamily="34" charset="-120"/>
              </a:rPr>
              <a:t>HLD (PDF): </a:t>
            </a:r>
            <a:pPr indent="0" marL="0">
              <a:spcAft>
                <a:spcPts val="600"/>
              </a:spcAft>
              <a:buNone/>
            </a:pPr>
            <a:r>
              <a:rPr lang="en-US" sz="1200" dirty="0">
                <a:solidFill>
                  <a:srgbClr val="8A97A6"/>
                </a:solidFill>
                <a:latin typeface="Calibri" pitchFamily="34" charset="0"/>
                <a:ea typeface="Calibri" pitchFamily="34" charset="-122"/>
                <a:cs typeface="Calibri" pitchFamily="34" charset="-120"/>
              </a:rPr>
              <a:t>deliverables/HLD.pdf in the repository</a:t>
            </a:r>
            <a:endParaRPr lang="en-US" sz="1200" dirty="0"/>
          </a:p>
        </p:txBody>
      </p:sp>
      <p:sp>
        <p:nvSpPr>
          <p:cNvPr id="11" name="Text 8"/>
          <p:cNvSpPr txBox="1"/>
          <p:nvPr/>
        </p:nvSpPr>
        <p:spPr>
          <a:xfrm>
            <a:off x="6446520" y="4480560"/>
            <a:ext cx="5029200" cy="731520"/>
          </a:xfrm>
          <a:prstGeom prst="rect">
            <a:avLst/>
          </a:prstGeom>
          <a:noFill/>
          <a:ln/>
        </p:spPr>
        <p:txBody>
          <a:bodyPr wrap="square" lIns="0" tIns="0" rIns="0" bIns="0" rtlCol="0" anchor="ctr"/>
          <a:lstStyle/>
          <a:p>
            <a:pPr indent="0" marL="0">
              <a:buNone/>
            </a:pPr>
            <a:r>
              <a:rPr lang="en-US" sz="1050" i="1" dirty="0">
                <a:solidFill>
                  <a:srgbClr val="8A97A6"/>
                </a:solidFill>
                <a:latin typeface="Calibri" pitchFamily="34" charset="0"/>
                <a:ea typeface="Calibri" pitchFamily="34" charset="-122"/>
                <a:cs typeface="Calibri" pitchFamily="34" charset="-120"/>
              </a:rPr>
              <a:t>Every link is opened from a private window before submission. The repository, its history, the videos and the screenshots are swept for credentials before submission.</a:t>
            </a:r>
            <a:endParaRPr lang="en-US" sz="1050" dirty="0"/>
          </a:p>
        </p:txBody>
      </p:sp>
      <p:sp>
        <p:nvSpPr>
          <p:cNvPr id="12" name="Text 9"/>
          <p:cNvSpPr txBox="1"/>
          <p:nvPr/>
        </p:nvSpPr>
        <p:spPr>
          <a:xfrm>
            <a:off x="6446520" y="5394960"/>
            <a:ext cx="5029200" cy="548640"/>
          </a:xfrm>
          <a:prstGeom prst="rect">
            <a:avLst/>
          </a:prstGeom>
          <a:noFill/>
          <a:ln/>
        </p:spPr>
        <p:txBody>
          <a:bodyPr wrap="square" lIns="0" tIns="0" rIns="0" bIns="0" rtlCol="0" anchor="ctr"/>
          <a:lstStyle/>
          <a:p>
            <a:pPr indent="0" marL="0">
              <a:buNone/>
            </a:pPr>
            <a:r>
              <a:rPr lang="en-US" sz="1300" b="1" dirty="0">
                <a:solidFill>
                  <a:srgbClr val="E6EDF5"/>
                </a:solidFill>
                <a:latin typeface="Calibri" pitchFamily="34" charset="0"/>
                <a:ea typeface="Calibri" pitchFamily="34" charset="-122"/>
                <a:cs typeface="Calibri" pitchFamily="34" charset="-120"/>
              </a:rPr>
              <a:t>Sentinel: one platform, five departments, watching is not storing.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Solution Presentation</dc:title>
  <dc:subject>PptxGenJS Presentation</dc:subject>
  <dc:creator>Adi</dc:creator>
  <cp:lastModifiedBy>Adi</cp:lastModifiedBy>
  <cp:revision>1</cp:revision>
  <dcterms:created xsi:type="dcterms:W3CDTF">2026-09-25T12:11:02Z</dcterms:created>
  <dcterms:modified xsi:type="dcterms:W3CDTF">2026-09-25T12:11:02Z</dcterms:modified>
</cp:coreProperties>
</file>