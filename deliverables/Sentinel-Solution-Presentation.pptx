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sentence that is graded: a registration number handed over live returns that vehicle's complete timestamped route across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heterogeneity first and scale second. The test case is a single vehicle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Justify the hybrid: Model 1 is mandatory, Model 2 gives analytics without central storage, evidence capture is our addition, Model 3 answers heterogeneity, and Model 4 is ruled out by the bandwidth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Command screen the demo is recorded on. Everything on it is served by the running backend. UI capture: development render on a controlled test scenario. Replace with the live-demo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pull per camera, three pipelines, the registry underneath. State the governing rule plainly: video is kept only where a logged watchlist match justifies keeping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1 deliverable is closed. Disclose that departments and coordinates were assigned: the catalogue carries only id and name. UI capture: development render on a controlled test scenario. Replace with the live-demo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frame from the sandbox. Every item on the organisers' pre-submission checklist is implemented and was observed live, including recovery from the CDN's intermittent 403s.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detections on real footage. Licensing is a procurement argument: Apache-2.0 throughout, and deliberately not Ultralytics, which is AGPL.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Edge-cached matching is an architectural decision. Central matching at 80,000 cameras is about 1,333 queries per second against VAHAN, which would take down the state's own system of record. UI capture: development render on a controlled test scenario. Replace with the live-demo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scored endpoint. Point at departments crossed: a route across Police, GSRTC and Municipal cameras is proof of integration rather than a property of the dataset. UI capture: development render on a controlled test scenario. Replace with the live-demo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Area 5 names four analytics. Object and intrusion detection come almost free once the detector is running. UI capture: development render on a controlled test scenario. Replace with the live-demo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 that decides the architecture, and it is also why Model 4 was not chosen. Every figure on this slide is a model from stated assumptions, and is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of data most designs forget, detection snapshots, is 15 times larger than the one they optimise. Store crops, not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Cybersecurity architecture, Dimension 4, and the privacy posture that separates this from a recording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 regional, central. On day-2 operations: at a 2% failure rate, 1,600 cameras are broken at any moment, so health scoring and a ranked worklist are required rather than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each of these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impact: hours down to seconds, one platform across departments, evidence with a chain of custody, and a cost position the State can own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slide: the submission package. Fill in the links before export and open every one from a private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640080" y="1463040"/>
            <a:ext cx="10972800" cy="1005840"/>
          </a:xfrm>
          <a:prstGeom prst="rect">
            <a:avLst/>
          </a:prstGeom>
          <a:noFill/>
          <a:ln/>
        </p:spPr>
        <p:txBody>
          <a:bodyPr wrap="square" lIns="0" tIns="0" rIns="0" bIns="0" rtlCol="0" anchor="ctr"/>
          <a:lstStyle/>
          <a:p>
            <a:pPr indent="0" marL="0">
              <a:buNone/>
            </a:pPr>
            <a:r>
              <a:rPr lang="en-US" sz="6000" b="1" spc="600" kern="0" dirty="0">
                <a:solidFill>
                  <a:srgbClr val="E6EDF5"/>
                </a:solidFill>
                <a:latin typeface="Calibri" pitchFamily="34" charset="0"/>
                <a:ea typeface="Calibri" pitchFamily="34" charset="-122"/>
                <a:cs typeface="Calibri" pitchFamily="34" charset="-120"/>
              </a:rPr>
              <a:t>SENTINEL</a:t>
            </a:r>
            <a:endParaRPr lang="en-US" sz="6000" dirty="0"/>
          </a:p>
        </p:txBody>
      </p:sp>
      <p:sp>
        <p:nvSpPr>
          <p:cNvPr id="5" name="Text 2"/>
          <p:cNvSpPr txBox="1"/>
          <p:nvPr/>
        </p:nvSpPr>
        <p:spPr>
          <a:xfrm>
            <a:off x="640080" y="2468880"/>
            <a:ext cx="10972800" cy="548640"/>
          </a:xfrm>
          <a:prstGeom prst="rect">
            <a:avLst/>
          </a:prstGeom>
          <a:noFill/>
          <a:ln/>
        </p:spPr>
        <p:txBody>
          <a:bodyPr wrap="square" lIns="0" tIns="0" rIns="0" bIns="0" rtlCol="0" anchor="ctr"/>
          <a:lstStyle/>
          <a:p>
            <a:pPr indent="0" marL="0">
              <a:buNone/>
            </a:pPr>
            <a:r>
              <a:rPr lang="en-US" sz="2400" dirty="0">
                <a:solidFill>
                  <a:srgbClr val="E6EDF5"/>
                </a:solidFill>
                <a:latin typeface="Calibri" pitchFamily="34" charset="0"/>
                <a:ea typeface="Calibri" pitchFamily="34" charset="-122"/>
                <a:cs typeface="Calibri" pitchFamily="34" charset="-120"/>
              </a:rPr>
              <a:t>Integrated Video Management and Analytics Platform</a:t>
            </a:r>
            <a:endParaRPr lang="en-US" sz="2400" dirty="0"/>
          </a:p>
        </p:txBody>
      </p:sp>
      <p:sp>
        <p:nvSpPr>
          <p:cNvPr id="6" name="Text 3"/>
          <p:cNvSpPr txBox="1"/>
          <p:nvPr/>
        </p:nvSpPr>
        <p:spPr>
          <a:xfrm>
            <a:off x="640080" y="3063240"/>
            <a:ext cx="10515600" cy="731520"/>
          </a:xfrm>
          <a:prstGeom prst="rect">
            <a:avLst/>
          </a:prstGeom>
          <a:noFill/>
          <a:ln/>
        </p:spPr>
        <p:txBody>
          <a:bodyPr wrap="square" lIns="0" tIns="0" rIns="0" bIns="0" rtlCol="0" anchor="ctr"/>
          <a:lstStyle/>
          <a:p>
            <a:pPr indent="0" marL="0">
              <a:buNone/>
            </a:pPr>
            <a:r>
              <a:rPr lang="en-US" sz="1400" dirty="0">
                <a:solidFill>
                  <a:srgbClr val="8A97A6"/>
                </a:solidFill>
                <a:latin typeface="Calibri" pitchFamily="34" charset="0"/>
                <a:ea typeface="Calibri" pitchFamily="34" charset="-122"/>
                <a:cs typeface="Calibri" pitchFamily="34" charset="-120"/>
              </a:rPr>
              <a:t>A hybrid of Reference Model 1 (Centralised CCTV Registry and GIS) and Model 2 (Unified Viewing and Metadata Analytics), plus event-triggered evidence capture. Model 3 federation is the documented integration path.</a:t>
            </a:r>
            <a:endParaRPr lang="en-US" sz="1400" dirty="0"/>
          </a:p>
        </p:txBody>
      </p:sp>
      <p:sp>
        <p:nvSpPr>
          <p:cNvPr id="7" name="Shape 4"/>
          <p:cNvSpPr/>
          <p:nvPr/>
        </p:nvSpPr>
        <p:spPr>
          <a:xfrm>
            <a:off x="640080" y="4114800"/>
            <a:ext cx="1051560" cy="274320"/>
          </a:xfrm>
          <a:prstGeom prst="roundRect">
            <a:avLst>
              <a:gd name="adj" fmla="val 50000"/>
            </a:avLst>
          </a:prstGeom>
          <a:solidFill>
            <a:srgbClr val="3D7FD6"/>
          </a:solidFill>
          <a:ln w="12700">
            <a:solidFill>
              <a:srgbClr val="3D7FD6"/>
            </a:solidFill>
            <a:prstDash val="solid"/>
          </a:ln>
        </p:spPr>
      </p:sp>
      <p:sp>
        <p:nvSpPr>
          <p:cNvPr id="8" name="Text 5"/>
          <p:cNvSpPr txBox="1"/>
          <p:nvPr/>
        </p:nvSpPr>
        <p:spPr>
          <a:xfrm>
            <a:off x="640080" y="41148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Police</a:t>
            </a:r>
            <a:endParaRPr lang="en-US" sz="1000" dirty="0"/>
          </a:p>
        </p:txBody>
      </p:sp>
      <p:sp>
        <p:nvSpPr>
          <p:cNvPr id="9" name="Shape 6"/>
          <p:cNvSpPr/>
          <p:nvPr/>
        </p:nvSpPr>
        <p:spPr>
          <a:xfrm>
            <a:off x="1828800" y="4114800"/>
            <a:ext cx="1051560" cy="274320"/>
          </a:xfrm>
          <a:prstGeom prst="roundRect">
            <a:avLst>
              <a:gd name="adj" fmla="val 50000"/>
            </a:avLst>
          </a:prstGeom>
          <a:solidFill>
            <a:srgbClr val="E0912F"/>
          </a:solidFill>
          <a:ln w="12700">
            <a:solidFill>
              <a:srgbClr val="E0912F"/>
            </a:solidFill>
            <a:prstDash val="solid"/>
          </a:ln>
        </p:spPr>
      </p:sp>
      <p:sp>
        <p:nvSpPr>
          <p:cNvPr id="10" name="Text 7"/>
          <p:cNvSpPr txBox="1"/>
          <p:nvPr/>
        </p:nvSpPr>
        <p:spPr>
          <a:xfrm>
            <a:off x="1828800" y="41148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GSRTC</a:t>
            </a:r>
            <a:endParaRPr lang="en-US" sz="1000" dirty="0"/>
          </a:p>
        </p:txBody>
      </p:sp>
      <p:sp>
        <p:nvSpPr>
          <p:cNvPr id="11" name="Shape 8"/>
          <p:cNvSpPr/>
          <p:nvPr/>
        </p:nvSpPr>
        <p:spPr>
          <a:xfrm>
            <a:off x="3017520" y="4114800"/>
            <a:ext cx="1051560" cy="274320"/>
          </a:xfrm>
          <a:prstGeom prst="roundRect">
            <a:avLst>
              <a:gd name="adj" fmla="val 50000"/>
            </a:avLst>
          </a:prstGeom>
          <a:solidFill>
            <a:srgbClr val="39A56A"/>
          </a:solidFill>
          <a:ln w="12700">
            <a:solidFill>
              <a:srgbClr val="39A56A"/>
            </a:solidFill>
            <a:prstDash val="solid"/>
          </a:ln>
        </p:spPr>
      </p:sp>
      <p:sp>
        <p:nvSpPr>
          <p:cNvPr id="12" name="Text 9"/>
          <p:cNvSpPr txBox="1"/>
          <p:nvPr/>
        </p:nvSpPr>
        <p:spPr>
          <a:xfrm>
            <a:off x="3017520" y="41148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Municipal</a:t>
            </a:r>
            <a:endParaRPr lang="en-US" sz="1000" dirty="0"/>
          </a:p>
        </p:txBody>
      </p:sp>
      <p:sp>
        <p:nvSpPr>
          <p:cNvPr id="13" name="Shape 10"/>
          <p:cNvSpPr/>
          <p:nvPr/>
        </p:nvSpPr>
        <p:spPr>
          <a:xfrm>
            <a:off x="4206240" y="4114800"/>
            <a:ext cx="1051560" cy="274320"/>
          </a:xfrm>
          <a:prstGeom prst="roundRect">
            <a:avLst>
              <a:gd name="adj" fmla="val 50000"/>
            </a:avLst>
          </a:prstGeom>
          <a:solidFill>
            <a:srgbClr val="B45FD1"/>
          </a:solidFill>
          <a:ln w="12700">
            <a:solidFill>
              <a:srgbClr val="B45FD1"/>
            </a:solidFill>
            <a:prstDash val="solid"/>
          </a:ln>
        </p:spPr>
      </p:sp>
      <p:sp>
        <p:nvSpPr>
          <p:cNvPr id="14" name="Text 11"/>
          <p:cNvSpPr txBox="1"/>
          <p:nvPr/>
        </p:nvSpPr>
        <p:spPr>
          <a:xfrm>
            <a:off x="4206240" y="41148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Panchayat</a:t>
            </a:r>
            <a:endParaRPr lang="en-US" sz="1000" dirty="0"/>
          </a:p>
        </p:txBody>
      </p:sp>
      <p:sp>
        <p:nvSpPr>
          <p:cNvPr id="15" name="Shape 12"/>
          <p:cNvSpPr/>
          <p:nvPr/>
        </p:nvSpPr>
        <p:spPr>
          <a:xfrm>
            <a:off x="5394960" y="4114800"/>
            <a:ext cx="1051560" cy="274320"/>
          </a:xfrm>
          <a:prstGeom prst="roundRect">
            <a:avLst>
              <a:gd name="adj" fmla="val 50000"/>
            </a:avLst>
          </a:prstGeom>
          <a:solidFill>
            <a:srgbClr val="D64F6A"/>
          </a:solidFill>
          <a:ln w="12700">
            <a:solidFill>
              <a:srgbClr val="D64F6A"/>
            </a:solidFill>
            <a:prstDash val="solid"/>
          </a:ln>
        </p:spPr>
      </p:sp>
      <p:sp>
        <p:nvSpPr>
          <p:cNvPr id="16" name="Text 13"/>
          <p:cNvSpPr txBox="1"/>
          <p:nvPr/>
        </p:nvSpPr>
        <p:spPr>
          <a:xfrm>
            <a:off x="5394960" y="41148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Health</a:t>
            </a:r>
            <a:endParaRPr lang="en-US" sz="1000" dirty="0"/>
          </a:p>
        </p:txBody>
      </p:sp>
      <p:sp>
        <p:nvSpPr>
          <p:cNvPr id="17" name="Text 14"/>
          <p:cNvSpPr txBox="1"/>
          <p:nvPr/>
        </p:nvSpPr>
        <p:spPr>
          <a:xfrm>
            <a:off x="640080" y="4572000"/>
            <a:ext cx="10972800" cy="457200"/>
          </a:xfrm>
          <a:prstGeom prst="rect">
            <a:avLst/>
          </a:prstGeom>
          <a:noFill/>
          <a:ln/>
        </p:spPr>
        <p:txBody>
          <a:bodyPr wrap="square" lIns="0" tIns="0" rIns="0" bIns="0" rtlCol="0" anchor="ctr"/>
          <a:lstStyle/>
          <a:p>
            <a:pPr indent="0" marL="0">
              <a:buNone/>
            </a:pPr>
            <a:r>
              <a:rPr lang="en-US" sz="1600" i="1" dirty="0">
                <a:solidFill>
                  <a:srgbClr val="E6EDF5"/>
                </a:solidFill>
                <a:latin typeface="Calibri" pitchFamily="34" charset="0"/>
                <a:ea typeface="Calibri" pitchFamily="34" charset="-122"/>
                <a:cs typeface="Calibri" pitchFamily="34" charset="-120"/>
              </a:rPr>
              <a:t>One platform. Five departments. Watching is not storing.</a:t>
            </a:r>
            <a:endParaRPr lang="en-US" sz="1600" dirty="0"/>
          </a:p>
        </p:txBody>
      </p:sp>
      <p:sp>
        <p:nvSpPr>
          <p:cNvPr id="18" name="Text 15"/>
          <p:cNvSpPr txBox="1"/>
          <p:nvPr/>
        </p:nvSpPr>
        <p:spPr>
          <a:xfrm>
            <a:off x="640080" y="5669280"/>
            <a:ext cx="10972800" cy="36576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Gujarat Police Innovation Challenge 2026  ·  Home Department / SCRB  ·  Submission by Adi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The problem, and what is actually graded</a:t>
            </a:r>
            <a:endParaRPr lang="en-US" sz="3000" dirty="0"/>
          </a:p>
        </p:txBody>
      </p:sp>
      <p:sp>
        <p:nvSpPr>
          <p:cNvPr id="5" name="Shape 2"/>
          <p:cNvSpPr/>
          <p:nvPr/>
        </p:nvSpPr>
        <p:spPr>
          <a:xfrm>
            <a:off x="457200" y="1463040"/>
            <a:ext cx="5486400" cy="4663440"/>
          </a:xfrm>
          <a:prstGeom prst="roundRect">
            <a:avLst>
              <a:gd name="adj" fmla="val 2353"/>
            </a:avLst>
          </a:prstGeom>
          <a:solidFill>
            <a:srgbClr val="111823"/>
          </a:solidFill>
          <a:ln w="9525">
            <a:solidFill>
              <a:srgbClr val="1E2A3A"/>
            </a:solidFill>
            <a:prstDash val="solid"/>
          </a:ln>
        </p:spPr>
      </p:sp>
      <p:sp>
        <p:nvSpPr>
          <p:cNvPr id="6" name="Text 3"/>
          <p:cNvSpPr txBox="1"/>
          <p:nvPr/>
        </p:nvSpPr>
        <p:spPr>
          <a:xfrm>
            <a:off x="685800" y="1600200"/>
            <a:ext cx="4572000" cy="274320"/>
          </a:xfrm>
          <a:prstGeom prst="rect">
            <a:avLst/>
          </a:prstGeom>
          <a:noFill/>
          <a:ln/>
        </p:spPr>
        <p:txBody>
          <a:bodyPr wrap="square" lIns="0" tIns="0" rIns="0" bIns="0" rtlCol="0" anchor="ctr"/>
          <a:lstStyle/>
          <a:p>
            <a:pPr indent="0" marL="0">
              <a:buNone/>
            </a:pPr>
            <a:r>
              <a:rPr lang="en-US" sz="1100" dirty="0">
                <a:solidFill>
                  <a:srgbClr val="3D7FD6"/>
                </a:solidFill>
                <a:latin typeface="Calibri" pitchFamily="34" charset="0"/>
                <a:ea typeface="Calibri" pitchFamily="34" charset="-122"/>
                <a:cs typeface="Calibri" pitchFamily="34" charset="-120"/>
              </a:rPr>
              <a:t>TODAY</a:t>
            </a:r>
            <a:endParaRPr lang="en-US" sz="1100" dirty="0"/>
          </a:p>
        </p:txBody>
      </p:sp>
      <p:sp>
        <p:nvSpPr>
          <p:cNvPr id="7" name="Text 4"/>
          <p:cNvSpPr txBox="1"/>
          <p:nvPr/>
        </p:nvSpPr>
        <p:spPr>
          <a:xfrm>
            <a:off x="685800" y="1920240"/>
            <a:ext cx="5029200" cy="4023360"/>
          </a:xfrm>
          <a:prstGeom prst="rect">
            <a:avLst/>
          </a:prstGeom>
          <a:noFill/>
          <a:ln/>
        </p:spPr>
        <p:txBody>
          <a:bodyPr wrap="square" lIns="25400" tIns="25400" rIns="25400" bIns="25400" rtlCol="0" anchor="t"/>
          <a:lstStyle/>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26 government departments run independent, standalone CCTV systems</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Mixed analog and IP cameras, different vendors and VMS platforms, incompatible feed protocols</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Storage fragmented: cloud for some, local for others, retention from 7 days to over 15</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Sites as much as 1,000 km apart, from the border districts to Somnath and Dwarka</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Tracing one vehicle means asking each department separately, by hand</a:t>
            </a:r>
            <a:endParaRPr lang="en-US" sz="1400" dirty="0"/>
          </a:p>
        </p:txBody>
      </p:sp>
      <p:sp>
        <p:nvSpPr>
          <p:cNvPr id="8" name="Shape 5"/>
          <p:cNvSpPr/>
          <p:nvPr/>
        </p:nvSpPr>
        <p:spPr>
          <a:xfrm>
            <a:off x="6217920" y="1463040"/>
            <a:ext cx="5486400" cy="4663440"/>
          </a:xfrm>
          <a:prstGeom prst="roundRect">
            <a:avLst>
              <a:gd name="adj" fmla="val 2353"/>
            </a:avLst>
          </a:prstGeom>
          <a:solidFill>
            <a:srgbClr val="111823"/>
          </a:solidFill>
          <a:ln w="9525">
            <a:solidFill>
              <a:srgbClr val="1E2A3A"/>
            </a:solidFill>
            <a:prstDash val="solid"/>
          </a:ln>
        </p:spPr>
      </p:sp>
      <p:sp>
        <p:nvSpPr>
          <p:cNvPr id="9" name="Text 6"/>
          <p:cNvSpPr txBox="1"/>
          <p:nvPr/>
        </p:nvSpPr>
        <p:spPr>
          <a:xfrm>
            <a:off x="6446520" y="1600200"/>
            <a:ext cx="4572000" cy="274320"/>
          </a:xfrm>
          <a:prstGeom prst="rect">
            <a:avLst/>
          </a:prstGeom>
          <a:noFill/>
          <a:ln/>
        </p:spPr>
        <p:txBody>
          <a:bodyPr wrap="square" lIns="0" tIns="0" rIns="0" bIns="0" rtlCol="0" anchor="ctr"/>
          <a:lstStyle/>
          <a:p>
            <a:pPr indent="0" marL="0">
              <a:buNone/>
            </a:pPr>
            <a:r>
              <a:rPr lang="en-US" sz="1100" dirty="0">
                <a:solidFill>
                  <a:srgbClr val="D64F6A"/>
                </a:solidFill>
                <a:latin typeface="Calibri" pitchFamily="34" charset="0"/>
                <a:ea typeface="Calibri" pitchFamily="34" charset="-122"/>
                <a:cs typeface="Calibri" pitchFamily="34" charset="-120"/>
              </a:rPr>
              <a:t>THE LIVE TEST CASE</a:t>
            </a:r>
            <a:endParaRPr lang="en-US" sz="1100" dirty="0"/>
          </a:p>
        </p:txBody>
      </p:sp>
      <p:sp>
        <p:nvSpPr>
          <p:cNvPr id="10" name="Text 7"/>
          <p:cNvSpPr txBox="1"/>
          <p:nvPr/>
        </p:nvSpPr>
        <p:spPr>
          <a:xfrm>
            <a:off x="6446520" y="1920240"/>
            <a:ext cx="5029200" cy="4023360"/>
          </a:xfrm>
          <a:prstGeom prst="rect">
            <a:avLst/>
          </a:prstGeom>
          <a:noFill/>
          <a:ln/>
        </p:spPr>
        <p:txBody>
          <a:bodyPr wrap="square" lIns="25400" tIns="25400" rIns="25400" bIns="25400" rtlCol="0" anchor="t"/>
          <a:lstStyle/>
          <a:p>
            <a:pPr marL="342900" indent="-342900">
              <a:spcAft>
                <a:spcPts val="500"/>
              </a:spcAft>
              <a:buSzPct val="100000"/>
              <a:buChar char="•"/>
            </a:pPr>
            <a:r>
              <a:rPr lang="en-US" sz="1400" b="1" dirty="0">
                <a:solidFill>
                  <a:srgbClr val="E6EDF5"/>
                </a:solidFill>
                <a:latin typeface="Calibri" pitchFamily="34" charset="0"/>
                <a:ea typeface="Calibri" pitchFamily="34" charset="-122"/>
                <a:cs typeface="Calibri" pitchFamily="34" charset="-120"/>
              </a:rPr>
              <a:t>A registration number is handed over on evaluation day.</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Identify, trace and present that vehicle's movement across the integrated network</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Complete route: timestamped, location-wise, across camera locations and departments</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Continuous cross-referencing of live feeds against a watchlist, with automated real-time alerts</a:t>
            </a:r>
            <a:endParaRPr lang="en-US" sz="1400" dirty="0"/>
          </a:p>
          <a:p>
            <a:pPr marL="342900" indent="-342900">
              <a:spcAft>
                <a:spcPts val="500"/>
              </a:spcAft>
              <a:buSzPct val="100000"/>
              <a:buChar char="•"/>
            </a:pPr>
            <a:r>
              <a:rPr lang="en-US" sz="1400" dirty="0">
                <a:solidFill>
                  <a:srgbClr val="E6EDF5"/>
                </a:solidFill>
                <a:latin typeface="Calibri" pitchFamily="34" charset="0"/>
                <a:ea typeface="Calibri" pitchFamily="34" charset="-122"/>
                <a:cs typeface="Calibri" pitchFamily="34" charset="-120"/>
              </a:rPr>
              <a:t>A working system. Mock-ups and concept videos are not considered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Proposed model: a hybrid, with justification</a:t>
            </a:r>
            <a:endParaRPr lang="en-US" sz="3000" dirty="0"/>
          </a:p>
        </p:txBody>
      </p:sp>
      <p:sp>
        <p:nvSpPr>
          <p:cNvPr id="5" name="Shape 2"/>
          <p:cNvSpPr/>
          <p:nvPr/>
        </p:nvSpPr>
        <p:spPr>
          <a:xfrm>
            <a:off x="457200" y="1463040"/>
            <a:ext cx="2697480" cy="3566160"/>
          </a:xfrm>
          <a:prstGeom prst="roundRect">
            <a:avLst>
              <a:gd name="adj" fmla="val 4068"/>
            </a:avLst>
          </a:prstGeom>
          <a:solidFill>
            <a:srgbClr val="111823"/>
          </a:solidFill>
          <a:ln w="9525">
            <a:solidFill>
              <a:srgbClr val="1E2A3A"/>
            </a:solidFill>
            <a:prstDash val="solid"/>
          </a:ln>
        </p:spPr>
      </p:sp>
      <p:sp>
        <p:nvSpPr>
          <p:cNvPr id="6" name="Shape 3"/>
          <p:cNvSpPr/>
          <p:nvPr/>
        </p:nvSpPr>
        <p:spPr>
          <a:xfrm>
            <a:off x="685800" y="1691640"/>
            <a:ext cx="320040" cy="320040"/>
          </a:xfrm>
          <a:prstGeom prst="ellipse">
            <a:avLst/>
          </a:prstGeom>
          <a:solidFill>
            <a:srgbClr val="3D7FD6"/>
          </a:solidFill>
          <a:ln w="12700">
            <a:solidFill>
              <a:srgbClr val="3D7FD6"/>
            </a:solidFill>
            <a:prstDash val="solid"/>
          </a:ln>
        </p:spPr>
      </p:sp>
      <p:sp>
        <p:nvSpPr>
          <p:cNvPr id="7" name="Text 4"/>
          <p:cNvSpPr txBox="1"/>
          <p:nvPr/>
        </p:nvSpPr>
        <p:spPr>
          <a:xfrm>
            <a:off x="1097280" y="1673352"/>
            <a:ext cx="2011680" cy="365760"/>
          </a:xfrm>
          <a:prstGeom prst="rect">
            <a:avLst/>
          </a:prstGeom>
          <a:noFill/>
          <a:ln/>
        </p:spPr>
        <p:txBody>
          <a:bodyPr wrap="square" lIns="0" tIns="0" rIns="0" bIns="0" rtlCol="0" anchor="ctr"/>
          <a:lstStyle/>
          <a:p>
            <a:pPr indent="0" marL="0">
              <a:buNone/>
            </a:pPr>
            <a:r>
              <a:rPr lang="en-US" sz="1200" b="1" dirty="0">
                <a:solidFill>
                  <a:srgbClr val="E6EDF5"/>
                </a:solidFill>
                <a:latin typeface="Calibri" pitchFamily="34" charset="0"/>
                <a:ea typeface="Calibri" pitchFamily="34" charset="-122"/>
                <a:cs typeface="Calibri" pitchFamily="34" charset="-120"/>
              </a:rPr>
              <a:t>MODEL 1  ·  mandatory</a:t>
            </a:r>
            <a:endParaRPr lang="en-US" sz="1200" dirty="0"/>
          </a:p>
        </p:txBody>
      </p:sp>
      <p:sp>
        <p:nvSpPr>
          <p:cNvPr id="8" name="Text 5"/>
          <p:cNvSpPr txBox="1"/>
          <p:nvPr/>
        </p:nvSpPr>
        <p:spPr>
          <a:xfrm>
            <a:off x="640080" y="2194560"/>
            <a:ext cx="2377440" cy="2743200"/>
          </a:xfrm>
          <a:prstGeom prst="rect">
            <a:avLst/>
          </a:prstGeom>
          <a:noFill/>
          <a:ln/>
        </p:spPr>
        <p:txBody>
          <a:bodyPr wrap="square" lIns="25400" tIns="25400" rIns="25400" bIns="25400" rtlCol="0" anchor="t"/>
          <a:lstStyle/>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Camera registry, the control plane</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GIS map, health, gap analysis</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Bulk, manual and API onboarding</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Built and demonstrated</a:t>
            </a:r>
            <a:endParaRPr lang="en-US" sz="1200" dirty="0"/>
          </a:p>
        </p:txBody>
      </p:sp>
      <p:sp>
        <p:nvSpPr>
          <p:cNvPr id="9" name="Shape 6"/>
          <p:cNvSpPr/>
          <p:nvPr/>
        </p:nvSpPr>
        <p:spPr>
          <a:xfrm>
            <a:off x="3291840" y="1463040"/>
            <a:ext cx="2697480" cy="3566160"/>
          </a:xfrm>
          <a:prstGeom prst="roundRect">
            <a:avLst>
              <a:gd name="adj" fmla="val 4068"/>
            </a:avLst>
          </a:prstGeom>
          <a:solidFill>
            <a:srgbClr val="111823"/>
          </a:solidFill>
          <a:ln w="9525">
            <a:solidFill>
              <a:srgbClr val="1E2A3A"/>
            </a:solidFill>
            <a:prstDash val="solid"/>
          </a:ln>
        </p:spPr>
      </p:sp>
      <p:sp>
        <p:nvSpPr>
          <p:cNvPr id="10" name="Shape 7"/>
          <p:cNvSpPr/>
          <p:nvPr/>
        </p:nvSpPr>
        <p:spPr>
          <a:xfrm>
            <a:off x="3520440" y="1691640"/>
            <a:ext cx="320040" cy="320040"/>
          </a:xfrm>
          <a:prstGeom prst="ellipse">
            <a:avLst/>
          </a:prstGeom>
          <a:solidFill>
            <a:srgbClr val="39A56A"/>
          </a:solidFill>
          <a:ln w="12700">
            <a:solidFill>
              <a:srgbClr val="39A56A"/>
            </a:solidFill>
            <a:prstDash val="solid"/>
          </a:ln>
        </p:spPr>
      </p:sp>
      <p:sp>
        <p:nvSpPr>
          <p:cNvPr id="11" name="Text 8"/>
          <p:cNvSpPr txBox="1"/>
          <p:nvPr/>
        </p:nvSpPr>
        <p:spPr>
          <a:xfrm>
            <a:off x="3931920" y="1673352"/>
            <a:ext cx="2011680" cy="365760"/>
          </a:xfrm>
          <a:prstGeom prst="rect">
            <a:avLst/>
          </a:prstGeom>
          <a:noFill/>
          <a:ln/>
        </p:spPr>
        <p:txBody>
          <a:bodyPr wrap="square" lIns="0" tIns="0" rIns="0" bIns="0" rtlCol="0" anchor="ctr"/>
          <a:lstStyle/>
          <a:p>
            <a:pPr indent="0" marL="0">
              <a:buNone/>
            </a:pPr>
            <a:r>
              <a:rPr lang="en-US" sz="1200" b="1" dirty="0">
                <a:solidFill>
                  <a:srgbClr val="E6EDF5"/>
                </a:solidFill>
                <a:latin typeface="Calibri" pitchFamily="34" charset="0"/>
                <a:ea typeface="Calibri" pitchFamily="34" charset="-122"/>
                <a:cs typeface="Calibri" pitchFamily="34" charset="-120"/>
              </a:rPr>
              <a:t>MODEL 2  ·  analytics</a:t>
            </a:r>
            <a:endParaRPr lang="en-US" sz="1200" dirty="0"/>
          </a:p>
        </p:txBody>
      </p:sp>
      <p:sp>
        <p:nvSpPr>
          <p:cNvPr id="12" name="Text 9"/>
          <p:cNvSpPr txBox="1"/>
          <p:nvPr/>
        </p:nvSpPr>
        <p:spPr>
          <a:xfrm>
            <a:off x="3474720" y="2194560"/>
            <a:ext cx="2377440" cy="2743200"/>
          </a:xfrm>
          <a:prstGeom prst="rect">
            <a:avLst/>
          </a:prstGeom>
          <a:noFill/>
          <a:ln/>
        </p:spPr>
        <p:txBody>
          <a:bodyPr wrap="square" lIns="25400" tIns="25400" rIns="25400" bIns="25400" rtlCol="0" anchor="t"/>
          <a:lstStyle/>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Direct pull, departments untouched</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ANPR metadata, no central video</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Searchable movement records</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Built and demonstrated</a:t>
            </a:r>
            <a:endParaRPr lang="en-US" sz="1200" dirty="0"/>
          </a:p>
        </p:txBody>
      </p:sp>
      <p:sp>
        <p:nvSpPr>
          <p:cNvPr id="13" name="Shape 10"/>
          <p:cNvSpPr/>
          <p:nvPr/>
        </p:nvSpPr>
        <p:spPr>
          <a:xfrm>
            <a:off x="6126480" y="1463040"/>
            <a:ext cx="2697480" cy="3566160"/>
          </a:xfrm>
          <a:prstGeom prst="roundRect">
            <a:avLst>
              <a:gd name="adj" fmla="val 4068"/>
            </a:avLst>
          </a:prstGeom>
          <a:solidFill>
            <a:srgbClr val="111823"/>
          </a:solidFill>
          <a:ln w="9525">
            <a:solidFill>
              <a:srgbClr val="1E2A3A"/>
            </a:solidFill>
            <a:prstDash val="solid"/>
          </a:ln>
        </p:spPr>
      </p:sp>
      <p:sp>
        <p:nvSpPr>
          <p:cNvPr id="14" name="Shape 11"/>
          <p:cNvSpPr/>
          <p:nvPr/>
        </p:nvSpPr>
        <p:spPr>
          <a:xfrm>
            <a:off x="6355080" y="1691640"/>
            <a:ext cx="320040" cy="320040"/>
          </a:xfrm>
          <a:prstGeom prst="ellipse">
            <a:avLst/>
          </a:prstGeom>
          <a:solidFill>
            <a:srgbClr val="E0912F"/>
          </a:solidFill>
          <a:ln w="12700">
            <a:solidFill>
              <a:srgbClr val="E0912F"/>
            </a:solidFill>
            <a:prstDash val="solid"/>
          </a:ln>
        </p:spPr>
      </p:sp>
      <p:sp>
        <p:nvSpPr>
          <p:cNvPr id="15" name="Text 12"/>
          <p:cNvSpPr txBox="1"/>
          <p:nvPr/>
        </p:nvSpPr>
        <p:spPr>
          <a:xfrm>
            <a:off x="6766560" y="1673352"/>
            <a:ext cx="2011680" cy="365760"/>
          </a:xfrm>
          <a:prstGeom prst="rect">
            <a:avLst/>
          </a:prstGeom>
          <a:noFill/>
          <a:ln/>
        </p:spPr>
        <p:txBody>
          <a:bodyPr wrap="square" lIns="0" tIns="0" rIns="0" bIns="0" rtlCol="0" anchor="ctr"/>
          <a:lstStyle/>
          <a:p>
            <a:pPr indent="0" marL="0">
              <a:buNone/>
            </a:pPr>
            <a:r>
              <a:rPr lang="en-US" sz="1200" b="1" dirty="0">
                <a:solidFill>
                  <a:srgbClr val="E6EDF5"/>
                </a:solidFill>
                <a:latin typeface="Calibri" pitchFamily="34" charset="0"/>
                <a:ea typeface="Calibri" pitchFamily="34" charset="-122"/>
                <a:cs typeface="Calibri" pitchFamily="34" charset="-120"/>
              </a:rPr>
              <a:t>EVIDENCE CAPTURE</a:t>
            </a:r>
            <a:endParaRPr lang="en-US" sz="1200" dirty="0"/>
          </a:p>
        </p:txBody>
      </p:sp>
      <p:sp>
        <p:nvSpPr>
          <p:cNvPr id="16" name="Text 13"/>
          <p:cNvSpPr txBox="1"/>
          <p:nvPr/>
        </p:nvSpPr>
        <p:spPr>
          <a:xfrm>
            <a:off x="6309360" y="2194560"/>
            <a:ext cx="2377440" cy="2743200"/>
          </a:xfrm>
          <a:prstGeom prst="rect">
            <a:avLst/>
          </a:prstGeom>
          <a:noFill/>
          <a:ln/>
        </p:spPr>
        <p:txBody>
          <a:bodyPr wrap="square" lIns="25400" tIns="25400" rIns="25400" bIns="25400" rtlCol="0" anchor="t"/>
          <a:lstStyle/>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Rolling buffer, promote on match only</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60 s clip, SHA-256, audit row</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Validated: 0.54% CPU, flat buffer</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Described in the HLD, next to build</a:t>
            </a:r>
            <a:endParaRPr lang="en-US" sz="1200" dirty="0"/>
          </a:p>
        </p:txBody>
      </p:sp>
      <p:sp>
        <p:nvSpPr>
          <p:cNvPr id="17" name="Shape 14"/>
          <p:cNvSpPr/>
          <p:nvPr/>
        </p:nvSpPr>
        <p:spPr>
          <a:xfrm>
            <a:off x="8961120" y="1463040"/>
            <a:ext cx="2697480" cy="3566160"/>
          </a:xfrm>
          <a:prstGeom prst="roundRect">
            <a:avLst>
              <a:gd name="adj" fmla="val 4068"/>
            </a:avLst>
          </a:prstGeom>
          <a:solidFill>
            <a:srgbClr val="111823"/>
          </a:solidFill>
          <a:ln w="9525">
            <a:solidFill>
              <a:srgbClr val="1E2A3A"/>
            </a:solidFill>
            <a:prstDash val="solid"/>
          </a:ln>
        </p:spPr>
      </p:sp>
      <p:sp>
        <p:nvSpPr>
          <p:cNvPr id="18" name="Shape 15"/>
          <p:cNvSpPr/>
          <p:nvPr/>
        </p:nvSpPr>
        <p:spPr>
          <a:xfrm>
            <a:off x="9189720" y="1691640"/>
            <a:ext cx="320040" cy="320040"/>
          </a:xfrm>
          <a:prstGeom prst="ellipse">
            <a:avLst/>
          </a:prstGeom>
          <a:solidFill>
            <a:srgbClr val="B45FD1"/>
          </a:solidFill>
          <a:ln w="12700">
            <a:solidFill>
              <a:srgbClr val="B45FD1"/>
            </a:solidFill>
            <a:prstDash val="solid"/>
          </a:ln>
        </p:spPr>
      </p:sp>
      <p:sp>
        <p:nvSpPr>
          <p:cNvPr id="19" name="Text 16"/>
          <p:cNvSpPr txBox="1"/>
          <p:nvPr/>
        </p:nvSpPr>
        <p:spPr>
          <a:xfrm>
            <a:off x="9601200" y="1673352"/>
            <a:ext cx="2011680" cy="365760"/>
          </a:xfrm>
          <a:prstGeom prst="rect">
            <a:avLst/>
          </a:prstGeom>
          <a:noFill/>
          <a:ln/>
        </p:spPr>
        <p:txBody>
          <a:bodyPr wrap="square" lIns="0" tIns="0" rIns="0" bIns="0" rtlCol="0" anchor="ctr"/>
          <a:lstStyle/>
          <a:p>
            <a:pPr indent="0" marL="0">
              <a:buNone/>
            </a:pPr>
            <a:r>
              <a:rPr lang="en-US" sz="1200" b="1" dirty="0">
                <a:solidFill>
                  <a:srgbClr val="E6EDF5"/>
                </a:solidFill>
                <a:latin typeface="Calibri" pitchFamily="34" charset="0"/>
                <a:ea typeface="Calibri" pitchFamily="34" charset="-122"/>
                <a:cs typeface="Calibri" pitchFamily="34" charset="-120"/>
              </a:rPr>
              <a:t>MODEL 3  ·  federation</a:t>
            </a:r>
            <a:endParaRPr lang="en-US" sz="1200" dirty="0"/>
          </a:p>
        </p:txBody>
      </p:sp>
      <p:sp>
        <p:nvSpPr>
          <p:cNvPr id="20" name="Text 17"/>
          <p:cNvSpPr txBox="1"/>
          <p:nvPr/>
        </p:nvSpPr>
        <p:spPr>
          <a:xfrm>
            <a:off x="9144000" y="2194560"/>
            <a:ext cx="2377440" cy="2743200"/>
          </a:xfrm>
          <a:prstGeom prst="rect">
            <a:avLst/>
          </a:prstGeom>
          <a:noFill/>
          <a:ln/>
        </p:spPr>
        <p:txBody>
          <a:bodyPr wrap="square" lIns="25400" tIns="25400" rIns="25400" bIns="25400" rtlCol="0" anchor="t"/>
          <a:lstStyle/>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Adapter per vendor VMS</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Department-side collector for NAT and SDK-only sites</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Answers heterogeneity, not scale</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Integration path in the HLD</a:t>
            </a:r>
            <a:endParaRPr lang="en-US" sz="1200" dirty="0"/>
          </a:p>
        </p:txBody>
      </p:sp>
      <p:sp>
        <p:nvSpPr>
          <p:cNvPr id="21" name="Shape 18"/>
          <p:cNvSpPr/>
          <p:nvPr/>
        </p:nvSpPr>
        <p:spPr>
          <a:xfrm>
            <a:off x="457200" y="5257800"/>
            <a:ext cx="11247120" cy="868680"/>
          </a:xfrm>
          <a:prstGeom prst="roundRect">
            <a:avLst>
              <a:gd name="adj" fmla="val 12632"/>
            </a:avLst>
          </a:prstGeom>
          <a:solidFill>
            <a:srgbClr val="111823"/>
          </a:solidFill>
          <a:ln w="9525">
            <a:solidFill>
              <a:srgbClr val="1E2A3A"/>
            </a:solidFill>
            <a:prstDash val="solid"/>
          </a:ln>
        </p:spPr>
      </p:sp>
      <p:sp>
        <p:nvSpPr>
          <p:cNvPr id="22" name="Text 19"/>
          <p:cNvSpPr txBox="1"/>
          <p:nvPr/>
        </p:nvSpPr>
        <p:spPr>
          <a:xfrm>
            <a:off x="685800" y="5349240"/>
            <a:ext cx="10881360" cy="685800"/>
          </a:xfrm>
          <a:prstGeom prst="rect">
            <a:avLst/>
          </a:prstGeom>
          <a:noFill/>
          <a:ln/>
        </p:spPr>
        <p:txBody>
          <a:bodyPr wrap="square" lIns="0" tIns="0" rIns="0" bIns="0" rtlCol="0" anchor="ctr"/>
          <a:lstStyle/>
          <a:p>
            <a:pPr indent="0" marL="0">
              <a:buNone/>
            </a:pPr>
            <a:r>
              <a:rPr lang="en-US" sz="1300" b="1" dirty="0">
                <a:solidFill>
                  <a:srgbClr val="D64F6A"/>
                </a:solidFill>
                <a:latin typeface="Calibri" pitchFamily="34" charset="0"/>
                <a:ea typeface="Calibri" pitchFamily="34" charset="-122"/>
                <a:cs typeface="Calibri" pitchFamily="34" charset="-120"/>
              </a:rPr>
              <a:t>Why not Model 4, fully centralised: </a:t>
            </a:r>
            <a:pPr indent="0" marL="0">
              <a:buNone/>
            </a:pPr>
            <a:r>
              <a:rPr lang="en-US" sz="1300" dirty="0">
                <a:solidFill>
                  <a:srgbClr val="E6EDF5"/>
                </a:solidFill>
                <a:latin typeface="Calibri" pitchFamily="34" charset="0"/>
                <a:ea typeface="Calibri" pitchFamily="34" charset="-122"/>
                <a:cs typeface="Calibri" pitchFamily="34" charset="-120"/>
              </a:rPr>
              <a:t>80,000 cameras at 3 Mbps is about 240 Gbps sustained into one facility, which is a procurement and physical-plant problem before it is a budget line. Edge analytics cuts what crosses the WAN by roughly 3,750 times, to about 2.1 Mbps of text. [model]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What we built: the Command view</a:t>
            </a:r>
            <a:endParaRPr lang="en-US" sz="3000" dirty="0"/>
          </a:p>
        </p:txBody>
      </p:sp>
      <p:sp>
        <p:nvSpPr>
          <p:cNvPr id="5" name="Text 2"/>
          <p:cNvSpPr txBox="1"/>
          <p:nvPr/>
        </p:nvSpPr>
        <p:spPr>
          <a:xfrm>
            <a:off x="457200" y="932688"/>
            <a:ext cx="11247120" cy="365760"/>
          </a:xfrm>
          <a:prstGeom prst="rect">
            <a:avLst/>
          </a:prstGeom>
          <a:noFill/>
          <a:ln/>
        </p:spPr>
        <p:txBody>
          <a:bodyPr wrap="square" lIns="0" tIns="0" rIns="0" bIns="0" rtlCol="0" anchor="ctr"/>
          <a:lstStyle/>
          <a:p>
            <a:pPr indent="0" marL="0">
              <a:buNone/>
            </a:pPr>
            <a:r>
              <a:rPr lang="en-US" sz="1400" dirty="0">
                <a:solidFill>
                  <a:srgbClr val="8A97A6"/>
                </a:solidFill>
                <a:latin typeface="Calibri" pitchFamily="34" charset="0"/>
                <a:ea typeface="Calibri" pitchFamily="34" charset="-122"/>
                <a:cs typeface="Calibri" pitchFamily="34" charset="-120"/>
              </a:rPr>
              <a:t>One screen: live wall, GIS, live alerts, plate reads, analytics, worker health</a:t>
            </a:r>
            <a:endParaRPr lang="en-US" sz="1400" dirty="0"/>
          </a:p>
        </p:txBody>
      </p:sp>
      <p:pic>
        <p:nvPicPr>
          <p:cNvPr id="6" name="Image 0" descr="/home/claude/work/deliverables/deck/img/dashboard.png">    </p:cNvPr>
          <p:cNvPicPr>
            <a:picLocks noChangeAspect="1"/>
          </p:cNvPicPr>
          <p:nvPr/>
        </p:nvPicPr>
        <p:blipFill>
          <a:blip r:embed="rId1"/>
          <a:stretch>
            <a:fillRect/>
          </a:stretch>
        </p:blipFill>
        <p:spPr>
          <a:xfrm>
            <a:off x="457200" y="1417320"/>
            <a:ext cx="7863840" cy="4423410"/>
          </a:xfrm>
          <a:prstGeom prst="rect">
            <a:avLst/>
          </a:prstGeom>
        </p:spPr>
      </p:pic>
      <p:sp>
        <p:nvSpPr>
          <p:cNvPr id="7" name="Shape 3"/>
          <p:cNvSpPr/>
          <p:nvPr/>
        </p:nvSpPr>
        <p:spPr>
          <a:xfrm>
            <a:off x="457200" y="1417320"/>
            <a:ext cx="7863840" cy="4423410"/>
          </a:xfrm>
          <a:prstGeom prst="rect">
            <a:avLst/>
          </a:prstGeom>
          <a:solidFill>
            <a:srgbClr val="0A0E14">
              <a:alpha val="0"/>
            </a:srgbClr>
          </a:solidFill>
          <a:ln w="9525">
            <a:solidFill>
              <a:srgbClr val="1E2A3A"/>
            </a:solidFill>
            <a:prstDash val="solid"/>
          </a:ln>
        </p:spPr>
      </p:sp>
      <p:sp>
        <p:nvSpPr>
          <p:cNvPr id="8" name="Text 4"/>
          <p:cNvSpPr txBox="1"/>
          <p:nvPr/>
        </p:nvSpPr>
        <p:spPr>
          <a:xfrm>
            <a:off x="457200" y="5895594"/>
            <a:ext cx="786384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Command view (development capture on a test scenario; live tiles play in the browser)</a:t>
            </a:r>
            <a:endParaRPr lang="en-US" sz="900" dirty="0"/>
          </a:p>
        </p:txBody>
      </p:sp>
      <p:sp>
        <p:nvSpPr>
          <p:cNvPr id="9" name="Shape 5"/>
          <p:cNvSpPr/>
          <p:nvPr/>
        </p:nvSpPr>
        <p:spPr>
          <a:xfrm>
            <a:off x="8595360" y="1463040"/>
            <a:ext cx="292608" cy="292608"/>
          </a:xfrm>
          <a:prstGeom prst="ellipse">
            <a:avLst/>
          </a:prstGeom>
          <a:solidFill>
            <a:srgbClr val="3D7FD6"/>
          </a:solidFill>
          <a:ln w="12700">
            <a:solidFill>
              <a:srgbClr val="3D7FD6"/>
            </a:solidFill>
            <a:prstDash val="solid"/>
          </a:ln>
        </p:spPr>
      </p:sp>
      <p:sp>
        <p:nvSpPr>
          <p:cNvPr id="10" name="Text 6"/>
          <p:cNvSpPr txBox="1"/>
          <p:nvPr/>
        </p:nvSpPr>
        <p:spPr>
          <a:xfrm>
            <a:off x="8595360" y="14630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1" name="Text 7"/>
          <p:cNvSpPr txBox="1"/>
          <p:nvPr/>
        </p:nvSpPr>
        <p:spPr>
          <a:xfrm>
            <a:off x="9006840" y="1417320"/>
            <a:ext cx="2743200" cy="731520"/>
          </a:xfrm>
          <a:prstGeom prst="rect">
            <a:avLst/>
          </a:prstGeom>
          <a:noFill/>
          <a:ln/>
        </p:spPr>
        <p:txBody>
          <a:bodyPr wrap="square" lIns="0" tIns="0" rIns="0" bIns="0" rtlCol="0" anchor="t"/>
          <a:lstStyle/>
          <a:p>
            <a:pPr indent="0" marL="0">
              <a:buNone/>
            </a:pPr>
            <a:r>
              <a:rPr lang="en-US" sz="1100" b="1" dirty="0">
                <a:solidFill>
                  <a:srgbClr val="E6EDF5"/>
                </a:solidFill>
                <a:latin typeface="Calibri" pitchFamily="34" charset="0"/>
                <a:ea typeface="Calibri" pitchFamily="34" charset="-122"/>
                <a:cs typeface="Calibri" pitchFamily="34" charset="-120"/>
              </a:rPr>
              <a:t>Live wall  </a:t>
            </a:r>
            <a:pPr indent="0" marL="0">
              <a:buNone/>
            </a:pPr>
            <a:r>
              <a:rPr lang="en-US" sz="1100" dirty="0">
                <a:solidFill>
                  <a:srgbClr val="8A97A6"/>
                </a:solidFill>
                <a:latin typeface="Calibri" pitchFamily="34" charset="0"/>
                <a:ea typeface="Calibri" pitchFamily="34" charset="-122"/>
                <a:cs typeface="Calibri" pitchFamily="34" charset="-120"/>
              </a:rPr>
              <a:t>Four active-tier tiles, HLS relayed through the backend. Nothing is stored.</a:t>
            </a:r>
            <a:endParaRPr lang="en-US" sz="1100" dirty="0"/>
          </a:p>
        </p:txBody>
      </p:sp>
      <p:sp>
        <p:nvSpPr>
          <p:cNvPr id="12" name="Shape 8"/>
          <p:cNvSpPr/>
          <p:nvPr/>
        </p:nvSpPr>
        <p:spPr>
          <a:xfrm>
            <a:off x="8595360" y="2249424"/>
            <a:ext cx="292608" cy="292608"/>
          </a:xfrm>
          <a:prstGeom prst="ellipse">
            <a:avLst/>
          </a:prstGeom>
          <a:solidFill>
            <a:srgbClr val="3D7FD6"/>
          </a:solidFill>
          <a:ln w="12700">
            <a:solidFill>
              <a:srgbClr val="3D7FD6"/>
            </a:solidFill>
            <a:prstDash val="solid"/>
          </a:ln>
        </p:spPr>
      </p:sp>
      <p:sp>
        <p:nvSpPr>
          <p:cNvPr id="13" name="Text 9"/>
          <p:cNvSpPr txBox="1"/>
          <p:nvPr/>
        </p:nvSpPr>
        <p:spPr>
          <a:xfrm>
            <a:off x="8595360" y="224942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4" name="Text 10"/>
          <p:cNvSpPr txBox="1"/>
          <p:nvPr/>
        </p:nvSpPr>
        <p:spPr>
          <a:xfrm>
            <a:off x="9006840" y="2203704"/>
            <a:ext cx="2743200" cy="731520"/>
          </a:xfrm>
          <a:prstGeom prst="rect">
            <a:avLst/>
          </a:prstGeom>
          <a:noFill/>
          <a:ln/>
        </p:spPr>
        <p:txBody>
          <a:bodyPr wrap="square" lIns="0" tIns="0" rIns="0" bIns="0" rtlCol="0" anchor="t"/>
          <a:lstStyle/>
          <a:p>
            <a:pPr indent="0" marL="0">
              <a:buNone/>
            </a:pPr>
            <a:r>
              <a:rPr lang="en-US" sz="1100" b="1" dirty="0">
                <a:solidFill>
                  <a:srgbClr val="E6EDF5"/>
                </a:solidFill>
                <a:latin typeface="Calibri" pitchFamily="34" charset="0"/>
                <a:ea typeface="Calibri" pitchFamily="34" charset="-122"/>
                <a:cs typeface="Calibri" pitchFamily="34" charset="-120"/>
              </a:rPr>
              <a:t>GIS  </a:t>
            </a:r>
            <a:pPr indent="0" marL="0">
              <a:buNone/>
            </a:pPr>
            <a:r>
              <a:rPr lang="en-US" sz="1100" dirty="0">
                <a:solidFill>
                  <a:srgbClr val="8A97A6"/>
                </a:solidFill>
                <a:latin typeface="Calibri" pitchFamily="34" charset="0"/>
                <a:ea typeface="Calibri" pitchFamily="34" charset="-122"/>
                <a:cs typeface="Calibri" pitchFamily="34" charset="-120"/>
              </a:rPr>
              <a:t>30 cameras, coloured by department, health shown by opacity.</a:t>
            </a:r>
            <a:endParaRPr lang="en-US" sz="1100" dirty="0"/>
          </a:p>
        </p:txBody>
      </p:sp>
      <p:sp>
        <p:nvSpPr>
          <p:cNvPr id="15" name="Shape 11"/>
          <p:cNvSpPr/>
          <p:nvPr/>
        </p:nvSpPr>
        <p:spPr>
          <a:xfrm>
            <a:off x="8595360" y="3035808"/>
            <a:ext cx="292608" cy="292608"/>
          </a:xfrm>
          <a:prstGeom prst="ellipse">
            <a:avLst/>
          </a:prstGeom>
          <a:solidFill>
            <a:srgbClr val="3D7FD6"/>
          </a:solidFill>
          <a:ln w="12700">
            <a:solidFill>
              <a:srgbClr val="3D7FD6"/>
            </a:solidFill>
            <a:prstDash val="solid"/>
          </a:ln>
        </p:spPr>
      </p:sp>
      <p:sp>
        <p:nvSpPr>
          <p:cNvPr id="16" name="Text 12"/>
          <p:cNvSpPr txBox="1"/>
          <p:nvPr/>
        </p:nvSpPr>
        <p:spPr>
          <a:xfrm>
            <a:off x="8595360" y="303580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3"/>
          <p:cNvSpPr txBox="1"/>
          <p:nvPr/>
        </p:nvSpPr>
        <p:spPr>
          <a:xfrm>
            <a:off x="9006840" y="2990088"/>
            <a:ext cx="2743200" cy="731520"/>
          </a:xfrm>
          <a:prstGeom prst="rect">
            <a:avLst/>
          </a:prstGeom>
          <a:noFill/>
          <a:ln/>
        </p:spPr>
        <p:txBody>
          <a:bodyPr wrap="square" lIns="0" tIns="0" rIns="0" bIns="0" rtlCol="0" anchor="t"/>
          <a:lstStyle/>
          <a:p>
            <a:pPr indent="0" marL="0">
              <a:buNone/>
            </a:pPr>
            <a:r>
              <a:rPr lang="en-US" sz="1100" b="1" dirty="0">
                <a:solidFill>
                  <a:srgbClr val="E6EDF5"/>
                </a:solidFill>
                <a:latin typeface="Calibri" pitchFamily="34" charset="0"/>
                <a:ea typeface="Calibri" pitchFamily="34" charset="-122"/>
                <a:cs typeface="Calibri" pitchFamily="34" charset="-120"/>
              </a:rPr>
              <a:t>Alerts  </a:t>
            </a:r>
            <a:pPr indent="0" marL="0">
              <a:buNone/>
            </a:pPr>
            <a:r>
              <a:rPr lang="en-US" sz="1100" dirty="0">
                <a:solidFill>
                  <a:srgbClr val="8A97A6"/>
                </a:solidFill>
                <a:latin typeface="Calibri" pitchFamily="34" charset="0"/>
                <a:ea typeface="Calibri" pitchFamily="34" charset="-122"/>
                <a:cs typeface="Calibri" pitchFamily="34" charset="-120"/>
              </a:rPr>
              <a:t>Server-sent events. A watchlist hit lands in about 2 s with its plate crop.</a:t>
            </a:r>
            <a:endParaRPr lang="en-US" sz="1100" dirty="0"/>
          </a:p>
        </p:txBody>
      </p:sp>
      <p:sp>
        <p:nvSpPr>
          <p:cNvPr id="18" name="Shape 14"/>
          <p:cNvSpPr/>
          <p:nvPr/>
        </p:nvSpPr>
        <p:spPr>
          <a:xfrm>
            <a:off x="8595360" y="3822192"/>
            <a:ext cx="292608" cy="292608"/>
          </a:xfrm>
          <a:prstGeom prst="ellipse">
            <a:avLst/>
          </a:prstGeom>
          <a:solidFill>
            <a:srgbClr val="3D7FD6"/>
          </a:solidFill>
          <a:ln w="12700">
            <a:solidFill>
              <a:srgbClr val="3D7FD6"/>
            </a:solidFill>
            <a:prstDash val="solid"/>
          </a:ln>
        </p:spPr>
      </p:sp>
      <p:sp>
        <p:nvSpPr>
          <p:cNvPr id="19" name="Text 15"/>
          <p:cNvSpPr txBox="1"/>
          <p:nvPr/>
        </p:nvSpPr>
        <p:spPr>
          <a:xfrm>
            <a:off x="8595360" y="3822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0" name="Text 16"/>
          <p:cNvSpPr txBox="1"/>
          <p:nvPr/>
        </p:nvSpPr>
        <p:spPr>
          <a:xfrm>
            <a:off x="9006840" y="3776472"/>
            <a:ext cx="2743200" cy="731520"/>
          </a:xfrm>
          <a:prstGeom prst="rect">
            <a:avLst/>
          </a:prstGeom>
          <a:noFill/>
          <a:ln/>
        </p:spPr>
        <p:txBody>
          <a:bodyPr wrap="square" lIns="0" tIns="0" rIns="0" bIns="0" rtlCol="0" anchor="t"/>
          <a:lstStyle/>
          <a:p>
            <a:pPr indent="0" marL="0">
              <a:buNone/>
            </a:pPr>
            <a:r>
              <a:rPr lang="en-US" sz="1100" b="1" dirty="0">
                <a:solidFill>
                  <a:srgbClr val="E6EDF5"/>
                </a:solidFill>
                <a:latin typeface="Calibri" pitchFamily="34" charset="0"/>
                <a:ea typeface="Calibri" pitchFamily="34" charset="-122"/>
                <a:cs typeface="Calibri" pitchFamily="34" charset="-120"/>
              </a:rPr>
              <a:t>Plate reads  </a:t>
            </a:r>
            <a:pPr indent="0" marL="0">
              <a:buNone/>
            </a:pPr>
            <a:r>
              <a:rPr lang="en-US" sz="1100" dirty="0">
                <a:solidFill>
                  <a:srgbClr val="8A97A6"/>
                </a:solidFill>
                <a:latin typeface="Calibri" pitchFamily="34" charset="0"/>
                <a:ea typeface="Calibri" pitchFamily="34" charset="-122"/>
                <a:cs typeface="Calibri" pitchFamily="34" charset="-120"/>
              </a:rPr>
              <a:t>Deduplicated sightings, newest first, one click to the route.</a:t>
            </a:r>
            <a:endParaRPr lang="en-US" sz="1100" dirty="0"/>
          </a:p>
        </p:txBody>
      </p:sp>
      <p:sp>
        <p:nvSpPr>
          <p:cNvPr id="21" name="Shape 17"/>
          <p:cNvSpPr/>
          <p:nvPr/>
        </p:nvSpPr>
        <p:spPr>
          <a:xfrm>
            <a:off x="8595360" y="4608576"/>
            <a:ext cx="292608" cy="292608"/>
          </a:xfrm>
          <a:prstGeom prst="ellipse">
            <a:avLst/>
          </a:prstGeom>
          <a:solidFill>
            <a:srgbClr val="3D7FD6"/>
          </a:solidFill>
          <a:ln w="12700">
            <a:solidFill>
              <a:srgbClr val="3D7FD6"/>
            </a:solidFill>
            <a:prstDash val="solid"/>
          </a:ln>
        </p:spPr>
      </p:sp>
      <p:sp>
        <p:nvSpPr>
          <p:cNvPr id="22" name="Text 18"/>
          <p:cNvSpPr txBox="1"/>
          <p:nvPr/>
        </p:nvSpPr>
        <p:spPr>
          <a:xfrm>
            <a:off x="8595360" y="460857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3" name="Text 19"/>
          <p:cNvSpPr txBox="1"/>
          <p:nvPr/>
        </p:nvSpPr>
        <p:spPr>
          <a:xfrm>
            <a:off x="9006840" y="4562856"/>
            <a:ext cx="2743200" cy="731520"/>
          </a:xfrm>
          <a:prstGeom prst="rect">
            <a:avLst/>
          </a:prstGeom>
          <a:noFill/>
          <a:ln/>
        </p:spPr>
        <p:txBody>
          <a:bodyPr wrap="square" lIns="0" tIns="0" rIns="0" bIns="0" rtlCol="0" anchor="t"/>
          <a:lstStyle/>
          <a:p>
            <a:pPr indent="0" marL="0">
              <a:buNone/>
            </a:pPr>
            <a:r>
              <a:rPr lang="en-US" sz="1100" b="1" dirty="0">
                <a:solidFill>
                  <a:srgbClr val="E6EDF5"/>
                </a:solidFill>
                <a:latin typeface="Calibri" pitchFamily="34" charset="0"/>
                <a:ea typeface="Calibri" pitchFamily="34" charset="-122"/>
                <a:cs typeface="Calibri" pitchFamily="34" charset="-120"/>
              </a:rPr>
              <a:t>Analytics  </a:t>
            </a:r>
            <a:pPr indent="0" marL="0">
              <a:buNone/>
            </a:pPr>
            <a:r>
              <a:rPr lang="en-US" sz="1100" dirty="0">
                <a:solidFill>
                  <a:srgbClr val="8A97A6"/>
                </a:solidFill>
                <a:latin typeface="Calibri" pitchFamily="34" charset="0"/>
                <a:ea typeface="Calibri" pitchFamily="34" charset="-122"/>
                <a:cs typeface="Calibri" pitchFamily="34" charset="-120"/>
              </a:rPr>
              <a:t>Object counts, intrusion and line-crossing events.</a:t>
            </a:r>
            <a:endParaRPr lang="en-US" sz="1100" dirty="0"/>
          </a:p>
        </p:txBody>
      </p:sp>
      <p:sp>
        <p:nvSpPr>
          <p:cNvPr id="24" name="Shape 20"/>
          <p:cNvSpPr/>
          <p:nvPr/>
        </p:nvSpPr>
        <p:spPr>
          <a:xfrm>
            <a:off x="8595360" y="5394960"/>
            <a:ext cx="292608" cy="292608"/>
          </a:xfrm>
          <a:prstGeom prst="ellipse">
            <a:avLst/>
          </a:prstGeom>
          <a:solidFill>
            <a:srgbClr val="3D7FD6"/>
          </a:solidFill>
          <a:ln w="12700">
            <a:solidFill>
              <a:srgbClr val="3D7FD6"/>
            </a:solidFill>
            <a:prstDash val="solid"/>
          </a:ln>
        </p:spPr>
      </p:sp>
      <p:sp>
        <p:nvSpPr>
          <p:cNvPr id="25" name="Text 21"/>
          <p:cNvSpPr txBox="1"/>
          <p:nvPr/>
        </p:nvSpPr>
        <p:spPr>
          <a:xfrm>
            <a:off x="8595360" y="53949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6" name="Text 22"/>
          <p:cNvSpPr txBox="1"/>
          <p:nvPr/>
        </p:nvSpPr>
        <p:spPr>
          <a:xfrm>
            <a:off x="9006840" y="5349240"/>
            <a:ext cx="2743200" cy="731520"/>
          </a:xfrm>
          <a:prstGeom prst="rect">
            <a:avLst/>
          </a:prstGeom>
          <a:noFill/>
          <a:ln/>
        </p:spPr>
        <p:txBody>
          <a:bodyPr wrap="square" lIns="0" tIns="0" rIns="0" bIns="0" rtlCol="0" anchor="t"/>
          <a:lstStyle/>
          <a:p>
            <a:pPr indent="0" marL="0">
              <a:buNone/>
            </a:pPr>
            <a:r>
              <a:rPr lang="en-US" sz="1100" b="1" dirty="0">
                <a:solidFill>
                  <a:srgbClr val="E6EDF5"/>
                </a:solidFill>
                <a:latin typeface="Calibri" pitchFamily="34" charset="0"/>
                <a:ea typeface="Calibri" pitchFamily="34" charset="-122"/>
                <a:cs typeface="Calibri" pitchFamily="34" charset="-120"/>
              </a:rPr>
              <a:t>Workers  </a:t>
            </a:r>
            <a:pPr indent="0" marL="0">
              <a:buNone/>
            </a:pPr>
            <a:r>
              <a:rPr lang="en-US" sz="1100" dirty="0">
                <a:solidFill>
                  <a:srgbClr val="8A97A6"/>
                </a:solidFill>
                <a:latin typeface="Calibri" pitchFamily="34" charset="0"/>
                <a:ea typeface="Calibri" pitchFamily="34" charset="-122"/>
                <a:cs typeface="Calibri" pitchFamily="34" charset="-120"/>
              </a:rPr>
              <a:t>Sustained fps, motion-skip rate, detections per minute per camera.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Architecture: one pull, three pipelines, one registry</a:t>
            </a:r>
            <a:endParaRPr lang="en-US" sz="3000" dirty="0"/>
          </a:p>
        </p:txBody>
      </p:sp>
      <p:sp>
        <p:nvSpPr>
          <p:cNvPr id="5" name="Shape 2"/>
          <p:cNvSpPr/>
          <p:nvPr/>
        </p:nvSpPr>
        <p:spPr>
          <a:xfrm>
            <a:off x="457200" y="1371600"/>
            <a:ext cx="11247120" cy="731520"/>
          </a:xfrm>
          <a:prstGeom prst="roundRect">
            <a:avLst>
              <a:gd name="adj" fmla="val 15000"/>
            </a:avLst>
          </a:prstGeom>
          <a:solidFill>
            <a:srgbClr val="111823"/>
          </a:solidFill>
          <a:ln w="9525">
            <a:solidFill>
              <a:srgbClr val="1E2A3A"/>
            </a:solidFill>
            <a:prstDash val="solid"/>
          </a:ln>
        </p:spPr>
      </p:sp>
      <p:sp>
        <p:nvSpPr>
          <p:cNvPr id="6" name="Text 3"/>
          <p:cNvSpPr txBox="1"/>
          <p:nvPr/>
        </p:nvSpPr>
        <p:spPr>
          <a:xfrm>
            <a:off x="685800" y="1417320"/>
            <a:ext cx="10881360" cy="640080"/>
          </a:xfrm>
          <a:prstGeom prst="rect">
            <a:avLst/>
          </a:prstGeom>
          <a:noFill/>
          <a:ln/>
        </p:spPr>
        <p:txBody>
          <a:bodyPr wrap="square" lIns="0" tIns="0" rIns="0" bIns="0" rtlCol="0" anchor="ctr"/>
          <a:lstStyle/>
          <a:p>
            <a:pPr indent="0" marL="0">
              <a:buNone/>
            </a:pPr>
            <a:r>
              <a:rPr lang="en-US" sz="1200" b="1" dirty="0">
                <a:solidFill>
                  <a:srgbClr val="3D7FD6"/>
                </a:solidFill>
                <a:latin typeface="Calibri" pitchFamily="34" charset="0"/>
                <a:ea typeface="Calibri" pitchFamily="34" charset="-122"/>
                <a:cs typeface="Calibri" pitchFamily="34" charset="-120"/>
              </a:rPr>
              <a:t>MODEL 1 REGISTRY + GIS   </a:t>
            </a:r>
            <a:pPr indent="0" marL="0">
              <a:buNone/>
            </a:pPr>
            <a:r>
              <a:rPr lang="en-US" sz="1200" dirty="0">
                <a:solidFill>
                  <a:srgbClr val="E6EDF5"/>
                </a:solidFill>
                <a:latin typeface="Calibri" pitchFamily="34" charset="0"/>
                <a:ea typeface="Calibri" pitchFamily="34" charset="-122"/>
                <a:cs typeface="Calibri" pitchFamily="34" charset="-120"/>
              </a:rPr>
              <a:t>the control plane: id, department, location, stream URLs, codec, health, fps tier, ROI, zones. Populated from the catalogue. Nothing downstream hard-codes a camera.</a:t>
            </a:r>
            <a:endParaRPr lang="en-US" sz="1200" dirty="0"/>
          </a:p>
        </p:txBody>
      </p:sp>
      <p:sp>
        <p:nvSpPr>
          <p:cNvPr id="7" name="Shape 4"/>
          <p:cNvSpPr/>
          <p:nvPr/>
        </p:nvSpPr>
        <p:spPr>
          <a:xfrm>
            <a:off x="4480560" y="2331720"/>
            <a:ext cx="3200400" cy="548640"/>
          </a:xfrm>
          <a:prstGeom prst="roundRect">
            <a:avLst>
              <a:gd name="adj" fmla="val 16667"/>
            </a:avLst>
          </a:prstGeom>
          <a:solidFill>
            <a:srgbClr val="16202E"/>
          </a:solidFill>
          <a:ln w="12700">
            <a:solidFill>
              <a:srgbClr val="3D7FD6"/>
            </a:solidFill>
            <a:prstDash val="solid"/>
          </a:ln>
        </p:spPr>
      </p:sp>
      <p:sp>
        <p:nvSpPr>
          <p:cNvPr id="8" name="Text 5"/>
          <p:cNvSpPr txBox="1"/>
          <p:nvPr/>
        </p:nvSpPr>
        <p:spPr>
          <a:xfrm>
            <a:off x="4480560" y="2331720"/>
            <a:ext cx="3200400" cy="548640"/>
          </a:xfrm>
          <a:prstGeom prst="rect">
            <a:avLst/>
          </a:prstGeom>
          <a:noFill/>
          <a:ln/>
        </p:spPr>
        <p:txBody>
          <a:bodyPr wrap="square" lIns="0" tIns="0" rIns="0" bIns="0" rtlCol="0" anchor="ctr"/>
          <a:lstStyle/>
          <a:p>
            <a:pPr algn="ctr" indent="0" marL="0">
              <a:buNone/>
            </a:pPr>
            <a:r>
              <a:rPr lang="en-US" sz="1100" b="1" dirty="0">
                <a:solidFill>
                  <a:srgbClr val="E6EDF5"/>
                </a:solidFill>
                <a:latin typeface="Calibri" pitchFamily="34" charset="0"/>
                <a:ea typeface="Calibri" pitchFamily="34" charset="-122"/>
                <a:cs typeface="Calibri" pitchFamily="34" charset="-120"/>
              </a:rPr>
              <a:t>CAMERA GRID  &gt;  ONE pull per camera  &gt;  INGEST WORKER</a:t>
            </a:r>
            <a:endParaRPr lang="en-US" sz="1100" dirty="0"/>
          </a:p>
        </p:txBody>
      </p:sp>
      <p:sp>
        <p:nvSpPr>
          <p:cNvPr id="9" name="Shape 6"/>
          <p:cNvSpPr/>
          <p:nvPr/>
        </p:nvSpPr>
        <p:spPr>
          <a:xfrm>
            <a:off x="6080760" y="2880360"/>
            <a:ext cx="0" cy="320040"/>
          </a:xfrm>
          <a:prstGeom prst="line">
            <a:avLst/>
          </a:prstGeom>
          <a:noFill/>
          <a:ln w="12700">
            <a:solidFill>
              <a:srgbClr val="1E2A3A"/>
            </a:solidFill>
            <a:prstDash val="solid"/>
          </a:ln>
        </p:spPr>
      </p:sp>
      <p:sp>
        <p:nvSpPr>
          <p:cNvPr id="10" name="Shape 7"/>
          <p:cNvSpPr/>
          <p:nvPr/>
        </p:nvSpPr>
        <p:spPr>
          <a:xfrm>
            <a:off x="457200" y="3200400"/>
            <a:ext cx="3657600" cy="2331720"/>
          </a:xfrm>
          <a:prstGeom prst="roundRect">
            <a:avLst>
              <a:gd name="adj" fmla="val 4706"/>
            </a:avLst>
          </a:prstGeom>
          <a:solidFill>
            <a:srgbClr val="111823"/>
          </a:solidFill>
          <a:ln w="9525">
            <a:solidFill>
              <a:srgbClr val="1E2A3A"/>
            </a:solidFill>
            <a:prstDash val="solid"/>
          </a:ln>
        </p:spPr>
      </p:sp>
      <p:sp>
        <p:nvSpPr>
          <p:cNvPr id="11" name="Text 8"/>
          <p:cNvSpPr txBox="1"/>
          <p:nvPr/>
        </p:nvSpPr>
        <p:spPr>
          <a:xfrm>
            <a:off x="640080" y="3291840"/>
            <a:ext cx="3291840" cy="320040"/>
          </a:xfrm>
          <a:prstGeom prst="rect">
            <a:avLst/>
          </a:prstGeom>
          <a:noFill/>
          <a:ln/>
        </p:spPr>
        <p:txBody>
          <a:bodyPr wrap="square" lIns="0" tIns="0" rIns="0" bIns="0" rtlCol="0" anchor="ctr"/>
          <a:lstStyle/>
          <a:p>
            <a:pPr indent="0" marL="0">
              <a:buNone/>
            </a:pPr>
            <a:r>
              <a:rPr lang="en-US" sz="1200" b="1" dirty="0">
                <a:solidFill>
                  <a:srgbClr val="39A56A"/>
                </a:solidFill>
                <a:latin typeface="Calibri" pitchFamily="34" charset="0"/>
                <a:ea typeface="Calibri" pitchFamily="34" charset="-122"/>
                <a:cs typeface="Calibri" pitchFamily="34" charset="-120"/>
              </a:rPr>
              <a:t>PIPELINE 1  ·  LIVE VIEW</a:t>
            </a:r>
            <a:endParaRPr lang="en-US" sz="1200" dirty="0"/>
          </a:p>
        </p:txBody>
      </p:sp>
      <p:sp>
        <p:nvSpPr>
          <p:cNvPr id="12" name="Text 9"/>
          <p:cNvSpPr txBox="1"/>
          <p:nvPr/>
        </p:nvSpPr>
        <p:spPr>
          <a:xfrm>
            <a:off x="594360" y="3639312"/>
            <a:ext cx="3383280" cy="1463040"/>
          </a:xfrm>
          <a:prstGeom prst="rect">
            <a:avLst/>
          </a:prstGeom>
          <a:noFill/>
          <a:ln/>
        </p:spPr>
        <p:txBody>
          <a:bodyPr wrap="square" lIns="25400" tIns="25400" rIns="25400" bIns="25400" rtlCol="0" anchor="t"/>
          <a:lstStyle/>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Relay to the control room</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hls.js tiles, backend holds the session</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Persists: NOTHING</a:t>
            </a:r>
            <a:endParaRPr lang="en-US" sz="1100" dirty="0"/>
          </a:p>
        </p:txBody>
      </p:sp>
      <p:sp>
        <p:nvSpPr>
          <p:cNvPr id="13" name="Text 10"/>
          <p:cNvSpPr txBox="1"/>
          <p:nvPr/>
        </p:nvSpPr>
        <p:spPr>
          <a:xfrm>
            <a:off x="640080" y="5120640"/>
            <a:ext cx="3291840" cy="320040"/>
          </a:xfrm>
          <a:prstGeom prst="rect">
            <a:avLst/>
          </a:prstGeom>
          <a:noFill/>
          <a:ln/>
        </p:spPr>
        <p:txBody>
          <a:bodyPr wrap="square" lIns="0" tIns="0" rIns="0" bIns="0" rtlCol="0" anchor="ctr"/>
          <a:lstStyle/>
          <a:p>
            <a:pPr indent="0" marL="0">
              <a:buNone/>
            </a:pPr>
            <a:r>
              <a:rPr lang="en-US" sz="1100" i="1" dirty="0">
                <a:solidFill>
                  <a:srgbClr val="8A97A6"/>
                </a:solidFill>
                <a:latin typeface="Calibri" pitchFamily="34" charset="0"/>
                <a:ea typeface="Calibri" pitchFamily="34" charset="-122"/>
                <a:cs typeface="Calibri" pitchFamily="34" charset="-120"/>
              </a:rPr>
              <a:t>stores nothing</a:t>
            </a:r>
            <a:endParaRPr lang="en-US" sz="1100" dirty="0"/>
          </a:p>
        </p:txBody>
      </p:sp>
      <p:sp>
        <p:nvSpPr>
          <p:cNvPr id="14" name="Shape 11"/>
          <p:cNvSpPr/>
          <p:nvPr/>
        </p:nvSpPr>
        <p:spPr>
          <a:xfrm>
            <a:off x="6080760" y="2880360"/>
            <a:ext cx="0" cy="320040"/>
          </a:xfrm>
          <a:prstGeom prst="line">
            <a:avLst/>
          </a:prstGeom>
          <a:noFill/>
          <a:ln w="12700">
            <a:solidFill>
              <a:srgbClr val="1E2A3A"/>
            </a:solidFill>
            <a:prstDash val="solid"/>
          </a:ln>
        </p:spPr>
      </p:sp>
      <p:sp>
        <p:nvSpPr>
          <p:cNvPr id="15" name="Shape 12"/>
          <p:cNvSpPr/>
          <p:nvPr/>
        </p:nvSpPr>
        <p:spPr>
          <a:xfrm>
            <a:off x="4251960" y="3200400"/>
            <a:ext cx="3657600" cy="2331720"/>
          </a:xfrm>
          <a:prstGeom prst="roundRect">
            <a:avLst>
              <a:gd name="adj" fmla="val 4706"/>
            </a:avLst>
          </a:prstGeom>
          <a:solidFill>
            <a:srgbClr val="111823"/>
          </a:solidFill>
          <a:ln w="9525">
            <a:solidFill>
              <a:srgbClr val="1E2A3A"/>
            </a:solidFill>
            <a:prstDash val="solid"/>
          </a:ln>
        </p:spPr>
      </p:sp>
      <p:sp>
        <p:nvSpPr>
          <p:cNvPr id="16" name="Text 13"/>
          <p:cNvSpPr txBox="1"/>
          <p:nvPr/>
        </p:nvSpPr>
        <p:spPr>
          <a:xfrm>
            <a:off x="4434840" y="3291840"/>
            <a:ext cx="3291840" cy="320040"/>
          </a:xfrm>
          <a:prstGeom prst="rect">
            <a:avLst/>
          </a:prstGeom>
          <a:noFill/>
          <a:ln/>
        </p:spPr>
        <p:txBody>
          <a:bodyPr wrap="square" lIns="0" tIns="0" rIns="0" bIns="0" rtlCol="0" anchor="ctr"/>
          <a:lstStyle/>
          <a:p>
            <a:pPr indent="0" marL="0">
              <a:buNone/>
            </a:pPr>
            <a:r>
              <a:rPr lang="en-US" sz="1200" b="1" dirty="0">
                <a:solidFill>
                  <a:srgbClr val="3D7FD6"/>
                </a:solidFill>
                <a:latin typeface="Calibri" pitchFamily="34" charset="0"/>
                <a:ea typeface="Calibri" pitchFamily="34" charset="-122"/>
                <a:cs typeface="Calibri" pitchFamily="34" charset="-120"/>
              </a:rPr>
              <a:t>PIPELINE 2  ·  AI ANALYTICS</a:t>
            </a:r>
            <a:endParaRPr lang="en-US" sz="1200" dirty="0"/>
          </a:p>
        </p:txBody>
      </p:sp>
      <p:sp>
        <p:nvSpPr>
          <p:cNvPr id="17" name="Text 14"/>
          <p:cNvSpPr txBox="1"/>
          <p:nvPr/>
        </p:nvSpPr>
        <p:spPr>
          <a:xfrm>
            <a:off x="4389120" y="3639312"/>
            <a:ext cx="3383280" cy="1463040"/>
          </a:xfrm>
          <a:prstGeom prst="rect">
            <a:avLst/>
          </a:prstGeom>
          <a:noFill/>
          <a:ln/>
        </p:spPr>
        <p:txBody>
          <a:bodyPr wrap="square" lIns="25400" tIns="25400" rIns="25400" bIns="25400" rtlCol="0" anchor="t"/>
          <a:lstStyle/>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Motion gate, detect, track, crop, OCR</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Match against the LOCAL watchlist</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Persists: text rows plus a 2 KB plate crop</a:t>
            </a:r>
            <a:endParaRPr lang="en-US" sz="1100" dirty="0"/>
          </a:p>
        </p:txBody>
      </p:sp>
      <p:sp>
        <p:nvSpPr>
          <p:cNvPr id="18" name="Text 15"/>
          <p:cNvSpPr txBox="1"/>
          <p:nvPr/>
        </p:nvSpPr>
        <p:spPr>
          <a:xfrm>
            <a:off x="4434840" y="5120640"/>
            <a:ext cx="3291840" cy="320040"/>
          </a:xfrm>
          <a:prstGeom prst="rect">
            <a:avLst/>
          </a:prstGeom>
          <a:noFill/>
          <a:ln/>
        </p:spPr>
        <p:txBody>
          <a:bodyPr wrap="square" lIns="0" tIns="0" rIns="0" bIns="0" rtlCol="0" anchor="ctr"/>
          <a:lstStyle/>
          <a:p>
            <a:pPr indent="0" marL="0">
              <a:buNone/>
            </a:pPr>
            <a:r>
              <a:rPr lang="en-US" sz="1100" i="1" dirty="0">
                <a:solidFill>
                  <a:srgbClr val="8A97A6"/>
                </a:solidFill>
                <a:latin typeface="Calibri" pitchFamily="34" charset="0"/>
                <a:ea typeface="Calibri" pitchFamily="34" charset="-122"/>
                <a:cs typeface="Calibri" pitchFamily="34" charset="-120"/>
              </a:rPr>
              <a:t>text and crop only</a:t>
            </a:r>
            <a:endParaRPr lang="en-US" sz="1100" dirty="0"/>
          </a:p>
        </p:txBody>
      </p:sp>
      <p:sp>
        <p:nvSpPr>
          <p:cNvPr id="19" name="Shape 16"/>
          <p:cNvSpPr/>
          <p:nvPr/>
        </p:nvSpPr>
        <p:spPr>
          <a:xfrm>
            <a:off x="6080760" y="2880360"/>
            <a:ext cx="0" cy="320040"/>
          </a:xfrm>
          <a:prstGeom prst="line">
            <a:avLst/>
          </a:prstGeom>
          <a:noFill/>
          <a:ln w="12700">
            <a:solidFill>
              <a:srgbClr val="1E2A3A"/>
            </a:solidFill>
            <a:prstDash val="solid"/>
          </a:ln>
        </p:spPr>
      </p:sp>
      <p:sp>
        <p:nvSpPr>
          <p:cNvPr id="20" name="Shape 17"/>
          <p:cNvSpPr/>
          <p:nvPr/>
        </p:nvSpPr>
        <p:spPr>
          <a:xfrm>
            <a:off x="8046720" y="3200400"/>
            <a:ext cx="3657600" cy="2331720"/>
          </a:xfrm>
          <a:prstGeom prst="roundRect">
            <a:avLst>
              <a:gd name="adj" fmla="val 4706"/>
            </a:avLst>
          </a:prstGeom>
          <a:solidFill>
            <a:srgbClr val="111823"/>
          </a:solidFill>
          <a:ln w="9525">
            <a:solidFill>
              <a:srgbClr val="1E2A3A"/>
            </a:solidFill>
            <a:prstDash val="solid"/>
          </a:ln>
        </p:spPr>
      </p:sp>
      <p:sp>
        <p:nvSpPr>
          <p:cNvPr id="21" name="Text 18"/>
          <p:cNvSpPr txBox="1"/>
          <p:nvPr/>
        </p:nvSpPr>
        <p:spPr>
          <a:xfrm>
            <a:off x="8229600" y="3291840"/>
            <a:ext cx="3291840" cy="320040"/>
          </a:xfrm>
          <a:prstGeom prst="rect">
            <a:avLst/>
          </a:prstGeom>
          <a:noFill/>
          <a:ln/>
        </p:spPr>
        <p:txBody>
          <a:bodyPr wrap="square" lIns="0" tIns="0" rIns="0" bIns="0" rtlCol="0" anchor="ctr"/>
          <a:lstStyle/>
          <a:p>
            <a:pPr indent="0" marL="0">
              <a:buNone/>
            </a:pPr>
            <a:r>
              <a:rPr lang="en-US" sz="1200" b="1" dirty="0">
                <a:solidFill>
                  <a:srgbClr val="E0912F"/>
                </a:solidFill>
                <a:latin typeface="Calibri" pitchFamily="34" charset="0"/>
                <a:ea typeface="Calibri" pitchFamily="34" charset="-122"/>
                <a:cs typeface="Calibri" pitchFamily="34" charset="-120"/>
              </a:rPr>
              <a:t>PIPELINE 3  ·  EVIDENCE</a:t>
            </a:r>
            <a:endParaRPr lang="en-US" sz="1200" dirty="0"/>
          </a:p>
        </p:txBody>
      </p:sp>
      <p:sp>
        <p:nvSpPr>
          <p:cNvPr id="22" name="Text 19"/>
          <p:cNvSpPr txBox="1"/>
          <p:nvPr/>
        </p:nvSpPr>
        <p:spPr>
          <a:xfrm>
            <a:off x="8183880" y="3639312"/>
            <a:ext cx="3383280" cy="1463040"/>
          </a:xfrm>
          <a:prstGeom prst="rect">
            <a:avLst/>
          </a:prstGeom>
          <a:noFill/>
          <a:ln/>
        </p:spPr>
        <p:txBody>
          <a:bodyPr wrap="square" lIns="25400" tIns="25400" rIns="25400" bIns="25400" rtlCol="0" anchor="t"/>
          <a:lstStyle/>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Fixed-size rolling buffer per camera</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Promote 30 s either side, on a watchlist match only</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Persists: clip, SHA-256, audit row</a:t>
            </a:r>
            <a:endParaRPr lang="en-US" sz="1100" dirty="0"/>
          </a:p>
        </p:txBody>
      </p:sp>
      <p:sp>
        <p:nvSpPr>
          <p:cNvPr id="23" name="Text 20"/>
          <p:cNvSpPr txBox="1"/>
          <p:nvPr/>
        </p:nvSpPr>
        <p:spPr>
          <a:xfrm>
            <a:off x="8229600" y="5120640"/>
            <a:ext cx="3291840" cy="320040"/>
          </a:xfrm>
          <a:prstGeom prst="rect">
            <a:avLst/>
          </a:prstGeom>
          <a:noFill/>
          <a:ln/>
        </p:spPr>
        <p:txBody>
          <a:bodyPr wrap="square" lIns="0" tIns="0" rIns="0" bIns="0" rtlCol="0" anchor="ctr"/>
          <a:lstStyle/>
          <a:p>
            <a:pPr indent="0" marL="0">
              <a:buNone/>
            </a:pPr>
            <a:r>
              <a:rPr lang="en-US" sz="1100" i="1" dirty="0">
                <a:solidFill>
                  <a:srgbClr val="8A97A6"/>
                </a:solidFill>
                <a:latin typeface="Calibri" pitchFamily="34" charset="0"/>
                <a:ea typeface="Calibri" pitchFamily="34" charset="-122"/>
                <a:cs typeface="Calibri" pitchFamily="34" charset="-120"/>
              </a:rPr>
              <a:t>on justified cause only</a:t>
            </a:r>
            <a:endParaRPr lang="en-US" sz="1100" dirty="0"/>
          </a:p>
        </p:txBody>
      </p:sp>
      <p:sp>
        <p:nvSpPr>
          <p:cNvPr id="24" name="Text 21"/>
          <p:cNvSpPr txBox="1"/>
          <p:nvPr/>
        </p:nvSpPr>
        <p:spPr>
          <a:xfrm>
            <a:off x="457200" y="5669280"/>
            <a:ext cx="11247120" cy="640080"/>
          </a:xfrm>
          <a:prstGeom prst="rect">
            <a:avLst/>
          </a:prstGeom>
          <a:noFill/>
          <a:ln/>
        </p:spPr>
        <p:txBody>
          <a:bodyPr wrap="square" lIns="0" tIns="0" rIns="0" bIns="0" rtlCol="0" anchor="ctr"/>
          <a:lstStyle/>
          <a:p>
            <a:pPr indent="0" marL="0">
              <a:buNone/>
            </a:pPr>
            <a:r>
              <a:rPr lang="en-US" sz="1200" b="1" dirty="0">
                <a:solidFill>
                  <a:srgbClr val="E6EDF5"/>
                </a:solidFill>
                <a:latin typeface="Calibri" pitchFamily="34" charset="0"/>
                <a:ea typeface="Calibri" pitchFamily="34" charset="-122"/>
                <a:cs typeface="Calibri" pitchFamily="34" charset="-120"/>
              </a:rPr>
              <a:t>Governing rule: </a:t>
            </a:r>
            <a:pPr indent="0" marL="0">
              <a:buNone/>
            </a:pPr>
            <a:r>
              <a:rPr lang="en-US" sz="1200" dirty="0">
                <a:solidFill>
                  <a:srgbClr val="8A97A6"/>
                </a:solidFill>
                <a:latin typeface="Calibri" pitchFamily="34" charset="0"/>
                <a:ea typeface="Calibri" pitchFamily="34" charset="-122"/>
                <a:cs typeface="Calibri" pitchFamily="34" charset="-120"/>
              </a:rPr>
              <a:t>video becomes permanent only where a specific, logged, auditable watchlist match justifies it. This is a civil-liberties position as much as a capacity one, and it maps onto the privacy and auditability bonus criteria.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Model 1: registry, GIS and the named deliverables</a:t>
            </a:r>
            <a:endParaRPr lang="en-US" sz="3000" dirty="0"/>
          </a:p>
        </p:txBody>
      </p:sp>
      <p:pic>
        <p:nvPicPr>
          <p:cNvPr id="5" name="Image 0" descr="/home/claude/work/deliverables/deck/img/map.png">    </p:cNvPr>
          <p:cNvPicPr>
            <a:picLocks noChangeAspect="1"/>
          </p:cNvPicPr>
          <p:nvPr/>
        </p:nvPicPr>
        <p:blipFill>
          <a:blip r:embed="rId1"/>
          <a:stretch>
            <a:fillRect/>
          </a:stretch>
        </p:blipFill>
        <p:spPr>
          <a:xfrm>
            <a:off x="457200" y="1417320"/>
            <a:ext cx="6949440" cy="3909060"/>
          </a:xfrm>
          <a:prstGeom prst="rect">
            <a:avLst/>
          </a:prstGeom>
        </p:spPr>
      </p:pic>
      <p:sp>
        <p:nvSpPr>
          <p:cNvPr id="6" name="Shape 2"/>
          <p:cNvSpPr/>
          <p:nvPr/>
        </p:nvSpPr>
        <p:spPr>
          <a:xfrm>
            <a:off x="457200" y="1417320"/>
            <a:ext cx="6949440" cy="3909060"/>
          </a:xfrm>
          <a:prstGeom prst="rect">
            <a:avLst/>
          </a:prstGeom>
          <a:solidFill>
            <a:srgbClr val="0A0E14">
              <a:alpha val="0"/>
            </a:srgbClr>
          </a:solidFill>
          <a:ln w="9525">
            <a:solidFill>
              <a:srgbClr val="1E2A3A"/>
            </a:solidFill>
            <a:prstDash val="solid"/>
          </a:ln>
        </p:spPr>
      </p:sp>
      <p:sp>
        <p:nvSpPr>
          <p:cNvPr id="7" name="Text 3"/>
          <p:cNvSpPr txBox="1"/>
          <p:nvPr/>
        </p:nvSpPr>
        <p:spPr>
          <a:xfrm>
            <a:off x="457200" y="5381244"/>
            <a:ext cx="694944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GIS view: 30 cameras, coloured by department, with filters and a click-through record (dev capture; basemap tiles load online)</a:t>
            </a:r>
            <a:endParaRPr lang="en-US" sz="900" dirty="0"/>
          </a:p>
        </p:txBody>
      </p:sp>
      <p:sp>
        <p:nvSpPr>
          <p:cNvPr id="8" name="Shape 4"/>
          <p:cNvSpPr/>
          <p:nvPr/>
        </p:nvSpPr>
        <p:spPr>
          <a:xfrm>
            <a:off x="7680960" y="1417320"/>
            <a:ext cx="4023360" cy="4480560"/>
          </a:xfrm>
          <a:prstGeom prst="roundRect">
            <a:avLst>
              <a:gd name="adj" fmla="val 2727"/>
            </a:avLst>
          </a:prstGeom>
          <a:solidFill>
            <a:srgbClr val="111823"/>
          </a:solidFill>
          <a:ln w="9525">
            <a:solidFill>
              <a:srgbClr val="1E2A3A"/>
            </a:solidFill>
            <a:prstDash val="solid"/>
          </a:ln>
        </p:spPr>
      </p:sp>
      <p:sp>
        <p:nvSpPr>
          <p:cNvPr id="9" name="Text 5"/>
          <p:cNvSpPr txBox="1"/>
          <p:nvPr/>
        </p:nvSpPr>
        <p:spPr>
          <a:xfrm>
            <a:off x="7909560" y="1554480"/>
            <a:ext cx="3657600" cy="274320"/>
          </a:xfrm>
          <a:prstGeom prst="rect">
            <a:avLst/>
          </a:prstGeom>
          <a:noFill/>
          <a:ln/>
        </p:spPr>
        <p:txBody>
          <a:bodyPr wrap="square" lIns="0" tIns="0" rIns="0" bIns="0" rtlCol="0" anchor="ctr"/>
          <a:lstStyle/>
          <a:p>
            <a:pPr indent="0" marL="0">
              <a:buNone/>
            </a:pPr>
            <a:r>
              <a:rPr lang="en-US" sz="1100" dirty="0">
                <a:solidFill>
                  <a:srgbClr val="39A56A"/>
                </a:solidFill>
                <a:latin typeface="Calibri" pitchFamily="34" charset="0"/>
                <a:ea typeface="Calibri" pitchFamily="34" charset="-122"/>
                <a:cs typeface="Calibri" pitchFamily="34" charset="-120"/>
              </a:rPr>
              <a:t>MODEL 1 DELIVERABLES: CLOSED</a:t>
            </a:r>
            <a:endParaRPr lang="en-US" sz="1100" dirty="0"/>
          </a:p>
        </p:txBody>
      </p:sp>
      <p:sp>
        <p:nvSpPr>
          <p:cNvPr id="10" name="Text 6"/>
          <p:cNvSpPr txBox="1"/>
          <p:nvPr/>
        </p:nvSpPr>
        <p:spPr>
          <a:xfrm>
            <a:off x="7909560" y="1874520"/>
            <a:ext cx="3657600" cy="3291840"/>
          </a:xfrm>
          <a:prstGeom prst="rect">
            <a:avLst/>
          </a:prstGeom>
          <a:noFill/>
          <a:ln/>
        </p:spPr>
        <p:txBody>
          <a:bodyPr wrap="square" lIns="25400" tIns="25400" rIns="25400" bIns="25400" rtlCol="0" anchor="t"/>
          <a:lstStyle/>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Working registry portal with a GIS map view</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Bulk CSV import with per-row accept and reject, plus manual and API onboarding</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Sample onboarded dataset: 30 cameras, 5 departments, 14 live</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Registry API documentation: OpenAPI, 26 operations, all described</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Gap-analysis report: offline and degraded cameras, plus isolated coverage by nearest-neighbour Haversine</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Health monitoring: online, degraded or offline, on a slow cadence</a:t>
            </a:r>
            <a:endParaRPr lang="en-US" sz="1150" dirty="0"/>
          </a:p>
        </p:txBody>
      </p:sp>
      <p:sp>
        <p:nvSpPr>
          <p:cNvPr id="11" name="Text 7"/>
          <p:cNvSpPr txBox="1"/>
          <p:nvPr/>
        </p:nvSpPr>
        <p:spPr>
          <a:xfrm>
            <a:off x="7909560" y="5120640"/>
            <a:ext cx="3657600" cy="731520"/>
          </a:xfrm>
          <a:prstGeom prst="rect">
            <a:avLst/>
          </a:prstGeom>
          <a:noFill/>
          <a:ln/>
        </p:spPr>
        <p:txBody>
          <a:bodyPr wrap="square" lIns="0" tIns="0" rIns="0" bIns="0" rtlCol="0" anchor="ctr"/>
          <a:lstStyle/>
          <a:p>
            <a:pPr indent="0" marL="0">
              <a:buNone/>
            </a:pPr>
            <a:r>
              <a:rPr lang="en-US" sz="1000" i="1" dirty="0">
                <a:solidFill>
                  <a:srgbClr val="8A97A6"/>
                </a:solidFill>
                <a:latin typeface="Calibri" pitchFamily="34" charset="0"/>
                <a:ea typeface="Calibri" pitchFamily="34" charset="-122"/>
                <a:cs typeface="Calibri" pitchFamily="34" charset="-120"/>
              </a:rPr>
              <a:t>Disclosed: the sandbox catalogue carries only id and name. Departments and coordinates were assigned once in a committed seed file, using real named locations and approximate coordinates, for demonstration.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Consuming the camera grid, as the sandbox actually is</a:t>
            </a:r>
            <a:endParaRPr lang="en-US" sz="3000" dirty="0"/>
          </a:p>
        </p:txBody>
      </p:sp>
      <p:pic>
        <p:nvPicPr>
          <p:cNvPr id="5" name="Image 0" descr="/home/claude/work/deliverables/deck/img/feed_cam01.jpg">    </p:cNvPr>
          <p:cNvPicPr>
            <a:picLocks noChangeAspect="1"/>
          </p:cNvPicPr>
          <p:nvPr/>
        </p:nvPicPr>
        <p:blipFill>
          <a:blip r:embed="rId1"/>
          <a:stretch>
            <a:fillRect/>
          </a:stretch>
        </p:blipFill>
        <p:spPr>
          <a:xfrm>
            <a:off x="457200" y="1417320"/>
            <a:ext cx="6583680" cy="3703320"/>
          </a:xfrm>
          <a:prstGeom prst="rect">
            <a:avLst/>
          </a:prstGeom>
        </p:spPr>
      </p:pic>
      <p:sp>
        <p:nvSpPr>
          <p:cNvPr id="6" name="Shape 2"/>
          <p:cNvSpPr/>
          <p:nvPr/>
        </p:nvSpPr>
        <p:spPr>
          <a:xfrm>
            <a:off x="457200" y="1417320"/>
            <a:ext cx="6583680" cy="3703320"/>
          </a:xfrm>
          <a:prstGeom prst="rect">
            <a:avLst/>
          </a:prstGeom>
          <a:solidFill>
            <a:srgbClr val="0A0E14">
              <a:alpha val="0"/>
            </a:srgbClr>
          </a:solidFill>
          <a:ln w="9525">
            <a:solidFill>
              <a:srgbClr val="1E2A3A"/>
            </a:solidFill>
            <a:prstDash val="solid"/>
          </a:ln>
        </p:spPr>
      </p:sp>
      <p:sp>
        <p:nvSpPr>
          <p:cNvPr id="7" name="Text 3"/>
          <p:cNvSpPr txBox="1"/>
          <p:nvPr/>
        </p:nvSpPr>
        <p:spPr>
          <a:xfrm>
            <a:off x="457200" y="5175504"/>
            <a:ext cx="658368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cam01 Chimanbhai Bridge, Ahmedabad: a real frame via the session-authenticated HLS path</a:t>
            </a:r>
            <a:endParaRPr lang="en-US" sz="900" dirty="0"/>
          </a:p>
        </p:txBody>
      </p:sp>
      <p:sp>
        <p:nvSpPr>
          <p:cNvPr id="8" name="Shape 4"/>
          <p:cNvSpPr/>
          <p:nvPr/>
        </p:nvSpPr>
        <p:spPr>
          <a:xfrm>
            <a:off x="7315200" y="1417320"/>
            <a:ext cx="4389120" cy="4754880"/>
          </a:xfrm>
          <a:prstGeom prst="roundRect">
            <a:avLst>
              <a:gd name="adj" fmla="val 2500"/>
            </a:avLst>
          </a:prstGeom>
          <a:solidFill>
            <a:srgbClr val="111823"/>
          </a:solidFill>
          <a:ln w="9525">
            <a:solidFill>
              <a:srgbClr val="1E2A3A"/>
            </a:solidFill>
            <a:prstDash val="solid"/>
          </a:ln>
        </p:spPr>
      </p:sp>
      <p:sp>
        <p:nvSpPr>
          <p:cNvPr id="9" name="Text 5"/>
          <p:cNvSpPr txBox="1"/>
          <p:nvPr/>
        </p:nvSpPr>
        <p:spPr>
          <a:xfrm>
            <a:off x="7543800" y="1554480"/>
            <a:ext cx="4023360" cy="274320"/>
          </a:xfrm>
          <a:prstGeom prst="rect">
            <a:avLst/>
          </a:prstGeom>
          <a:noFill/>
          <a:ln/>
        </p:spPr>
        <p:txBody>
          <a:bodyPr wrap="square" lIns="0" tIns="0" rIns="0" bIns="0" rtlCol="0" anchor="ctr"/>
          <a:lstStyle/>
          <a:p>
            <a:pPr indent="0" marL="0">
              <a:buNone/>
            </a:pPr>
            <a:r>
              <a:rPr lang="en-US" sz="1100" dirty="0">
                <a:solidFill>
                  <a:srgbClr val="3D7FD6"/>
                </a:solidFill>
                <a:latin typeface="Calibri" pitchFamily="34" charset="0"/>
                <a:ea typeface="Calibri" pitchFamily="34" charset="-122"/>
                <a:cs typeface="Calibri" pitchFamily="34" charset="-120"/>
              </a:rPr>
              <a:t>WHAT WE FOUND, AND HANDLED</a:t>
            </a:r>
            <a:endParaRPr lang="en-US" sz="1100" dirty="0"/>
          </a:p>
        </p:txBody>
      </p:sp>
      <p:sp>
        <p:nvSpPr>
          <p:cNvPr id="10" name="Text 6"/>
          <p:cNvSpPr txBox="1"/>
          <p:nvPr/>
        </p:nvSpPr>
        <p:spPr>
          <a:xfrm>
            <a:off x="7543800" y="1874520"/>
            <a:ext cx="4023360" cy="4206240"/>
          </a:xfrm>
          <a:prstGeom prst="rect">
            <a:avLst/>
          </a:prstGeom>
          <a:noFill/>
          <a:ln/>
        </p:spPr>
        <p:txBody>
          <a:bodyPr wrap="square" lIns="25400" tIns="25400" rIns="25400" bIns="25400" rtlCol="0" anchor="t"/>
          <a:lstStyle/>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A session-cookie gate on every path, with non-browser agents rejected. Handled by one shared authenticated session</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HLS served as a static 12-hour loop of AES-128 segments, decrypted in-pipeline, with playback position mapped onto one shared timeline for every camera</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RTSP over TCP where reachable, HLS fallback recorded per camera in the registry, never UDP</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All timing from PTS: 100 frames read with monotonic timestamps, 3 fps sampling verified by PTS span [measured]</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Jittered exponential backoff, resync and stream restart on the loop cut, exercised live against real 403s</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Consume-only: no publishing, no control API, no footage download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Video analytics: ANPR, objects, intrusion, tracking</a:t>
            </a:r>
            <a:endParaRPr lang="en-US" sz="3000" dirty="0"/>
          </a:p>
        </p:txBody>
      </p:sp>
      <p:pic>
        <p:nvPicPr>
          <p:cNvPr id="5" name="Image 0" descr="/home/claude/work/deliverables/deck/img/detection.jpg">    </p:cNvPr>
          <p:cNvPicPr>
            <a:picLocks noChangeAspect="1"/>
          </p:cNvPicPr>
          <p:nvPr/>
        </p:nvPicPr>
        <p:blipFill>
          <a:blip r:embed="rId1"/>
          <a:stretch>
            <a:fillRect/>
          </a:stretch>
        </p:blipFill>
        <p:spPr>
          <a:xfrm>
            <a:off x="457200" y="1417320"/>
            <a:ext cx="5852160" cy="3291840"/>
          </a:xfrm>
          <a:prstGeom prst="rect">
            <a:avLst/>
          </a:prstGeom>
        </p:spPr>
      </p:pic>
      <p:sp>
        <p:nvSpPr>
          <p:cNvPr id="6" name="Shape 2"/>
          <p:cNvSpPr/>
          <p:nvPr/>
        </p:nvSpPr>
        <p:spPr>
          <a:xfrm>
            <a:off x="457200" y="1417320"/>
            <a:ext cx="5852160" cy="3291840"/>
          </a:xfrm>
          <a:prstGeom prst="rect">
            <a:avLst/>
          </a:prstGeom>
          <a:solidFill>
            <a:srgbClr val="0A0E14">
              <a:alpha val="0"/>
            </a:srgbClr>
          </a:solidFill>
          <a:ln w="9525">
            <a:solidFill>
              <a:srgbClr val="1E2A3A"/>
            </a:solidFill>
            <a:prstDash val="solid"/>
          </a:ln>
        </p:spPr>
      </p:sp>
      <p:sp>
        <p:nvSpPr>
          <p:cNvPr id="7" name="Text 3"/>
          <p:cNvSpPr txBox="1"/>
          <p:nvPr/>
        </p:nvSpPr>
        <p:spPr>
          <a:xfrm>
            <a:off x="457200" y="4764024"/>
            <a:ext cx="585216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Real detections on cam08 Majevadi Gate, Junagadh (YOLOX-S on ONNX Runtime): car, truck, motorcycle, person</a:t>
            </a:r>
            <a:endParaRPr lang="en-US" sz="900" dirty="0"/>
          </a:p>
        </p:txBody>
      </p:sp>
      <p:sp>
        <p:nvSpPr>
          <p:cNvPr id="8" name="Shape 4"/>
          <p:cNvSpPr/>
          <p:nvPr/>
        </p:nvSpPr>
        <p:spPr>
          <a:xfrm>
            <a:off x="6583680" y="1490472"/>
            <a:ext cx="310896" cy="310896"/>
          </a:xfrm>
          <a:prstGeom prst="ellipse">
            <a:avLst/>
          </a:prstGeom>
          <a:solidFill>
            <a:srgbClr val="3D7FD6"/>
          </a:solidFill>
          <a:ln w="12700">
            <a:solidFill>
              <a:srgbClr val="3D7FD6"/>
            </a:solidFill>
            <a:prstDash val="solid"/>
          </a:ln>
        </p:spPr>
      </p:sp>
      <p:sp>
        <p:nvSpPr>
          <p:cNvPr id="9" name="Text 5"/>
          <p:cNvSpPr txBox="1"/>
          <p:nvPr/>
        </p:nvSpPr>
        <p:spPr>
          <a:xfrm>
            <a:off x="6583680" y="149047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6"/>
          <p:cNvSpPr txBox="1"/>
          <p:nvPr/>
        </p:nvSpPr>
        <p:spPr>
          <a:xfrm>
            <a:off x="7040880" y="1417320"/>
            <a:ext cx="4663440" cy="640080"/>
          </a:xfrm>
          <a:prstGeom prst="rect">
            <a:avLst/>
          </a:prstGeom>
          <a:noFill/>
          <a:ln/>
        </p:spPr>
        <p:txBody>
          <a:bodyPr wrap="square" lIns="0" tIns="0" rIns="0" bIns="0" rtlCol="0" anchor="t"/>
          <a:lstStyle/>
          <a:p>
            <a:pPr indent="0" marL="0">
              <a:buNone/>
            </a:pPr>
            <a:r>
              <a:rPr lang="en-US" sz="1150" b="1" dirty="0">
                <a:solidFill>
                  <a:srgbClr val="E6EDF5"/>
                </a:solidFill>
                <a:latin typeface="Calibri" pitchFamily="34" charset="0"/>
                <a:ea typeface="Calibri" pitchFamily="34" charset="-122"/>
                <a:cs typeface="Calibri" pitchFamily="34" charset="-120"/>
              </a:rPr>
              <a:t>Motion gate  </a:t>
            </a:r>
            <a:pPr indent="0" marL="0">
              <a:buNone/>
            </a:pPr>
            <a:r>
              <a:rPr lang="en-US" sz="1150" dirty="0">
                <a:solidFill>
                  <a:srgbClr val="8A97A6"/>
                </a:solidFill>
                <a:latin typeface="Calibri" pitchFamily="34" charset="0"/>
                <a:ea typeface="Calibri" pitchFamily="34" charset="-122"/>
                <a:cs typeface="Calibri" pitchFamily="34" charset="-120"/>
              </a:rPr>
              <a:t>MOG2 skips empty frames. Measured skip rate 0 to 83% by camera</a:t>
            </a:r>
            <a:endParaRPr lang="en-US" sz="1150" dirty="0"/>
          </a:p>
        </p:txBody>
      </p:sp>
      <p:sp>
        <p:nvSpPr>
          <p:cNvPr id="11" name="Shape 7"/>
          <p:cNvSpPr/>
          <p:nvPr/>
        </p:nvSpPr>
        <p:spPr>
          <a:xfrm>
            <a:off x="6583680" y="2203704"/>
            <a:ext cx="310896" cy="310896"/>
          </a:xfrm>
          <a:prstGeom prst="ellipse">
            <a:avLst/>
          </a:prstGeom>
          <a:solidFill>
            <a:srgbClr val="3D7FD6"/>
          </a:solidFill>
          <a:ln w="12700">
            <a:solidFill>
              <a:srgbClr val="3D7FD6"/>
            </a:solidFill>
            <a:prstDash val="solid"/>
          </a:ln>
        </p:spPr>
      </p:sp>
      <p:sp>
        <p:nvSpPr>
          <p:cNvPr id="12" name="Text 8"/>
          <p:cNvSpPr txBox="1"/>
          <p:nvPr/>
        </p:nvSpPr>
        <p:spPr>
          <a:xfrm>
            <a:off x="6583680" y="22037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9"/>
          <p:cNvSpPr txBox="1"/>
          <p:nvPr/>
        </p:nvSpPr>
        <p:spPr>
          <a:xfrm>
            <a:off x="7040880" y="2130552"/>
            <a:ext cx="4663440" cy="640080"/>
          </a:xfrm>
          <a:prstGeom prst="rect">
            <a:avLst/>
          </a:prstGeom>
          <a:noFill/>
          <a:ln/>
        </p:spPr>
        <p:txBody>
          <a:bodyPr wrap="square" lIns="0" tIns="0" rIns="0" bIns="0" rtlCol="0" anchor="t"/>
          <a:lstStyle/>
          <a:p>
            <a:pPr indent="0" marL="0">
              <a:buNone/>
            </a:pPr>
            <a:r>
              <a:rPr lang="en-US" sz="1150" b="1" dirty="0">
                <a:solidFill>
                  <a:srgbClr val="E6EDF5"/>
                </a:solidFill>
                <a:latin typeface="Calibri" pitchFamily="34" charset="0"/>
                <a:ea typeface="Calibri" pitchFamily="34" charset="-122"/>
                <a:cs typeface="Calibri" pitchFamily="34" charset="-120"/>
              </a:rPr>
              <a:t>Detect  </a:t>
            </a:r>
            <a:pPr indent="0" marL="0">
              <a:buNone/>
            </a:pPr>
            <a:r>
              <a:rPr lang="en-US" sz="1150" dirty="0">
                <a:solidFill>
                  <a:srgbClr val="8A97A6"/>
                </a:solidFill>
                <a:latin typeface="Calibri" pitchFamily="34" charset="0"/>
                <a:ea typeface="Calibri" pitchFamily="34" charset="-122"/>
                <a:cs typeface="Calibri" pitchFamily="34" charset="-120"/>
              </a:rPr>
              <a:t>YOLOX or RT-DETR, both Apache-2.0. Never Ultralytics</a:t>
            </a:r>
            <a:endParaRPr lang="en-US" sz="1150" dirty="0"/>
          </a:p>
        </p:txBody>
      </p:sp>
      <p:sp>
        <p:nvSpPr>
          <p:cNvPr id="14" name="Shape 10"/>
          <p:cNvSpPr/>
          <p:nvPr/>
        </p:nvSpPr>
        <p:spPr>
          <a:xfrm>
            <a:off x="6583680" y="2916936"/>
            <a:ext cx="310896" cy="310896"/>
          </a:xfrm>
          <a:prstGeom prst="ellipse">
            <a:avLst/>
          </a:prstGeom>
          <a:solidFill>
            <a:srgbClr val="3D7FD6"/>
          </a:solidFill>
          <a:ln w="12700">
            <a:solidFill>
              <a:srgbClr val="3D7FD6"/>
            </a:solidFill>
            <a:prstDash val="solid"/>
          </a:ln>
        </p:spPr>
      </p:sp>
      <p:sp>
        <p:nvSpPr>
          <p:cNvPr id="15" name="Text 11"/>
          <p:cNvSpPr txBox="1"/>
          <p:nvPr/>
        </p:nvSpPr>
        <p:spPr>
          <a:xfrm>
            <a:off x="6583680" y="29169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6" name="Text 12"/>
          <p:cNvSpPr txBox="1"/>
          <p:nvPr/>
        </p:nvSpPr>
        <p:spPr>
          <a:xfrm>
            <a:off x="7040880" y="2843784"/>
            <a:ext cx="4663440" cy="640080"/>
          </a:xfrm>
          <a:prstGeom prst="rect">
            <a:avLst/>
          </a:prstGeom>
          <a:noFill/>
          <a:ln/>
        </p:spPr>
        <p:txBody>
          <a:bodyPr wrap="square" lIns="0" tIns="0" rIns="0" bIns="0" rtlCol="0" anchor="t"/>
          <a:lstStyle/>
          <a:p>
            <a:pPr indent="0" marL="0">
              <a:buNone/>
            </a:pPr>
            <a:r>
              <a:rPr lang="en-US" sz="1150" b="1" dirty="0">
                <a:solidFill>
                  <a:srgbClr val="E6EDF5"/>
                </a:solidFill>
                <a:latin typeface="Calibri" pitchFamily="34" charset="0"/>
                <a:ea typeface="Calibri" pitchFamily="34" charset="-122"/>
                <a:cs typeface="Calibri" pitchFamily="34" charset="-120"/>
              </a:rPr>
              <a:t>Track  </a:t>
            </a:r>
            <a:pPr indent="0" marL="0">
              <a:buNone/>
            </a:pPr>
            <a:r>
              <a:rPr lang="en-US" sz="1150" dirty="0">
                <a:solidFill>
                  <a:srgbClr val="8A97A6"/>
                </a:solidFill>
                <a:latin typeface="Calibri" pitchFamily="34" charset="0"/>
                <a:ea typeface="Calibri" pitchFamily="34" charset="-122"/>
                <a:cs typeface="Calibri" pitchFamily="34" charset="-120"/>
              </a:rPr>
              <a:t>IoU and centre tracker fed PTS deltas, reset on a scene cut</a:t>
            </a:r>
            <a:endParaRPr lang="en-US" sz="1150" dirty="0"/>
          </a:p>
        </p:txBody>
      </p:sp>
      <p:sp>
        <p:nvSpPr>
          <p:cNvPr id="17" name="Shape 13"/>
          <p:cNvSpPr/>
          <p:nvPr/>
        </p:nvSpPr>
        <p:spPr>
          <a:xfrm>
            <a:off x="6583680" y="3630168"/>
            <a:ext cx="310896" cy="310896"/>
          </a:xfrm>
          <a:prstGeom prst="ellipse">
            <a:avLst/>
          </a:prstGeom>
          <a:solidFill>
            <a:srgbClr val="3D7FD6"/>
          </a:solidFill>
          <a:ln w="12700">
            <a:solidFill>
              <a:srgbClr val="3D7FD6"/>
            </a:solidFill>
            <a:prstDash val="solid"/>
          </a:ln>
        </p:spPr>
      </p:sp>
      <p:sp>
        <p:nvSpPr>
          <p:cNvPr id="18" name="Text 14"/>
          <p:cNvSpPr txBox="1"/>
          <p:nvPr/>
        </p:nvSpPr>
        <p:spPr>
          <a:xfrm>
            <a:off x="6583680" y="363016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9" name="Text 15"/>
          <p:cNvSpPr txBox="1"/>
          <p:nvPr/>
        </p:nvSpPr>
        <p:spPr>
          <a:xfrm>
            <a:off x="7040880" y="3557016"/>
            <a:ext cx="4663440" cy="640080"/>
          </a:xfrm>
          <a:prstGeom prst="rect">
            <a:avLst/>
          </a:prstGeom>
          <a:noFill/>
          <a:ln/>
        </p:spPr>
        <p:txBody>
          <a:bodyPr wrap="square" lIns="0" tIns="0" rIns="0" bIns="0" rtlCol="0" anchor="t"/>
          <a:lstStyle/>
          <a:p>
            <a:pPr indent="0" marL="0">
              <a:buNone/>
            </a:pPr>
            <a:r>
              <a:rPr lang="en-US" sz="1150" b="1" dirty="0">
                <a:solidFill>
                  <a:srgbClr val="E6EDF5"/>
                </a:solidFill>
                <a:latin typeface="Calibri" pitchFamily="34" charset="0"/>
                <a:ea typeface="Calibri" pitchFamily="34" charset="-122"/>
                <a:cs typeface="Calibri" pitchFamily="34" charset="-120"/>
              </a:rPr>
              <a:t>Crop, plate, OCR  </a:t>
            </a:r>
            <a:pPr indent="0" marL="0">
              <a:buNone/>
            </a:pPr>
            <a:r>
              <a:rPr lang="en-US" sz="1150" dirty="0">
                <a:solidFill>
                  <a:srgbClr val="8A97A6"/>
                </a:solidFill>
                <a:latin typeface="Calibri" pitchFamily="34" charset="0"/>
                <a:ea typeface="Calibri" pitchFamily="34" charset="-122"/>
                <a:cs typeface="Calibri" pitchFamily="34" charset="-120"/>
              </a:rPr>
              <a:t>PaddleOCR on the vehicle crop only, with the plate region upscaled</a:t>
            </a:r>
            <a:endParaRPr lang="en-US" sz="1150" dirty="0"/>
          </a:p>
        </p:txBody>
      </p:sp>
      <p:sp>
        <p:nvSpPr>
          <p:cNvPr id="20" name="Shape 16"/>
          <p:cNvSpPr/>
          <p:nvPr/>
        </p:nvSpPr>
        <p:spPr>
          <a:xfrm>
            <a:off x="6583680" y="4343400"/>
            <a:ext cx="310896" cy="310896"/>
          </a:xfrm>
          <a:prstGeom prst="ellipse">
            <a:avLst/>
          </a:prstGeom>
          <a:solidFill>
            <a:srgbClr val="3D7FD6"/>
          </a:solidFill>
          <a:ln w="12700">
            <a:solidFill>
              <a:srgbClr val="3D7FD6"/>
            </a:solidFill>
            <a:prstDash val="solid"/>
          </a:ln>
        </p:spPr>
      </p:sp>
      <p:sp>
        <p:nvSpPr>
          <p:cNvPr id="21" name="Text 17"/>
          <p:cNvSpPr txBox="1"/>
          <p:nvPr/>
        </p:nvSpPr>
        <p:spPr>
          <a:xfrm>
            <a:off x="6583680" y="43434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2" name="Text 18"/>
          <p:cNvSpPr txBox="1"/>
          <p:nvPr/>
        </p:nvSpPr>
        <p:spPr>
          <a:xfrm>
            <a:off x="7040880" y="4270248"/>
            <a:ext cx="4663440" cy="640080"/>
          </a:xfrm>
          <a:prstGeom prst="rect">
            <a:avLst/>
          </a:prstGeom>
          <a:noFill/>
          <a:ln/>
        </p:spPr>
        <p:txBody>
          <a:bodyPr wrap="square" lIns="0" tIns="0" rIns="0" bIns="0" rtlCol="0" anchor="t"/>
          <a:lstStyle/>
          <a:p>
            <a:pPr indent="0" marL="0">
              <a:buNone/>
            </a:pPr>
            <a:r>
              <a:rPr lang="en-US" sz="1150" b="1" dirty="0">
                <a:solidFill>
                  <a:srgbClr val="E6EDF5"/>
                </a:solidFill>
                <a:latin typeface="Calibri" pitchFamily="34" charset="0"/>
                <a:ea typeface="Calibri" pitchFamily="34" charset="-122"/>
                <a:cs typeface="Calibri" pitchFamily="34" charset="-120"/>
              </a:rPr>
              <a:t>Normalise and dedupe  </a:t>
            </a:r>
            <a:pPr indent="0" marL="0">
              <a:buNone/>
            </a:pPr>
            <a:r>
              <a:rPr lang="en-US" sz="1150" dirty="0">
                <a:solidFill>
                  <a:srgbClr val="8A97A6"/>
                </a:solidFill>
                <a:latin typeface="Calibri" pitchFamily="34" charset="0"/>
                <a:ea typeface="Calibri" pitchFamily="34" charset="-122"/>
                <a:cs typeface="Calibri" pitchFamily="34" charset="-120"/>
              </a:rPr>
              <a:t>Indian plate format, 60 s per plate per camera, raw read kept</a:t>
            </a:r>
            <a:endParaRPr lang="en-US" sz="1150" dirty="0"/>
          </a:p>
        </p:txBody>
      </p:sp>
      <p:sp>
        <p:nvSpPr>
          <p:cNvPr id="23" name="Shape 19"/>
          <p:cNvSpPr/>
          <p:nvPr/>
        </p:nvSpPr>
        <p:spPr>
          <a:xfrm>
            <a:off x="6583680" y="5056632"/>
            <a:ext cx="310896" cy="310896"/>
          </a:xfrm>
          <a:prstGeom prst="ellipse">
            <a:avLst/>
          </a:prstGeom>
          <a:solidFill>
            <a:srgbClr val="3D7FD6"/>
          </a:solidFill>
          <a:ln w="12700">
            <a:solidFill>
              <a:srgbClr val="3D7FD6"/>
            </a:solidFill>
            <a:prstDash val="solid"/>
          </a:ln>
        </p:spPr>
      </p:sp>
      <p:sp>
        <p:nvSpPr>
          <p:cNvPr id="24" name="Text 20"/>
          <p:cNvSpPr txBox="1"/>
          <p:nvPr/>
        </p:nvSpPr>
        <p:spPr>
          <a:xfrm>
            <a:off x="6583680" y="505663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5" name="Text 21"/>
          <p:cNvSpPr txBox="1"/>
          <p:nvPr/>
        </p:nvSpPr>
        <p:spPr>
          <a:xfrm>
            <a:off x="7040880" y="4983480"/>
            <a:ext cx="4663440" cy="640080"/>
          </a:xfrm>
          <a:prstGeom prst="rect">
            <a:avLst/>
          </a:prstGeom>
          <a:noFill/>
          <a:ln/>
        </p:spPr>
        <p:txBody>
          <a:bodyPr wrap="square" lIns="0" tIns="0" rIns="0" bIns="0" rtlCol="0" anchor="t"/>
          <a:lstStyle/>
          <a:p>
            <a:pPr indent="0" marL="0">
              <a:buNone/>
            </a:pPr>
            <a:r>
              <a:rPr lang="en-US" sz="1150" b="1" dirty="0">
                <a:solidFill>
                  <a:srgbClr val="E6EDF5"/>
                </a:solidFill>
                <a:latin typeface="Calibri" pitchFamily="34" charset="0"/>
                <a:ea typeface="Calibri" pitchFamily="34" charset="-122"/>
                <a:cs typeface="Calibri" pitchFamily="34" charset="-120"/>
              </a:rPr>
              <a:t>Events  </a:t>
            </a:r>
            <a:pPr indent="0" marL="0">
              <a:buNone/>
            </a:pPr>
            <a:r>
              <a:rPr lang="en-US" sz="1150" dirty="0">
                <a:solidFill>
                  <a:srgbClr val="8A97A6"/>
                </a:solidFill>
                <a:latin typeface="Calibri" pitchFamily="34" charset="0"/>
                <a:ea typeface="Calibri" pitchFamily="34" charset="-122"/>
                <a:cs typeface="Calibri" pitchFamily="34" charset="-120"/>
              </a:rPr>
              <a:t>Object counts, intrusion polygons, directional line crossing</a:t>
            </a:r>
            <a:endParaRPr lang="en-US" sz="1150" dirty="0"/>
          </a:p>
        </p:txBody>
      </p:sp>
      <p:sp>
        <p:nvSpPr>
          <p:cNvPr id="26" name="Shape 22"/>
          <p:cNvSpPr/>
          <p:nvPr/>
        </p:nvSpPr>
        <p:spPr>
          <a:xfrm>
            <a:off x="457200" y="5120640"/>
            <a:ext cx="5852160" cy="1143000"/>
          </a:xfrm>
          <a:prstGeom prst="roundRect">
            <a:avLst>
              <a:gd name="adj" fmla="val 9600"/>
            </a:avLst>
          </a:prstGeom>
          <a:solidFill>
            <a:srgbClr val="111823"/>
          </a:solidFill>
          <a:ln w="9525">
            <a:solidFill>
              <a:srgbClr val="1E2A3A"/>
            </a:solidFill>
            <a:prstDash val="solid"/>
          </a:ln>
        </p:spPr>
      </p:sp>
      <p:sp>
        <p:nvSpPr>
          <p:cNvPr id="27" name="Text 23"/>
          <p:cNvSpPr txBox="1"/>
          <p:nvPr/>
        </p:nvSpPr>
        <p:spPr>
          <a:xfrm>
            <a:off x="640080" y="5193792"/>
            <a:ext cx="5486400" cy="1005840"/>
          </a:xfrm>
          <a:prstGeom prst="rect">
            <a:avLst/>
          </a:prstGeom>
          <a:noFill/>
          <a:ln/>
        </p:spPr>
        <p:txBody>
          <a:bodyPr wrap="square" lIns="0" tIns="0" rIns="0" bIns="0" rtlCol="0" anchor="ctr"/>
          <a:lstStyle/>
          <a:p>
            <a:pPr indent="0" marL="0">
              <a:buNone/>
            </a:pPr>
            <a:r>
              <a:rPr lang="en-US" sz="1050" b="1" dirty="0">
                <a:solidFill>
                  <a:srgbClr val="E0912F"/>
                </a:solidFill>
                <a:latin typeface="Calibri" pitchFamily="34" charset="0"/>
                <a:ea typeface="Calibri" pitchFamily="34" charset="-122"/>
                <a:cs typeface="Calibri" pitchFamily="34" charset="-120"/>
              </a:rPr>
              <a:t>Facial recognition: described, not built. </a:t>
            </a:r>
            <a:pPr indent="0" marL="0">
              <a:buNone/>
            </a:pPr>
            <a:r>
              <a:rPr lang="en-US" sz="1050" dirty="0">
                <a:solidFill>
                  <a:srgbClr val="E6EDF5"/>
                </a:solidFill>
                <a:latin typeface="Calibri" pitchFamily="34" charset="0"/>
                <a:ea typeface="Calibri" pitchFamily="34" charset="-122"/>
                <a:cs typeface="Calibri" pitchFamily="34" charset="-120"/>
              </a:rPr>
              <a:t>Face detection at the edge, then embedding, then matching against an authorised gallery only, with the same edge-cached posture. No general-population face database. Non-match embeddings are not retained. Every match is logged.</a:t>
            </a:r>
            <a:endParaRPr lang="en-US" sz="1050" dirty="0"/>
          </a:p>
        </p:txBody>
      </p:sp>
      <p:sp>
        <p:nvSpPr>
          <p:cNvPr id="28" name="Text 24"/>
          <p:cNvSpPr txBox="1"/>
          <p:nvPr/>
        </p:nvSpPr>
        <p:spPr>
          <a:xfrm>
            <a:off x="6583680" y="5760720"/>
            <a:ext cx="5120640" cy="548640"/>
          </a:xfrm>
          <a:prstGeom prst="rect">
            <a:avLst/>
          </a:prstGeom>
          <a:noFill/>
          <a:ln/>
        </p:spPr>
        <p:txBody>
          <a:bodyPr wrap="square" lIns="0" tIns="0" rIns="0" bIns="0" rtlCol="0" anchor="ctr"/>
          <a:lstStyle/>
          <a:p>
            <a:pPr indent="0" marL="0">
              <a:buNone/>
            </a:pPr>
            <a:r>
              <a:rPr lang="en-US" sz="1000" i="1" dirty="0">
                <a:solidFill>
                  <a:srgbClr val="8A97A6"/>
                </a:solidFill>
                <a:latin typeface="Calibri" pitchFamily="34" charset="0"/>
                <a:ea typeface="Calibri" pitchFamily="34" charset="-122"/>
                <a:cs typeface="Calibri" pitchFamily="34" charset="-120"/>
              </a:rPr>
              <a:t>Licensing is procurement: Apache-2.0, MIT and BSD throughout. AGPL is hazardous as a linked library and acceptable as a service you run, so Ultralytics YOLO, Elasticsearch and Redis are deliberately avoided.</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Watchlist correlation and real-time alerting</a:t>
            </a:r>
            <a:endParaRPr lang="en-US" sz="3000" dirty="0"/>
          </a:p>
        </p:txBody>
      </p:sp>
      <p:pic>
        <p:nvPicPr>
          <p:cNvPr id="5" name="Image 0" descr="/home/claude/work/deliverables/deck/img/alerts.png">    </p:cNvPr>
          <p:cNvPicPr>
            <a:picLocks noChangeAspect="1"/>
          </p:cNvPicPr>
          <p:nvPr/>
        </p:nvPicPr>
        <p:blipFill>
          <a:blip r:embed="rId1"/>
          <a:stretch>
            <a:fillRect/>
          </a:stretch>
        </p:blipFill>
        <p:spPr>
          <a:xfrm>
            <a:off x="457200" y="1417320"/>
            <a:ext cx="6309360" cy="3549015"/>
          </a:xfrm>
          <a:prstGeom prst="rect">
            <a:avLst/>
          </a:prstGeom>
        </p:spPr>
      </p:pic>
      <p:sp>
        <p:nvSpPr>
          <p:cNvPr id="6" name="Shape 2"/>
          <p:cNvSpPr/>
          <p:nvPr/>
        </p:nvSpPr>
        <p:spPr>
          <a:xfrm>
            <a:off x="457200" y="1417320"/>
            <a:ext cx="6309360" cy="3549015"/>
          </a:xfrm>
          <a:prstGeom prst="rect">
            <a:avLst/>
          </a:prstGeom>
          <a:solidFill>
            <a:srgbClr val="0A0E14">
              <a:alpha val="0"/>
            </a:srgbClr>
          </a:solidFill>
          <a:ln w="9525">
            <a:solidFill>
              <a:srgbClr val="1E2A3A"/>
            </a:solidFill>
            <a:prstDash val="solid"/>
          </a:ln>
        </p:spPr>
      </p:sp>
      <p:sp>
        <p:nvSpPr>
          <p:cNvPr id="7" name="Text 3"/>
          <p:cNvSpPr txBox="1"/>
          <p:nvPr/>
        </p:nvSpPr>
        <p:spPr>
          <a:xfrm>
            <a:off x="457200" y="5021199"/>
            <a:ext cx="630936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Live alert panel: plate, crop, camera, department, severity, match type, acknowledge (dev capture, test scenario)</a:t>
            </a:r>
            <a:endParaRPr lang="en-US" sz="900" dirty="0"/>
          </a:p>
        </p:txBody>
      </p:sp>
      <p:sp>
        <p:nvSpPr>
          <p:cNvPr id="8" name="Shape 4"/>
          <p:cNvSpPr/>
          <p:nvPr/>
        </p:nvSpPr>
        <p:spPr>
          <a:xfrm>
            <a:off x="7040880" y="1417320"/>
            <a:ext cx="4663440" cy="4754880"/>
          </a:xfrm>
          <a:prstGeom prst="roundRect">
            <a:avLst>
              <a:gd name="adj" fmla="val 2353"/>
            </a:avLst>
          </a:prstGeom>
          <a:solidFill>
            <a:srgbClr val="111823"/>
          </a:solidFill>
          <a:ln w="9525">
            <a:solidFill>
              <a:srgbClr val="1E2A3A"/>
            </a:solidFill>
            <a:prstDash val="solid"/>
          </a:ln>
        </p:spPr>
      </p:sp>
      <p:sp>
        <p:nvSpPr>
          <p:cNvPr id="9" name="Text 5"/>
          <p:cNvSpPr txBox="1"/>
          <p:nvPr/>
        </p:nvSpPr>
        <p:spPr>
          <a:xfrm>
            <a:off x="7269480" y="1554480"/>
            <a:ext cx="4206240" cy="274320"/>
          </a:xfrm>
          <a:prstGeom prst="rect">
            <a:avLst/>
          </a:prstGeom>
          <a:noFill/>
          <a:ln/>
        </p:spPr>
        <p:txBody>
          <a:bodyPr wrap="square" lIns="0" tIns="0" rIns="0" bIns="0" rtlCol="0" anchor="ctr"/>
          <a:lstStyle/>
          <a:p>
            <a:pPr indent="0" marL="0">
              <a:buNone/>
            </a:pPr>
            <a:r>
              <a:rPr lang="en-US" sz="1100" dirty="0">
                <a:solidFill>
                  <a:srgbClr val="D64F6A"/>
                </a:solidFill>
                <a:latin typeface="Calibri" pitchFamily="34" charset="0"/>
                <a:ea typeface="Calibri" pitchFamily="34" charset="-122"/>
                <a:cs typeface="Calibri" pitchFamily="34" charset="-120"/>
              </a:rPr>
              <a:t>METHODOLOGY</a:t>
            </a:r>
            <a:endParaRPr lang="en-US" sz="1100" dirty="0"/>
          </a:p>
        </p:txBody>
      </p:sp>
      <p:sp>
        <p:nvSpPr>
          <p:cNvPr id="10" name="Text 6"/>
          <p:cNvSpPr txBox="1"/>
          <p:nvPr/>
        </p:nvSpPr>
        <p:spPr>
          <a:xfrm>
            <a:off x="7269480" y="1874520"/>
            <a:ext cx="4297680" cy="4206240"/>
          </a:xfrm>
          <a:prstGeom prst="rect">
            <a:avLst/>
          </a:prstGeom>
          <a:noFill/>
          <a:ln/>
        </p:spPr>
        <p:txBody>
          <a:bodyPr wrap="square" lIns="25400" tIns="25400" rIns="25400" bIns="25400" rtlCol="0" anchor="t"/>
          <a:lstStyle/>
          <a:p>
            <a:pPr marL="342900" indent="-342900">
              <a:spcAft>
                <a:spcPts val="500"/>
              </a:spcAft>
              <a:buSzPct val="100000"/>
              <a:buChar char="•"/>
            </a:pPr>
            <a:r>
              <a:rPr lang="en-US" sz="1100" b="1" dirty="0">
                <a:solidFill>
                  <a:srgbClr val="E6EDF5"/>
                </a:solidFill>
                <a:latin typeface="Calibri" pitchFamily="34" charset="0"/>
                <a:ea typeface="Calibri" pitchFamily="34" charset="-122"/>
                <a:cs typeface="Calibri" pitchFamily="34" charset="-120"/>
              </a:rPr>
              <a:t>Matching is local, against a cached watchlist. It is never a per-detection call to VAHAN or eGujCop.</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Three-step match: exact, then the OCR-ambiguity map (O/0, I/1, S/5, B/8, Z/2, G/6), then Levenshtein 1 or less for reads of 8 characters or more</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Partial reads are stored as route candidates and never raise an alert</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The sighting is persisted before matching and the alert before broadcast, so a detection never lives only in memory</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A five-minute cooldown per plate per camera keeps the feed worth watching</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Pushed to the dashboard over Server-Sent Events in about 2 s. The acknowledgement is persisted</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Representative watchlist: real observed plates plus invented entries, with provenance recorded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Route reconstruction: the scored capability</a:t>
            </a:r>
            <a:endParaRPr lang="en-US" sz="3000" dirty="0"/>
          </a:p>
        </p:txBody>
      </p:sp>
      <p:pic>
        <p:nvPicPr>
          <p:cNvPr id="5" name="Image 0" descr="/home/claude/work/deliverables/deck/img/route.png">    </p:cNvPr>
          <p:cNvPicPr>
            <a:picLocks noChangeAspect="1"/>
          </p:cNvPicPr>
          <p:nvPr/>
        </p:nvPicPr>
        <p:blipFill>
          <a:blip r:embed="rId1"/>
          <a:stretch>
            <a:fillRect/>
          </a:stretch>
        </p:blipFill>
        <p:spPr>
          <a:xfrm>
            <a:off x="457200" y="1417320"/>
            <a:ext cx="7132320" cy="4011930"/>
          </a:xfrm>
          <a:prstGeom prst="rect">
            <a:avLst/>
          </a:prstGeom>
        </p:spPr>
      </p:pic>
      <p:sp>
        <p:nvSpPr>
          <p:cNvPr id="6" name="Shape 2"/>
          <p:cNvSpPr/>
          <p:nvPr/>
        </p:nvSpPr>
        <p:spPr>
          <a:xfrm>
            <a:off x="457200" y="1417320"/>
            <a:ext cx="7132320" cy="4011930"/>
          </a:xfrm>
          <a:prstGeom prst="rect">
            <a:avLst/>
          </a:prstGeom>
          <a:solidFill>
            <a:srgbClr val="0A0E14">
              <a:alpha val="0"/>
            </a:srgbClr>
          </a:solidFill>
          <a:ln w="9525">
            <a:solidFill>
              <a:srgbClr val="1E2A3A"/>
            </a:solidFill>
            <a:prstDash val="solid"/>
          </a:ln>
        </p:spPr>
      </p:sp>
      <p:sp>
        <p:nvSpPr>
          <p:cNvPr id="7" name="Text 3"/>
          <p:cNvSpPr txBox="1"/>
          <p:nvPr/>
        </p:nvSpPr>
        <p:spPr>
          <a:xfrm>
            <a:off x="457200" y="5484114"/>
            <a:ext cx="713232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Numbered stops in time order, a polyline dashed across coverage gaps, and a timeline with crops (dev capture, test scenario)</a:t>
            </a:r>
            <a:endParaRPr lang="en-US" sz="900" dirty="0"/>
          </a:p>
        </p:txBody>
      </p:sp>
      <p:sp>
        <p:nvSpPr>
          <p:cNvPr id="8" name="Shape 4"/>
          <p:cNvSpPr/>
          <p:nvPr/>
        </p:nvSpPr>
        <p:spPr>
          <a:xfrm>
            <a:off x="7863840" y="1417320"/>
            <a:ext cx="3840480" cy="4754880"/>
          </a:xfrm>
          <a:prstGeom prst="roundRect">
            <a:avLst>
              <a:gd name="adj" fmla="val 2857"/>
            </a:avLst>
          </a:prstGeom>
          <a:solidFill>
            <a:srgbClr val="111823"/>
          </a:solidFill>
          <a:ln w="9525">
            <a:solidFill>
              <a:srgbClr val="1E2A3A"/>
            </a:solidFill>
            <a:prstDash val="solid"/>
          </a:ln>
        </p:spPr>
      </p:sp>
      <p:sp>
        <p:nvSpPr>
          <p:cNvPr id="9" name="Text 5"/>
          <p:cNvSpPr txBox="1"/>
          <p:nvPr/>
        </p:nvSpPr>
        <p:spPr>
          <a:xfrm>
            <a:off x="8092440" y="1554480"/>
            <a:ext cx="3657600" cy="274320"/>
          </a:xfrm>
          <a:prstGeom prst="rect">
            <a:avLst/>
          </a:prstGeom>
          <a:noFill/>
          <a:ln/>
        </p:spPr>
        <p:txBody>
          <a:bodyPr wrap="square" lIns="0" tIns="0" rIns="0" bIns="0" rtlCol="0" anchor="ctr"/>
          <a:lstStyle/>
          <a:p>
            <a:pPr indent="0" marL="0">
              <a:buNone/>
            </a:pPr>
            <a:r>
              <a:rPr lang="en-US" sz="1100" dirty="0">
                <a:solidFill>
                  <a:srgbClr val="3D7FD6"/>
                </a:solidFill>
                <a:latin typeface="Calibri" pitchFamily="34" charset="0"/>
                <a:ea typeface="Calibri" pitchFamily="34" charset="-122"/>
                <a:cs typeface="Calibri" pitchFamily="34" charset="-120"/>
              </a:rPr>
              <a:t>GET /api/plates/{plate}/route</a:t>
            </a:r>
            <a:endParaRPr lang="en-US" sz="1100" dirty="0"/>
          </a:p>
        </p:txBody>
      </p:sp>
      <p:sp>
        <p:nvSpPr>
          <p:cNvPr id="10" name="Text 6"/>
          <p:cNvSpPr txBox="1"/>
          <p:nvPr/>
        </p:nvSpPr>
        <p:spPr>
          <a:xfrm>
            <a:off x="8092440" y="1874520"/>
            <a:ext cx="3474720" cy="4206240"/>
          </a:xfrm>
          <a:prstGeom prst="rect">
            <a:avLst/>
          </a:prstGeom>
          <a:noFill/>
          <a:ln/>
        </p:spPr>
        <p:txBody>
          <a:bodyPr wrap="square" lIns="25400" tIns="25400" rIns="25400" bIns="25400" rtlCol="0" anchor="t"/>
          <a:lstStyle/>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Ordered stops: camera, department, coordinates, timestamp, crop, match type</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Same-camera dwell collapsed at 2 minutes, so a parked car is one stop</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Elapsed time and implied speed between stops as a sanity check: an implausible speed flags the stop as suspect</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Fuzzy candidates are surfaced and marked, never silently merged</a:t>
            </a:r>
            <a:endParaRPr lang="en-US" sz="1100" dirty="0"/>
          </a:p>
          <a:p>
            <a:pPr marL="342900" indent="-342900">
              <a:spcAft>
                <a:spcPts val="500"/>
              </a:spcAft>
              <a:buSzPct val="100000"/>
              <a:buChar char="•"/>
            </a:pPr>
            <a:r>
              <a:rPr lang="en-US" sz="1100" b="1" dirty="0">
                <a:solidFill>
                  <a:srgbClr val="E6EDF5"/>
                </a:solidFill>
                <a:latin typeface="Calibri" pitchFamily="34" charset="0"/>
                <a:ea typeface="Calibri" pitchFamily="34" charset="-122"/>
                <a:cs typeface="Calibri" pitchFamily="34" charset="-120"/>
              </a:rPr>
              <a:t>departments_crossed is the integration proof</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Coverage gaps are shown rather than hidden, and tie back to the Model 1 gap report</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Timestamped detection report as CSV and printable output, the named deliverable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Beyond ANPR: intrusion zones, object counts, output reports</a:t>
            </a:r>
            <a:endParaRPr lang="en-US" sz="3000" dirty="0"/>
          </a:p>
        </p:txBody>
      </p:sp>
      <p:pic>
        <p:nvPicPr>
          <p:cNvPr id="5" name="Image 0" descr="/home/claude/work/deliverables/deck/img/zones.png">    </p:cNvPr>
          <p:cNvPicPr>
            <a:picLocks noChangeAspect="1"/>
          </p:cNvPicPr>
          <p:nvPr/>
        </p:nvPicPr>
        <p:blipFill>
          <a:blip r:embed="rId1"/>
          <a:stretch>
            <a:fillRect/>
          </a:stretch>
        </p:blipFill>
        <p:spPr>
          <a:xfrm>
            <a:off x="457200" y="1417320"/>
            <a:ext cx="5669280" cy="3188970"/>
          </a:xfrm>
          <a:prstGeom prst="rect">
            <a:avLst/>
          </a:prstGeom>
        </p:spPr>
      </p:pic>
      <p:sp>
        <p:nvSpPr>
          <p:cNvPr id="6" name="Shape 2"/>
          <p:cNvSpPr/>
          <p:nvPr/>
        </p:nvSpPr>
        <p:spPr>
          <a:xfrm>
            <a:off x="457200" y="1417320"/>
            <a:ext cx="5669280" cy="3188970"/>
          </a:xfrm>
          <a:prstGeom prst="rect">
            <a:avLst/>
          </a:prstGeom>
          <a:solidFill>
            <a:srgbClr val="0A0E14">
              <a:alpha val="0"/>
            </a:srgbClr>
          </a:solidFill>
          <a:ln w="9525">
            <a:solidFill>
              <a:srgbClr val="1E2A3A"/>
            </a:solidFill>
            <a:prstDash val="solid"/>
          </a:ln>
        </p:spPr>
      </p:sp>
      <p:sp>
        <p:nvSpPr>
          <p:cNvPr id="7" name="Text 3"/>
          <p:cNvSpPr txBox="1"/>
          <p:nvPr/>
        </p:nvSpPr>
        <p:spPr>
          <a:xfrm>
            <a:off x="457200" y="4661154"/>
            <a:ext cx="566928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Zone editor: draw an intrusion polygon or a directional crossing line on a live still, saved as normalised coordinates on the camera</a:t>
            </a:r>
            <a:endParaRPr lang="en-US" sz="900" dirty="0"/>
          </a:p>
        </p:txBody>
      </p:sp>
      <p:pic>
        <p:nvPicPr>
          <p:cNvPr id="8" name="Image 1" descr="/home/claude/work/deliverables/deck/img/reports.png">    </p:cNvPr>
          <p:cNvPicPr>
            <a:picLocks noChangeAspect="1"/>
          </p:cNvPicPr>
          <p:nvPr/>
        </p:nvPicPr>
        <p:blipFill>
          <a:blip r:embed="rId2"/>
          <a:stretch>
            <a:fillRect/>
          </a:stretch>
        </p:blipFill>
        <p:spPr>
          <a:xfrm>
            <a:off x="6309360" y="1417320"/>
            <a:ext cx="5394960" cy="3034665"/>
          </a:xfrm>
          <a:prstGeom prst="rect">
            <a:avLst/>
          </a:prstGeom>
        </p:spPr>
      </p:pic>
      <p:sp>
        <p:nvSpPr>
          <p:cNvPr id="9" name="Shape 4"/>
          <p:cNvSpPr/>
          <p:nvPr/>
        </p:nvSpPr>
        <p:spPr>
          <a:xfrm>
            <a:off x="6309360" y="1417320"/>
            <a:ext cx="5394960" cy="3034665"/>
          </a:xfrm>
          <a:prstGeom prst="rect">
            <a:avLst/>
          </a:prstGeom>
          <a:solidFill>
            <a:srgbClr val="0A0E14">
              <a:alpha val="0"/>
            </a:srgbClr>
          </a:solidFill>
          <a:ln w="9525">
            <a:solidFill>
              <a:srgbClr val="1E2A3A"/>
            </a:solidFill>
            <a:prstDash val="solid"/>
          </a:ln>
        </p:spPr>
      </p:sp>
      <p:sp>
        <p:nvSpPr>
          <p:cNvPr id="10" name="Text 5"/>
          <p:cNvSpPr txBox="1"/>
          <p:nvPr/>
        </p:nvSpPr>
        <p:spPr>
          <a:xfrm>
            <a:off x="6309360" y="4506849"/>
            <a:ext cx="539496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Reports: detection report as CSV and printable output, gap analysis, OpenAPI, and per-camera object counts</a:t>
            </a:r>
            <a:endParaRPr lang="en-US" sz="900" dirty="0"/>
          </a:p>
        </p:txBody>
      </p:sp>
      <p:sp>
        <p:nvSpPr>
          <p:cNvPr id="11" name="Shape 6"/>
          <p:cNvSpPr/>
          <p:nvPr/>
        </p:nvSpPr>
        <p:spPr>
          <a:xfrm>
            <a:off x="457200" y="4892040"/>
            <a:ext cx="11247120" cy="1280160"/>
          </a:xfrm>
          <a:prstGeom prst="roundRect">
            <a:avLst>
              <a:gd name="adj" fmla="val 8571"/>
            </a:avLst>
          </a:prstGeom>
          <a:solidFill>
            <a:srgbClr val="111823"/>
          </a:solidFill>
          <a:ln w="9525">
            <a:solidFill>
              <a:srgbClr val="1E2A3A"/>
            </a:solidFill>
            <a:prstDash val="solid"/>
          </a:ln>
        </p:spPr>
      </p:sp>
      <p:sp>
        <p:nvSpPr>
          <p:cNvPr id="12" name="Text 7"/>
          <p:cNvSpPr txBox="1"/>
          <p:nvPr/>
        </p:nvSpPr>
        <p:spPr>
          <a:xfrm>
            <a:off x="685800" y="4983480"/>
            <a:ext cx="10881360" cy="1143000"/>
          </a:xfrm>
          <a:prstGeom prst="rect">
            <a:avLst/>
          </a:prstGeom>
          <a:noFill/>
          <a:ln/>
        </p:spPr>
        <p:txBody>
          <a:bodyPr wrap="square" lIns="25400" tIns="25400" rIns="25400" bIns="25400" rtlCol="0" anchor="t"/>
          <a:lstStyle/>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Intrusion: a tracked object's foot point entering a polygon fires once, on entry. Line crossing honours direction, up, down, left or right. High-severity zones broadcast on the alert stream.</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Object detection: presence events per camera per class, throttled and aggregated for the dashboard and the report. All coordinates are normalised from 0 to 1, so zones survive a change of resolution.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Why edge-first: what crosses the WAN at 80,000 cameras</a:t>
            </a:r>
            <a:endParaRPr lang="en-US" sz="3000" dirty="0"/>
          </a:p>
        </p:txBody>
      </p:sp>
      <p:sp>
        <p:nvSpPr>
          <p:cNvPr id="5" name="Text 2"/>
          <p:cNvSpPr txBox="1"/>
          <p:nvPr/>
        </p:nvSpPr>
        <p:spPr>
          <a:xfrm>
            <a:off x="457200" y="932688"/>
            <a:ext cx="11247120" cy="365760"/>
          </a:xfrm>
          <a:prstGeom prst="rect">
            <a:avLst/>
          </a:prstGeom>
          <a:noFill/>
          <a:ln/>
        </p:spPr>
        <p:txBody>
          <a:bodyPr wrap="square" lIns="0" tIns="0" rIns="0" bIns="0" rtlCol="0" anchor="ctr"/>
          <a:lstStyle/>
          <a:p>
            <a:pPr indent="0" marL="0">
              <a:buNone/>
            </a:pPr>
            <a:r>
              <a:rPr lang="en-US" sz="1400" dirty="0">
                <a:solidFill>
                  <a:srgbClr val="8A97A6"/>
                </a:solidFill>
                <a:latin typeface="Calibri" pitchFamily="34" charset="0"/>
                <a:ea typeface="Calibri" pitchFamily="34" charset="-122"/>
                <a:cs typeface="Calibri" pitchFamily="34" charset="-120"/>
              </a:rPr>
              <a:t>All figures are [model] from stated assumptions, to be replaced by measurement</a:t>
            </a:r>
            <a:endParaRPr lang="en-US" sz="1400" dirty="0"/>
          </a:p>
        </p:txBody>
      </p:sp>
      <p:sp>
        <p:nvSpPr>
          <p:cNvPr id="6" name="Text 3"/>
          <p:cNvSpPr txBox="1"/>
          <p:nvPr/>
        </p:nvSpPr>
        <p:spPr>
          <a:xfrm>
            <a:off x="457200" y="1737360"/>
            <a:ext cx="3657600" cy="822960"/>
          </a:xfrm>
          <a:prstGeom prst="rect">
            <a:avLst/>
          </a:prstGeom>
          <a:noFill/>
          <a:ln/>
        </p:spPr>
        <p:txBody>
          <a:bodyPr wrap="square" lIns="0" tIns="0" rIns="0" bIns="0" rtlCol="0" anchor="ctr"/>
          <a:lstStyle/>
          <a:p>
            <a:pPr algn="ctr" indent="0" marL="0">
              <a:buNone/>
            </a:pPr>
            <a:r>
              <a:rPr lang="en-US" sz="4400" b="1" dirty="0">
                <a:solidFill>
                  <a:srgbClr val="D64F6A"/>
                </a:solidFill>
                <a:latin typeface="Calibri" pitchFamily="34" charset="0"/>
                <a:ea typeface="Calibri" pitchFamily="34" charset="-122"/>
                <a:cs typeface="Calibri" pitchFamily="34" charset="-120"/>
              </a:rPr>
              <a:t>240 Gbps</a:t>
            </a:r>
            <a:endParaRPr lang="en-US" sz="4400" dirty="0"/>
          </a:p>
        </p:txBody>
      </p:sp>
      <p:sp>
        <p:nvSpPr>
          <p:cNvPr id="7" name="Text 4"/>
          <p:cNvSpPr txBox="1"/>
          <p:nvPr/>
        </p:nvSpPr>
        <p:spPr>
          <a:xfrm>
            <a:off x="457200" y="2560320"/>
            <a:ext cx="3657600" cy="457200"/>
          </a:xfrm>
          <a:prstGeom prst="rect">
            <a:avLst/>
          </a:prstGeom>
          <a:noFill/>
          <a:ln/>
        </p:spPr>
        <p:txBody>
          <a:bodyPr wrap="square" lIns="0" tIns="0" rIns="0" bIns="0" rtlCol="0" anchor="ctr"/>
          <a:lstStyle/>
          <a:p>
            <a:pPr algn="ctr" indent="0" marL="0">
              <a:buNone/>
            </a:pPr>
            <a:r>
              <a:rPr lang="en-US" sz="1200" dirty="0">
                <a:solidFill>
                  <a:srgbClr val="8A97A6"/>
                </a:solidFill>
                <a:latin typeface="Calibri" pitchFamily="34" charset="0"/>
                <a:ea typeface="Calibri" pitchFamily="34" charset="-122"/>
                <a:cs typeface="Calibri" pitchFamily="34" charset="-120"/>
              </a:rPr>
              <a:t>raw video, centralised (1080p at 3 Mbps)</a:t>
            </a:r>
            <a:endParaRPr lang="en-US" sz="1200" dirty="0"/>
          </a:p>
        </p:txBody>
      </p:sp>
      <p:sp>
        <p:nvSpPr>
          <p:cNvPr id="8" name="Text 5"/>
          <p:cNvSpPr txBox="1"/>
          <p:nvPr/>
        </p:nvSpPr>
        <p:spPr>
          <a:xfrm>
            <a:off x="4114800" y="1828800"/>
            <a:ext cx="914400" cy="822960"/>
          </a:xfrm>
          <a:prstGeom prst="rect">
            <a:avLst/>
          </a:prstGeom>
          <a:noFill/>
          <a:ln/>
        </p:spPr>
        <p:txBody>
          <a:bodyPr wrap="square" lIns="0" tIns="0" rIns="0" bIns="0" rtlCol="0" anchor="ctr"/>
          <a:lstStyle/>
          <a:p>
            <a:pPr algn="ctr" indent="0" marL="0">
              <a:buNone/>
            </a:pPr>
            <a:r>
              <a:rPr lang="en-US" sz="4000" dirty="0">
                <a:solidFill>
                  <a:srgbClr val="8A97A6"/>
                </a:solidFill>
                <a:latin typeface="Calibri" pitchFamily="34" charset="0"/>
                <a:ea typeface="Calibri" pitchFamily="34" charset="-122"/>
                <a:cs typeface="Calibri" pitchFamily="34" charset="-120"/>
              </a:rPr>
              <a:t>&gt;</a:t>
            </a:r>
            <a:endParaRPr lang="en-US" sz="4000" dirty="0"/>
          </a:p>
        </p:txBody>
      </p:sp>
      <p:sp>
        <p:nvSpPr>
          <p:cNvPr id="9" name="Text 6"/>
          <p:cNvSpPr txBox="1"/>
          <p:nvPr/>
        </p:nvSpPr>
        <p:spPr>
          <a:xfrm>
            <a:off x="5029200" y="1737360"/>
            <a:ext cx="3657600" cy="822960"/>
          </a:xfrm>
          <a:prstGeom prst="rect">
            <a:avLst/>
          </a:prstGeom>
          <a:noFill/>
          <a:ln/>
        </p:spPr>
        <p:txBody>
          <a:bodyPr wrap="square" lIns="0" tIns="0" rIns="0" bIns="0" rtlCol="0" anchor="ctr"/>
          <a:lstStyle/>
          <a:p>
            <a:pPr algn="ctr" indent="0" marL="0">
              <a:buNone/>
            </a:pPr>
            <a:r>
              <a:rPr lang="en-US" sz="4400" b="1" dirty="0">
                <a:solidFill>
                  <a:srgbClr val="39A56A"/>
                </a:solidFill>
                <a:latin typeface="Calibri" pitchFamily="34" charset="0"/>
                <a:ea typeface="Calibri" pitchFamily="34" charset="-122"/>
                <a:cs typeface="Calibri" pitchFamily="34" charset="-120"/>
              </a:rPr>
              <a:t>2.1 Mbps</a:t>
            </a:r>
            <a:endParaRPr lang="en-US" sz="4400" dirty="0"/>
          </a:p>
        </p:txBody>
      </p:sp>
      <p:sp>
        <p:nvSpPr>
          <p:cNvPr id="10" name="Text 7"/>
          <p:cNvSpPr txBox="1"/>
          <p:nvPr/>
        </p:nvSpPr>
        <p:spPr>
          <a:xfrm>
            <a:off x="5029200" y="2560320"/>
            <a:ext cx="3657600" cy="457200"/>
          </a:xfrm>
          <a:prstGeom prst="rect">
            <a:avLst/>
          </a:prstGeom>
          <a:noFill/>
          <a:ln/>
        </p:spPr>
        <p:txBody>
          <a:bodyPr wrap="square" lIns="0" tIns="0" rIns="0" bIns="0" rtlCol="0" anchor="ctr"/>
          <a:lstStyle/>
          <a:p>
            <a:pPr algn="ctr" indent="0" marL="0">
              <a:buNone/>
            </a:pPr>
            <a:r>
              <a:rPr lang="en-US" sz="1200" dirty="0">
                <a:solidFill>
                  <a:srgbClr val="8A97A6"/>
                </a:solidFill>
                <a:latin typeface="Calibri" pitchFamily="34" charset="0"/>
                <a:ea typeface="Calibri" pitchFamily="34" charset="-122"/>
                <a:cs typeface="Calibri" pitchFamily="34" charset="-120"/>
              </a:rPr>
              <a:t>text metadata only, edge-first</a:t>
            </a:r>
            <a:endParaRPr lang="en-US" sz="1200" dirty="0"/>
          </a:p>
        </p:txBody>
      </p:sp>
      <p:sp>
        <p:nvSpPr>
          <p:cNvPr id="11" name="Text 8"/>
          <p:cNvSpPr txBox="1"/>
          <p:nvPr/>
        </p:nvSpPr>
        <p:spPr>
          <a:xfrm>
            <a:off x="8686800" y="1737360"/>
            <a:ext cx="3017520" cy="822960"/>
          </a:xfrm>
          <a:prstGeom prst="rect">
            <a:avLst/>
          </a:prstGeom>
          <a:noFill/>
          <a:ln/>
        </p:spPr>
        <p:txBody>
          <a:bodyPr wrap="square" lIns="0" tIns="0" rIns="0" bIns="0" rtlCol="0" anchor="ctr"/>
          <a:lstStyle/>
          <a:p>
            <a:pPr algn="ctr" indent="0" marL="0">
              <a:buNone/>
            </a:pPr>
            <a:r>
              <a:rPr lang="en-US" sz="4400" b="1" dirty="0">
                <a:solidFill>
                  <a:srgbClr val="3D7FD6"/>
                </a:solidFill>
                <a:latin typeface="Calibri" pitchFamily="34" charset="0"/>
                <a:ea typeface="Calibri" pitchFamily="34" charset="-122"/>
                <a:cs typeface="Calibri" pitchFamily="34" charset="-120"/>
              </a:rPr>
              <a:t>3,750x</a:t>
            </a:r>
            <a:endParaRPr lang="en-US" sz="4400" dirty="0"/>
          </a:p>
        </p:txBody>
      </p:sp>
      <p:sp>
        <p:nvSpPr>
          <p:cNvPr id="12" name="Text 9"/>
          <p:cNvSpPr txBox="1"/>
          <p:nvPr/>
        </p:nvSpPr>
        <p:spPr>
          <a:xfrm>
            <a:off x="8686800" y="2560320"/>
            <a:ext cx="3017520" cy="457200"/>
          </a:xfrm>
          <a:prstGeom prst="rect">
            <a:avLst/>
          </a:prstGeom>
          <a:noFill/>
          <a:ln/>
        </p:spPr>
        <p:txBody>
          <a:bodyPr wrap="square" lIns="0" tIns="0" rIns="0" bIns="0" rtlCol="0" anchor="ctr"/>
          <a:lstStyle/>
          <a:p>
            <a:pPr algn="ctr" indent="0" marL="0">
              <a:buNone/>
            </a:pPr>
            <a:r>
              <a:rPr lang="en-US" sz="1200" dirty="0">
                <a:solidFill>
                  <a:srgbClr val="8A97A6"/>
                </a:solidFill>
                <a:latin typeface="Calibri" pitchFamily="34" charset="0"/>
                <a:ea typeface="Calibri" pitchFamily="34" charset="-122"/>
                <a:cs typeface="Calibri" pitchFamily="34" charset="-120"/>
              </a:rPr>
              <a:t>less WAN load</a:t>
            </a:r>
            <a:endParaRPr lang="en-US" sz="1200" dirty="0"/>
          </a:p>
        </p:txBody>
      </p:sp>
      <p:sp>
        <p:nvSpPr>
          <p:cNvPr id="13" name="Shape 10"/>
          <p:cNvSpPr/>
          <p:nvPr/>
        </p:nvSpPr>
        <p:spPr>
          <a:xfrm>
            <a:off x="457200" y="3383280"/>
            <a:ext cx="5486400" cy="2743200"/>
          </a:xfrm>
          <a:prstGeom prst="roundRect">
            <a:avLst>
              <a:gd name="adj" fmla="val 4000"/>
            </a:avLst>
          </a:prstGeom>
          <a:solidFill>
            <a:srgbClr val="111823"/>
          </a:solidFill>
          <a:ln w="9525">
            <a:solidFill>
              <a:srgbClr val="1E2A3A"/>
            </a:solidFill>
            <a:prstDash val="solid"/>
          </a:ln>
        </p:spPr>
      </p:sp>
      <p:sp>
        <p:nvSpPr>
          <p:cNvPr id="14" name="Text 11"/>
          <p:cNvSpPr txBox="1"/>
          <p:nvPr/>
        </p:nvSpPr>
        <p:spPr>
          <a:xfrm>
            <a:off x="685800" y="3520440"/>
            <a:ext cx="5029200" cy="274320"/>
          </a:xfrm>
          <a:prstGeom prst="rect">
            <a:avLst/>
          </a:prstGeom>
          <a:noFill/>
          <a:ln/>
        </p:spPr>
        <p:txBody>
          <a:bodyPr wrap="square" lIns="0" tIns="0" rIns="0" bIns="0" rtlCol="0" anchor="ctr"/>
          <a:lstStyle/>
          <a:p>
            <a:pPr indent="0" marL="0">
              <a:buNone/>
            </a:pPr>
            <a:r>
              <a:rPr lang="en-US" sz="1050" dirty="0">
                <a:solidFill>
                  <a:srgbClr val="3D7FD6"/>
                </a:solidFill>
                <a:latin typeface="Calibri" pitchFamily="34" charset="0"/>
                <a:ea typeface="Calibri" pitchFamily="34" charset="-122"/>
                <a:cs typeface="Calibri" pitchFamily="34" charset="-120"/>
              </a:rPr>
              <a:t>GPU FLEET: SIZING FOLLOWS ENGINEERING CHOICES</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3840480"/>
          <a:ext cx="5029200" cy="914400"/>
        </p:xfrm>
        <a:graphic>
          <a:graphicData uri="http://schemas.openxmlformats.org/drawingml/2006/table">
            <a:tbl>
              <a:tblPr/>
              <a:tblGrid>
                <a:gridCol w="3017520"/>
                <a:gridCol w="914400"/>
                <a:gridCol w="1097280"/>
              </a:tblGrid>
              <a:tr h="365760">
                <a:tc>
                  <a:txBody>
                    <a:bodyPr/>
                    <a:lstStyle/>
                    <a:p>
                      <a:pPr algn="l" indent="0" marL="0">
                        <a:buNone/>
                      </a:pPr>
                      <a:r>
                        <a:rPr lang="en-US" sz="1050" dirty="0">
                          <a:solidFill>
                            <a:srgbClr val="E6EDF5"/>
                          </a:solidFill>
                          <a:latin typeface="Calibri" pitchFamily="34" charset="0"/>
                          <a:ea typeface="Calibri" pitchFamily="34" charset="-122"/>
                          <a:cs typeface="Calibri" pitchFamily="34" charset="-120"/>
                        </a:rPr>
                        <a:t>Naive: every frame, full-frame ANPR</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dirty="0">
                          <a:solidFill>
                            <a:srgbClr val="8A97A6"/>
                          </a:solidFill>
                          <a:latin typeface="Calibri" pitchFamily="34" charset="0"/>
                          <a:ea typeface="Calibri" pitchFamily="34" charset="-122"/>
                          <a:cs typeface="Calibri" pitchFamily="34" charset="-120"/>
                        </a:rPr>
                        <a:t>30 / GPU</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b="1" dirty="0">
                          <a:solidFill>
                            <a:srgbClr val="8A97A6"/>
                          </a:solidFill>
                          <a:latin typeface="Calibri" pitchFamily="34" charset="0"/>
                          <a:ea typeface="Calibri" pitchFamily="34" charset="-122"/>
                          <a:cs typeface="Calibri" pitchFamily="34" charset="-120"/>
                        </a:rPr>
                        <a:t>2,667 GPUs</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r>
              <a:tr h="365760">
                <a:tc>
                  <a:txBody>
                    <a:bodyPr/>
                    <a:lstStyle/>
                    <a:p>
                      <a:pPr algn="l" indent="0" marL="0">
                        <a:buNone/>
                      </a:pPr>
                      <a:r>
                        <a:rPr lang="en-US" sz="1050" dirty="0">
                          <a:solidFill>
                            <a:srgbClr val="E6EDF5"/>
                          </a:solidFill>
                          <a:latin typeface="Calibri" pitchFamily="34" charset="0"/>
                          <a:ea typeface="Calibri" pitchFamily="34" charset="-122"/>
                          <a:cs typeface="Calibri" pitchFamily="34" charset="-120"/>
                        </a:rPr>
                        <a:t>5 fps sampling</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dirty="0">
                          <a:solidFill>
                            <a:srgbClr val="8A97A6"/>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b="1" dirty="0">
                          <a:solidFill>
                            <a:srgbClr val="8A97A6"/>
                          </a:solidFill>
                          <a:latin typeface="Calibri" pitchFamily="34" charset="0"/>
                          <a:ea typeface="Calibri" pitchFamily="34" charset="-122"/>
                          <a:cs typeface="Calibri" pitchFamily="34" charset="-120"/>
                        </a:rPr>
                        <a:t>1,600</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r>
              <a:tr h="365760">
                <a:tc>
                  <a:txBody>
                    <a:bodyPr/>
                    <a:lstStyle/>
                    <a:p>
                      <a:pPr algn="l" indent="0" marL="0">
                        <a:buNone/>
                      </a:pPr>
                      <a:r>
                        <a:rPr lang="en-US" sz="1050" dirty="0">
                          <a:solidFill>
                            <a:srgbClr val="E6EDF5"/>
                          </a:solidFill>
                          <a:latin typeface="Calibri" pitchFamily="34" charset="0"/>
                          <a:ea typeface="Calibri" pitchFamily="34" charset="-122"/>
                          <a:cs typeface="Calibri" pitchFamily="34" charset="-120"/>
                        </a:rPr>
                        <a:t>plus motion gating</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dirty="0">
                          <a:solidFill>
                            <a:srgbClr val="8A97A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b="1" dirty="0">
                          <a:solidFill>
                            <a:srgbClr val="8A97A6"/>
                          </a:solidFill>
                          <a:latin typeface="Calibri" pitchFamily="34" charset="0"/>
                          <a:ea typeface="Calibri" pitchFamily="34" charset="-122"/>
                          <a:cs typeface="Calibri" pitchFamily="34" charset="-120"/>
                        </a:rPr>
                        <a:t>800</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r>
              <a:tr h="365760">
                <a:tc>
                  <a:txBody>
                    <a:bodyPr/>
                    <a:lstStyle/>
                    <a:p>
                      <a:pPr algn="l" indent="0" marL="0">
                        <a:buNone/>
                      </a:pPr>
                      <a:r>
                        <a:rPr lang="en-US" sz="1050" dirty="0">
                          <a:solidFill>
                            <a:srgbClr val="E6EDF5"/>
                          </a:solidFill>
                          <a:latin typeface="Calibri" pitchFamily="34" charset="0"/>
                          <a:ea typeface="Calibri" pitchFamily="34" charset="-122"/>
                          <a:cs typeface="Calibri" pitchFamily="34" charset="-120"/>
                        </a:rPr>
                        <a:t>plus cascade and INT8</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dirty="0">
                          <a:solidFill>
                            <a:srgbClr val="8A97A6"/>
                          </a:solidFill>
                          <a:latin typeface="Calibri" pitchFamily="34" charset="0"/>
                          <a:ea typeface="Calibri" pitchFamily="34" charset="-122"/>
                          <a:cs typeface="Calibri" pitchFamily="34" charset="-120"/>
                        </a:rPr>
                        <a:t>150</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b="1" dirty="0">
                          <a:solidFill>
                            <a:srgbClr val="8A97A6"/>
                          </a:solidFill>
                          <a:latin typeface="Calibri" pitchFamily="34" charset="0"/>
                          <a:ea typeface="Calibri" pitchFamily="34" charset="-122"/>
                          <a:cs typeface="Calibri" pitchFamily="34" charset="-120"/>
                        </a:rPr>
                        <a:t>533</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r>
              <a:tr h="365760">
                <a:tc>
                  <a:txBody>
                    <a:bodyPr/>
                    <a:lstStyle/>
                    <a:p>
                      <a:pPr algn="l" indent="0" marL="0">
                        <a:buNone/>
                      </a:pPr>
                      <a:r>
                        <a:rPr lang="en-US" sz="1050" dirty="0">
                          <a:solidFill>
                            <a:srgbClr val="E6EDF5"/>
                          </a:solidFill>
                          <a:latin typeface="Calibri" pitchFamily="34" charset="0"/>
                          <a:ea typeface="Calibri" pitchFamily="34" charset="-122"/>
                          <a:cs typeface="Calibri" pitchFamily="34" charset="-120"/>
                        </a:rPr>
                        <a:t>plus ROI and tuning</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dirty="0">
                          <a:solidFill>
                            <a:srgbClr val="8A97A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c>
                  <a:txBody>
                    <a:bodyPr/>
                    <a:lstStyle/>
                    <a:p>
                      <a:pPr algn="r" indent="0" marL="0">
                        <a:buNone/>
                      </a:pPr>
                      <a:r>
                        <a:rPr lang="en-US" sz="1050" b="1" dirty="0">
                          <a:solidFill>
                            <a:srgbClr val="8A97A6"/>
                          </a:solidFill>
                          <a:latin typeface="Calibri" pitchFamily="34" charset="0"/>
                          <a:ea typeface="Calibri" pitchFamily="34" charset="-122"/>
                          <a:cs typeface="Calibri" pitchFamily="34" charset="-120"/>
                        </a:rPr>
                        <a:t>400</a:t>
                      </a:r>
                      <a:endParaRPr lang="en-US" sz="1050" dirty="0">
                        <a:latin typeface="Calibri" charset="0"/>
                        <a:ea typeface="Calibri" charset="0"/>
                        <a:cs typeface="Calibri" charset="0"/>
                      </a:endParaRPr>
                    </a:p>
                  </a:txBody>
                  <a:tcPr marL="91440" marR="91440" marT="45720" marB="45720">
                    <a:lnL w="6350" cap="flat" cmpd="sng" algn="ctr">
                      <a:solidFill>
                        <a:srgbClr val="1E2A3A"/>
                      </a:solidFill>
                      <a:prstDash val="solid"/>
                      <a:round/>
                      <a:headEnd type="none" w="med" len="med"/>
                      <a:tailEnd type="none" w="med" len="med"/>
                    </a:lnL>
                    <a:lnR w="6350" cap="flat" cmpd="sng" algn="ctr">
                      <a:solidFill>
                        <a:srgbClr val="1E2A3A"/>
                      </a:solidFill>
                      <a:prstDash val="solid"/>
                      <a:round/>
                      <a:headEnd type="none" w="med" len="med"/>
                      <a:tailEnd type="none" w="med" len="med"/>
                    </a:lnR>
                    <a:lnT w="6350" cap="flat" cmpd="sng" algn="ctr">
                      <a:solidFill>
                        <a:srgbClr val="1E2A3A"/>
                      </a:solidFill>
                      <a:prstDash val="solid"/>
                      <a:round/>
                      <a:headEnd type="none" w="med" len="med"/>
                      <a:tailEnd type="none" w="med" len="med"/>
                    </a:lnT>
                    <a:lnB w="6350" cap="flat" cmpd="sng" algn="ctr">
                      <a:solidFill>
                        <a:srgbClr val="1E2A3A"/>
                      </a:solidFill>
                      <a:prstDash val="solid"/>
                      <a:round/>
                      <a:headEnd type="none" w="med" len="med"/>
                      <a:tailEnd type="none" w="med" len="med"/>
                    </a:lnB>
                    <a:solidFill>
                      <a:srgbClr val="111823"/>
                    </a:solidFill>
                  </a:tcPr>
                </a:tc>
              </a:tr>
            </a:tbl>
          </a:graphicData>
        </a:graphic>
      </p:graphicFrame>
      <p:sp>
        <p:nvSpPr>
          <p:cNvPr id="16" name="Shape 12"/>
          <p:cNvSpPr/>
          <p:nvPr/>
        </p:nvSpPr>
        <p:spPr>
          <a:xfrm>
            <a:off x="6217920" y="3383280"/>
            <a:ext cx="5486400" cy="2743200"/>
          </a:xfrm>
          <a:prstGeom prst="roundRect">
            <a:avLst>
              <a:gd name="adj" fmla="val 4000"/>
            </a:avLst>
          </a:prstGeom>
          <a:solidFill>
            <a:srgbClr val="111823"/>
          </a:solidFill>
          <a:ln w="9525">
            <a:solidFill>
              <a:srgbClr val="1E2A3A"/>
            </a:solidFill>
            <a:prstDash val="solid"/>
          </a:ln>
        </p:spPr>
      </p:sp>
      <p:sp>
        <p:nvSpPr>
          <p:cNvPr id="17" name="Text 13"/>
          <p:cNvSpPr txBox="1"/>
          <p:nvPr/>
        </p:nvSpPr>
        <p:spPr>
          <a:xfrm>
            <a:off x="6446520" y="3520440"/>
            <a:ext cx="5029200" cy="274320"/>
          </a:xfrm>
          <a:prstGeom prst="rect">
            <a:avLst/>
          </a:prstGeom>
          <a:noFill/>
          <a:ln/>
        </p:spPr>
        <p:txBody>
          <a:bodyPr wrap="square" lIns="0" tIns="0" rIns="0" bIns="0" rtlCol="0" anchor="ctr"/>
          <a:lstStyle/>
          <a:p>
            <a:pPr indent="0" marL="0">
              <a:buNone/>
            </a:pPr>
            <a:r>
              <a:rPr lang="en-US" sz="1050" dirty="0">
                <a:solidFill>
                  <a:srgbClr val="D64F6A"/>
                </a:solidFill>
                <a:latin typeface="Calibri" pitchFamily="34" charset="0"/>
                <a:ea typeface="Calibri" pitchFamily="34" charset="-122"/>
                <a:cs typeface="Calibri" pitchFamily="34" charset="-120"/>
              </a:rPr>
              <a:t>DECODE IS USUALLY THE BINDING CEILING</a:t>
            </a:r>
            <a:endParaRPr lang="en-US" sz="1050" dirty="0"/>
          </a:p>
        </p:txBody>
      </p:sp>
      <p:sp>
        <p:nvSpPr>
          <p:cNvPr id="18" name="Text 14"/>
          <p:cNvSpPr txBox="1"/>
          <p:nvPr/>
        </p:nvSpPr>
        <p:spPr>
          <a:xfrm>
            <a:off x="6446520" y="3840480"/>
            <a:ext cx="5029200" cy="2194560"/>
          </a:xfrm>
          <a:prstGeom prst="rect">
            <a:avLst/>
          </a:prstGeom>
          <a:noFill/>
          <a:ln/>
        </p:spPr>
        <p:txBody>
          <a:bodyPr wrap="square" lIns="25400" tIns="25400" rIns="25400" bIns="25400" rtlCol="0" anchor="t"/>
          <a:lstStyle/>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Every stream is H.264 or H.265 decoded before any model sees it, and NVDEC caps at roughly 20 to 40 sessions per GPU</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At 30 sessions per GPU that is 2,667 GPUs for decode alone, so tuning inference to 200 streams per GPU leaves the tensor cores about 85% idle</a:t>
            </a:r>
            <a:endParaRPr lang="en-US" sz="1100" dirty="0"/>
          </a:p>
          <a:p>
            <a:pPr marL="342900" indent="-342900">
              <a:spcAft>
                <a:spcPts val="500"/>
              </a:spcAft>
              <a:buSzPct val="100000"/>
              <a:buChar char="•"/>
            </a:pPr>
            <a:r>
              <a:rPr lang="en-US" sz="1100" dirty="0">
                <a:solidFill>
                  <a:srgbClr val="E6EDF5"/>
                </a:solidFill>
                <a:latin typeface="Calibri" pitchFamily="34" charset="0"/>
                <a:ea typeface="Calibri" pitchFamily="34" charset="-122"/>
                <a:cs typeface="Calibri" pitchFamily="34" charset="-120"/>
              </a:rPr>
              <a:t>Mitigation: decode only the frames you run inference on, prefer H.265, use CPU decode for low-fps tiers, and provision against whichever ceiling binds, measured rather than assumed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Storage at scale</a:t>
            </a:r>
            <a:endParaRPr lang="en-US" sz="3000" dirty="0"/>
          </a:p>
        </p:txBody>
      </p:sp>
      <p:sp>
        <p:nvSpPr>
          <p:cNvPr id="5" name="Text 2"/>
          <p:cNvSpPr txBox="1"/>
          <p:nvPr/>
        </p:nvSpPr>
        <p:spPr>
          <a:xfrm>
            <a:off x="457200" y="932688"/>
            <a:ext cx="11247120" cy="365760"/>
          </a:xfrm>
          <a:prstGeom prst="rect">
            <a:avLst/>
          </a:prstGeom>
          <a:noFill/>
          <a:ln/>
        </p:spPr>
        <p:txBody>
          <a:bodyPr wrap="square" lIns="0" tIns="0" rIns="0" bIns="0" rtlCol="0" anchor="ctr"/>
          <a:lstStyle/>
          <a:p>
            <a:pPr indent="0" marL="0">
              <a:buNone/>
            </a:pPr>
            <a:r>
              <a:rPr lang="en-US" sz="1400" dirty="0">
                <a:solidFill>
                  <a:srgbClr val="8A97A6"/>
                </a:solidFill>
                <a:latin typeface="Calibri" pitchFamily="34" charset="0"/>
                <a:ea typeface="Calibri" pitchFamily="34" charset="-122"/>
                <a:cs typeface="Calibri" pitchFamily="34" charset="-120"/>
              </a:rPr>
              <a:t>Per day, statewide. [model] from one detection per camera per minute; the demo measures the real rate</a:t>
            </a:r>
            <a:endParaRPr lang="en-US" sz="1400" dirty="0"/>
          </a:p>
        </p:txBody>
      </p:sp>
      <p:sp>
        <p:nvSpPr>
          <p:cNvPr id="6" name="Text 3"/>
          <p:cNvSpPr txBox="1"/>
          <p:nvPr/>
        </p:nvSpPr>
        <p:spPr>
          <a:xfrm>
            <a:off x="457200" y="1645920"/>
            <a:ext cx="3657600" cy="822960"/>
          </a:xfrm>
          <a:prstGeom prst="rect">
            <a:avLst/>
          </a:prstGeom>
          <a:noFill/>
          <a:ln/>
        </p:spPr>
        <p:txBody>
          <a:bodyPr wrap="square" lIns="0" tIns="0" rIns="0" bIns="0" rtlCol="0" anchor="ctr"/>
          <a:lstStyle/>
          <a:p>
            <a:pPr algn="ctr" indent="0" marL="0">
              <a:buNone/>
            </a:pPr>
            <a:r>
              <a:rPr lang="en-US" sz="4400" b="1" dirty="0">
                <a:solidFill>
                  <a:srgbClr val="D64F6A"/>
                </a:solidFill>
                <a:latin typeface="Calibri" pitchFamily="34" charset="0"/>
                <a:ea typeface="Calibri" pitchFamily="34" charset="-122"/>
                <a:cs typeface="Calibri" pitchFamily="34" charset="-120"/>
              </a:rPr>
              <a:t>3.46 TB</a:t>
            </a:r>
            <a:endParaRPr lang="en-US" sz="4400" dirty="0"/>
          </a:p>
        </p:txBody>
      </p:sp>
      <p:sp>
        <p:nvSpPr>
          <p:cNvPr id="7" name="Text 4"/>
          <p:cNvSpPr txBox="1"/>
          <p:nvPr/>
        </p:nvSpPr>
        <p:spPr>
          <a:xfrm>
            <a:off x="457200" y="2468880"/>
            <a:ext cx="3657600" cy="457200"/>
          </a:xfrm>
          <a:prstGeom prst="rect">
            <a:avLst/>
          </a:prstGeom>
          <a:noFill/>
          <a:ln/>
        </p:spPr>
        <p:txBody>
          <a:bodyPr wrap="square" lIns="0" tIns="0" rIns="0" bIns="0" rtlCol="0" anchor="ctr"/>
          <a:lstStyle/>
          <a:p>
            <a:pPr algn="ctr" indent="0" marL="0">
              <a:buNone/>
            </a:pPr>
            <a:r>
              <a:rPr lang="en-US" sz="1200" dirty="0">
                <a:solidFill>
                  <a:srgbClr val="8A97A6"/>
                </a:solidFill>
                <a:latin typeface="Calibri" pitchFamily="34" charset="0"/>
                <a:ea typeface="Calibri" pitchFamily="34" charset="-122"/>
                <a:cs typeface="Calibri" pitchFamily="34" charset="-120"/>
              </a:rPr>
              <a:t>detection snapshots as full frames</a:t>
            </a:r>
            <a:endParaRPr lang="en-US" sz="1200" dirty="0"/>
          </a:p>
        </p:txBody>
      </p:sp>
      <p:sp>
        <p:nvSpPr>
          <p:cNvPr id="8" name="Text 5"/>
          <p:cNvSpPr txBox="1"/>
          <p:nvPr/>
        </p:nvSpPr>
        <p:spPr>
          <a:xfrm>
            <a:off x="4206240" y="1645920"/>
            <a:ext cx="3657600" cy="822960"/>
          </a:xfrm>
          <a:prstGeom prst="rect">
            <a:avLst/>
          </a:prstGeom>
          <a:noFill/>
          <a:ln/>
        </p:spPr>
        <p:txBody>
          <a:bodyPr wrap="square" lIns="0" tIns="0" rIns="0" bIns="0" rtlCol="0" anchor="ctr"/>
          <a:lstStyle/>
          <a:p>
            <a:pPr algn="ctr" indent="0" marL="0">
              <a:buNone/>
            </a:pPr>
            <a:r>
              <a:rPr lang="en-US" sz="4400" b="1" dirty="0">
                <a:solidFill>
                  <a:srgbClr val="39A56A"/>
                </a:solidFill>
                <a:latin typeface="Calibri" pitchFamily="34" charset="0"/>
                <a:ea typeface="Calibri" pitchFamily="34" charset="-122"/>
                <a:cs typeface="Calibri" pitchFamily="34" charset="-120"/>
              </a:rPr>
              <a:t>0.23 TB</a:t>
            </a:r>
            <a:endParaRPr lang="en-US" sz="4400" dirty="0"/>
          </a:p>
        </p:txBody>
      </p:sp>
      <p:sp>
        <p:nvSpPr>
          <p:cNvPr id="9" name="Text 6"/>
          <p:cNvSpPr txBox="1"/>
          <p:nvPr/>
        </p:nvSpPr>
        <p:spPr>
          <a:xfrm>
            <a:off x="4206240" y="2468880"/>
            <a:ext cx="3657600" cy="457200"/>
          </a:xfrm>
          <a:prstGeom prst="rect">
            <a:avLst/>
          </a:prstGeom>
          <a:noFill/>
          <a:ln/>
        </p:spPr>
        <p:txBody>
          <a:bodyPr wrap="square" lIns="0" tIns="0" rIns="0" bIns="0" rtlCol="0" anchor="ctr"/>
          <a:lstStyle/>
          <a:p>
            <a:pPr algn="ctr" indent="0" marL="0">
              <a:buNone/>
            </a:pPr>
            <a:r>
              <a:rPr lang="en-US" sz="1200" dirty="0">
                <a:solidFill>
                  <a:srgbClr val="8A97A6"/>
                </a:solidFill>
                <a:latin typeface="Calibri" pitchFamily="34" charset="0"/>
                <a:ea typeface="Calibri" pitchFamily="34" charset="-122"/>
                <a:cs typeface="Calibri" pitchFamily="34" charset="-120"/>
              </a:rPr>
              <a:t>plate crops of about 2 KB instead, 15 times less</a:t>
            </a:r>
            <a:endParaRPr lang="en-US" sz="1200" dirty="0"/>
          </a:p>
        </p:txBody>
      </p:sp>
      <p:sp>
        <p:nvSpPr>
          <p:cNvPr id="10" name="Text 7"/>
          <p:cNvSpPr txBox="1"/>
          <p:nvPr/>
        </p:nvSpPr>
        <p:spPr>
          <a:xfrm>
            <a:off x="7955280" y="1645920"/>
            <a:ext cx="3749040" cy="822960"/>
          </a:xfrm>
          <a:prstGeom prst="rect">
            <a:avLst/>
          </a:prstGeom>
          <a:noFill/>
          <a:ln/>
        </p:spPr>
        <p:txBody>
          <a:bodyPr wrap="square" lIns="0" tIns="0" rIns="0" bIns="0" rtlCol="0" anchor="ctr"/>
          <a:lstStyle/>
          <a:p>
            <a:pPr algn="ctr" indent="0" marL="0">
              <a:buNone/>
            </a:pPr>
            <a:r>
              <a:rPr lang="en-US" sz="4400" b="1" dirty="0">
                <a:solidFill>
                  <a:srgbClr val="E0912F"/>
                </a:solidFill>
                <a:latin typeface="Calibri" pitchFamily="34" charset="0"/>
                <a:ea typeface="Calibri" pitchFamily="34" charset="-122"/>
                <a:cs typeface="Calibri" pitchFamily="34" charset="-120"/>
              </a:rPr>
              <a:t>220 GB</a:t>
            </a:r>
            <a:endParaRPr lang="en-US" sz="4400" dirty="0"/>
          </a:p>
        </p:txBody>
      </p:sp>
      <p:sp>
        <p:nvSpPr>
          <p:cNvPr id="11" name="Text 8"/>
          <p:cNvSpPr txBox="1"/>
          <p:nvPr/>
        </p:nvSpPr>
        <p:spPr>
          <a:xfrm>
            <a:off x="7955280" y="2468880"/>
            <a:ext cx="3749040" cy="457200"/>
          </a:xfrm>
          <a:prstGeom prst="rect">
            <a:avLst/>
          </a:prstGeom>
          <a:noFill/>
          <a:ln/>
        </p:spPr>
        <p:txBody>
          <a:bodyPr wrap="square" lIns="0" tIns="0" rIns="0" bIns="0" rtlCol="0" anchor="ctr"/>
          <a:lstStyle/>
          <a:p>
            <a:pPr algn="ctr" indent="0" marL="0">
              <a:buNone/>
            </a:pPr>
            <a:r>
              <a:rPr lang="en-US" sz="1200" dirty="0">
                <a:solidFill>
                  <a:srgbClr val="8A97A6"/>
                </a:solidFill>
                <a:latin typeface="Calibri" pitchFamily="34" charset="0"/>
                <a:ea typeface="Calibri" pitchFamily="34" charset="-122"/>
                <a:cs typeface="Calibri" pitchFamily="34" charset="-120"/>
              </a:rPr>
              <a:t>evidence clips at 10,000 hits per day</a:t>
            </a:r>
            <a:endParaRPr lang="en-US" sz="1200" dirty="0"/>
          </a:p>
        </p:txBody>
      </p:sp>
      <p:sp>
        <p:nvSpPr>
          <p:cNvPr id="12" name="Shape 9"/>
          <p:cNvSpPr/>
          <p:nvPr/>
        </p:nvSpPr>
        <p:spPr>
          <a:xfrm>
            <a:off x="457200" y="3291840"/>
            <a:ext cx="11247120" cy="2834640"/>
          </a:xfrm>
          <a:prstGeom prst="roundRect">
            <a:avLst>
              <a:gd name="adj" fmla="val 3871"/>
            </a:avLst>
          </a:prstGeom>
          <a:solidFill>
            <a:srgbClr val="111823"/>
          </a:solidFill>
          <a:ln w="9525">
            <a:solidFill>
              <a:srgbClr val="1E2A3A"/>
            </a:solidFill>
            <a:prstDash val="solid"/>
          </a:ln>
        </p:spPr>
      </p:sp>
      <p:sp>
        <p:nvSpPr>
          <p:cNvPr id="13" name="Text 10"/>
          <p:cNvSpPr txBox="1"/>
          <p:nvPr/>
        </p:nvSpPr>
        <p:spPr>
          <a:xfrm>
            <a:off x="685800" y="3429000"/>
            <a:ext cx="10881360" cy="2606040"/>
          </a:xfrm>
          <a:prstGeom prst="rect">
            <a:avLst/>
          </a:prstGeom>
          <a:noFill/>
          <a:ln/>
        </p:spPr>
        <p:txBody>
          <a:bodyPr wrap="square" lIns="25400" tIns="25400" rIns="25400" bIns="25400" rtlCol="0" anchor="t"/>
          <a:lstStyle/>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Retention tiers: hot for 7 days, warm for 90, then a cold or frozen archive. Sighting records run to about 115 M per day, 42 billion per year and 21 TB per year indexed, so shard and tier from day one. Retrofitting that after the index is built is a migration with no good window.</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Full frames only for confirmed watchlist hits, where the evidence clip exists anyway. Unmatched sighting crops expire in days rather than years.</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Evidence capture: a fixed-size rolling buffer per camera stays flat. Validated at 61 segments in 46 MB, 0.54% of one core and 13.4 s promotion latency [measured, one camera, loopback]. That is roughly 2.2 GB per day per camera-hit budget against about 1,600 GB per day for continuous recording of the same capability.</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Each department's own retention policy is honoured, and the platform deliberately keeps metadata for longer than video.</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Cybersecurity, privacy and auditability</a:t>
            </a:r>
            <a:endParaRPr lang="en-US" sz="3000" dirty="0"/>
          </a:p>
        </p:txBody>
      </p:sp>
      <p:sp>
        <p:nvSpPr>
          <p:cNvPr id="5" name="Shape 2"/>
          <p:cNvSpPr/>
          <p:nvPr/>
        </p:nvSpPr>
        <p:spPr>
          <a:xfrm>
            <a:off x="457200" y="1463040"/>
            <a:ext cx="3657600" cy="2194560"/>
          </a:xfrm>
          <a:prstGeom prst="roundRect">
            <a:avLst>
              <a:gd name="adj" fmla="val 5000"/>
            </a:avLst>
          </a:prstGeom>
          <a:solidFill>
            <a:srgbClr val="111823"/>
          </a:solidFill>
          <a:ln w="9525">
            <a:solidFill>
              <a:srgbClr val="1E2A3A"/>
            </a:solidFill>
            <a:prstDash val="solid"/>
          </a:ln>
        </p:spPr>
      </p:sp>
      <p:sp>
        <p:nvSpPr>
          <p:cNvPr id="6" name="Shape 3"/>
          <p:cNvSpPr/>
          <p:nvPr/>
        </p:nvSpPr>
        <p:spPr>
          <a:xfrm>
            <a:off x="640080" y="1664208"/>
            <a:ext cx="274320" cy="274320"/>
          </a:xfrm>
          <a:prstGeom prst="ellipse">
            <a:avLst/>
          </a:prstGeom>
          <a:solidFill>
            <a:srgbClr val="3D7FD6"/>
          </a:solidFill>
          <a:ln w="12700">
            <a:solidFill>
              <a:srgbClr val="3D7FD6"/>
            </a:solidFill>
            <a:prstDash val="solid"/>
          </a:ln>
        </p:spPr>
      </p:sp>
      <p:sp>
        <p:nvSpPr>
          <p:cNvPr id="7" name="Text 4"/>
          <p:cNvSpPr txBox="1"/>
          <p:nvPr/>
        </p:nvSpPr>
        <p:spPr>
          <a:xfrm>
            <a:off x="1024128" y="1627632"/>
            <a:ext cx="2926080" cy="347472"/>
          </a:xfrm>
          <a:prstGeom prst="rect">
            <a:avLst/>
          </a:prstGeom>
          <a:noFill/>
          <a:ln/>
        </p:spPr>
        <p:txBody>
          <a:bodyPr wrap="square" lIns="0" tIns="0" rIns="0" bIns="0" rtlCol="0" anchor="ctr"/>
          <a:lstStyle/>
          <a:p>
            <a:pPr indent="0" marL="0">
              <a:buNone/>
            </a:pPr>
            <a:r>
              <a:rPr lang="en-US" sz="1300" b="1" dirty="0">
                <a:solidFill>
                  <a:srgbClr val="E6EDF5"/>
                </a:solidFill>
                <a:latin typeface="Calibri" pitchFamily="34" charset="0"/>
                <a:ea typeface="Calibri" pitchFamily="34" charset="-122"/>
                <a:cs typeface="Calibri" pitchFamily="34" charset="-120"/>
              </a:rPr>
              <a:t>Credentials</a:t>
            </a:r>
            <a:endParaRPr lang="en-US" sz="1300" dirty="0"/>
          </a:p>
        </p:txBody>
      </p:sp>
      <p:sp>
        <p:nvSpPr>
          <p:cNvPr id="8" name="Text 5"/>
          <p:cNvSpPr txBox="1"/>
          <p:nvPr/>
        </p:nvSpPr>
        <p:spPr>
          <a:xfrm>
            <a:off x="640080" y="2057400"/>
            <a:ext cx="3291840" cy="1508760"/>
          </a:xfrm>
          <a:prstGeom prst="rect">
            <a:avLst/>
          </a:prstGeom>
          <a:noFill/>
          <a:ln/>
        </p:spPr>
        <p:txBody>
          <a:bodyPr wrap="square" lIns="0" tIns="0" rIns="0" bIns="0" rtlCol="0" anchor="t"/>
          <a:lstStyle/>
          <a:p>
            <a:pPr indent="0" marL="0">
              <a:buNone/>
            </a:pPr>
            <a:r>
              <a:rPr lang="en-US" sz="1050" dirty="0">
                <a:solidFill>
                  <a:srgbClr val="8A97A6"/>
                </a:solidFill>
                <a:latin typeface="Calibri" pitchFamily="34" charset="0"/>
                <a:ea typeface="Calibri" pitchFamily="34" charset="-122"/>
                <a:cs typeface="Calibri" pitchFamily="34" charset="-120"/>
              </a:rPr>
              <a:t>Environment or secret store only. Never hard-coded, logged, persisted or shown unmasked, and no URL carrying a credential is ever written to storage. Vault with per-department rotation in production.</a:t>
            </a:r>
            <a:endParaRPr lang="en-US" sz="1050" dirty="0"/>
          </a:p>
        </p:txBody>
      </p:sp>
      <p:sp>
        <p:nvSpPr>
          <p:cNvPr id="9" name="Shape 6"/>
          <p:cNvSpPr/>
          <p:nvPr/>
        </p:nvSpPr>
        <p:spPr>
          <a:xfrm>
            <a:off x="4251960" y="1463040"/>
            <a:ext cx="3657600" cy="2194560"/>
          </a:xfrm>
          <a:prstGeom prst="roundRect">
            <a:avLst>
              <a:gd name="adj" fmla="val 5000"/>
            </a:avLst>
          </a:prstGeom>
          <a:solidFill>
            <a:srgbClr val="111823"/>
          </a:solidFill>
          <a:ln w="9525">
            <a:solidFill>
              <a:srgbClr val="1E2A3A"/>
            </a:solidFill>
            <a:prstDash val="solid"/>
          </a:ln>
        </p:spPr>
      </p:sp>
      <p:sp>
        <p:nvSpPr>
          <p:cNvPr id="10" name="Shape 7"/>
          <p:cNvSpPr/>
          <p:nvPr/>
        </p:nvSpPr>
        <p:spPr>
          <a:xfrm>
            <a:off x="4434840" y="1664208"/>
            <a:ext cx="274320" cy="274320"/>
          </a:xfrm>
          <a:prstGeom prst="ellipse">
            <a:avLst/>
          </a:prstGeom>
          <a:solidFill>
            <a:srgbClr val="B45FD1"/>
          </a:solidFill>
          <a:ln w="12700">
            <a:solidFill>
              <a:srgbClr val="B45FD1"/>
            </a:solidFill>
            <a:prstDash val="solid"/>
          </a:ln>
        </p:spPr>
      </p:sp>
      <p:sp>
        <p:nvSpPr>
          <p:cNvPr id="11" name="Text 8"/>
          <p:cNvSpPr txBox="1"/>
          <p:nvPr/>
        </p:nvSpPr>
        <p:spPr>
          <a:xfrm>
            <a:off x="4818888" y="1627632"/>
            <a:ext cx="2926080" cy="347472"/>
          </a:xfrm>
          <a:prstGeom prst="rect">
            <a:avLst/>
          </a:prstGeom>
          <a:noFill/>
          <a:ln/>
        </p:spPr>
        <p:txBody>
          <a:bodyPr wrap="square" lIns="0" tIns="0" rIns="0" bIns="0" rtlCol="0" anchor="ctr"/>
          <a:lstStyle/>
          <a:p>
            <a:pPr indent="0" marL="0">
              <a:buNone/>
            </a:pPr>
            <a:r>
              <a:rPr lang="en-US" sz="1300" b="1" dirty="0">
                <a:solidFill>
                  <a:srgbClr val="E6EDF5"/>
                </a:solidFill>
                <a:latin typeface="Calibri" pitchFamily="34" charset="0"/>
                <a:ea typeface="Calibri" pitchFamily="34" charset="-122"/>
                <a:cs typeface="Calibri" pitchFamily="34" charset="-120"/>
              </a:rPr>
              <a:t>RBAC</a:t>
            </a:r>
            <a:endParaRPr lang="en-US" sz="1300" dirty="0"/>
          </a:p>
        </p:txBody>
      </p:sp>
      <p:sp>
        <p:nvSpPr>
          <p:cNvPr id="12" name="Text 9"/>
          <p:cNvSpPr txBox="1"/>
          <p:nvPr/>
        </p:nvSpPr>
        <p:spPr>
          <a:xfrm>
            <a:off x="4434840" y="2057400"/>
            <a:ext cx="3291840" cy="1508760"/>
          </a:xfrm>
          <a:prstGeom prst="rect">
            <a:avLst/>
          </a:prstGeom>
          <a:noFill/>
          <a:ln/>
        </p:spPr>
        <p:txBody>
          <a:bodyPr wrap="square" lIns="0" tIns="0" rIns="0" bIns="0" rtlCol="0" anchor="t"/>
          <a:lstStyle/>
          <a:p>
            <a:pPr indent="0" marL="0">
              <a:buNone/>
            </a:pPr>
            <a:r>
              <a:rPr lang="en-US" sz="1050" dirty="0">
                <a:solidFill>
                  <a:srgbClr val="8A97A6"/>
                </a:solidFill>
                <a:latin typeface="Calibri" pitchFamily="34" charset="0"/>
                <a:ea typeface="Calibri" pitchFamily="34" charset="-122"/>
                <a:cs typeface="Calibri" pitchFamily="34" charset="-120"/>
              </a:rPr>
              <a:t>Department-scoped roles, with cross-department access explicit and audited. The demo ships one operator role; production RBAC is designed.</a:t>
            </a:r>
            <a:endParaRPr lang="en-US" sz="1050" dirty="0"/>
          </a:p>
        </p:txBody>
      </p:sp>
      <p:sp>
        <p:nvSpPr>
          <p:cNvPr id="13" name="Shape 10"/>
          <p:cNvSpPr/>
          <p:nvPr/>
        </p:nvSpPr>
        <p:spPr>
          <a:xfrm>
            <a:off x="8046720" y="1463040"/>
            <a:ext cx="3657600" cy="2194560"/>
          </a:xfrm>
          <a:prstGeom prst="roundRect">
            <a:avLst>
              <a:gd name="adj" fmla="val 5000"/>
            </a:avLst>
          </a:prstGeom>
          <a:solidFill>
            <a:srgbClr val="111823"/>
          </a:solidFill>
          <a:ln w="9525">
            <a:solidFill>
              <a:srgbClr val="1E2A3A"/>
            </a:solidFill>
            <a:prstDash val="solid"/>
          </a:ln>
        </p:spPr>
      </p:sp>
      <p:sp>
        <p:nvSpPr>
          <p:cNvPr id="14" name="Shape 11"/>
          <p:cNvSpPr/>
          <p:nvPr/>
        </p:nvSpPr>
        <p:spPr>
          <a:xfrm>
            <a:off x="8229600" y="1664208"/>
            <a:ext cx="274320" cy="274320"/>
          </a:xfrm>
          <a:prstGeom prst="ellipse">
            <a:avLst/>
          </a:prstGeom>
          <a:solidFill>
            <a:srgbClr val="39A56A"/>
          </a:solidFill>
          <a:ln w="12700">
            <a:solidFill>
              <a:srgbClr val="39A56A"/>
            </a:solidFill>
            <a:prstDash val="solid"/>
          </a:ln>
        </p:spPr>
      </p:sp>
      <p:sp>
        <p:nvSpPr>
          <p:cNvPr id="15" name="Text 12"/>
          <p:cNvSpPr txBox="1"/>
          <p:nvPr/>
        </p:nvSpPr>
        <p:spPr>
          <a:xfrm>
            <a:off x="8613648" y="1627632"/>
            <a:ext cx="2926080" cy="347472"/>
          </a:xfrm>
          <a:prstGeom prst="rect">
            <a:avLst/>
          </a:prstGeom>
          <a:noFill/>
          <a:ln/>
        </p:spPr>
        <p:txBody>
          <a:bodyPr wrap="square" lIns="0" tIns="0" rIns="0" bIns="0" rtlCol="0" anchor="ctr"/>
          <a:lstStyle/>
          <a:p>
            <a:pPr indent="0" marL="0">
              <a:buNone/>
            </a:pPr>
            <a:r>
              <a:rPr lang="en-US" sz="1300" b="1" dirty="0">
                <a:solidFill>
                  <a:srgbClr val="E6EDF5"/>
                </a:solidFill>
                <a:latin typeface="Calibri" pitchFamily="34" charset="0"/>
                <a:ea typeface="Calibri" pitchFamily="34" charset="-122"/>
                <a:cs typeface="Calibri" pitchFamily="34" charset="-120"/>
              </a:rPr>
              <a:t>Encryption</a:t>
            </a:r>
            <a:endParaRPr lang="en-US" sz="1300" dirty="0"/>
          </a:p>
        </p:txBody>
      </p:sp>
      <p:sp>
        <p:nvSpPr>
          <p:cNvPr id="16" name="Text 13"/>
          <p:cNvSpPr txBox="1"/>
          <p:nvPr/>
        </p:nvSpPr>
        <p:spPr>
          <a:xfrm>
            <a:off x="8229600" y="2057400"/>
            <a:ext cx="3291840" cy="1508760"/>
          </a:xfrm>
          <a:prstGeom prst="rect">
            <a:avLst/>
          </a:prstGeom>
          <a:noFill/>
          <a:ln/>
        </p:spPr>
        <p:txBody>
          <a:bodyPr wrap="square" lIns="0" tIns="0" rIns="0" bIns="0" rtlCol="0" anchor="t"/>
          <a:lstStyle/>
          <a:p>
            <a:pPr indent="0" marL="0">
              <a:buNone/>
            </a:pPr>
            <a:r>
              <a:rPr lang="en-US" sz="1050" dirty="0">
                <a:solidFill>
                  <a:srgbClr val="8A97A6"/>
                </a:solidFill>
                <a:latin typeface="Calibri" pitchFamily="34" charset="0"/>
                <a:ea typeface="Calibri" pitchFamily="34" charset="-122"/>
                <a:cs typeface="Calibri" pitchFamily="34" charset="-120"/>
              </a:rPr>
              <a:t>TLS on every hop. Encryption at rest for the evidence store and the databases.</a:t>
            </a:r>
            <a:endParaRPr lang="en-US" sz="1050" dirty="0"/>
          </a:p>
        </p:txBody>
      </p:sp>
      <p:sp>
        <p:nvSpPr>
          <p:cNvPr id="17" name="Shape 14"/>
          <p:cNvSpPr/>
          <p:nvPr/>
        </p:nvSpPr>
        <p:spPr>
          <a:xfrm>
            <a:off x="457200" y="3840480"/>
            <a:ext cx="3657600" cy="2194560"/>
          </a:xfrm>
          <a:prstGeom prst="roundRect">
            <a:avLst>
              <a:gd name="adj" fmla="val 5000"/>
            </a:avLst>
          </a:prstGeom>
          <a:solidFill>
            <a:srgbClr val="111823"/>
          </a:solidFill>
          <a:ln w="9525">
            <a:solidFill>
              <a:srgbClr val="1E2A3A"/>
            </a:solidFill>
            <a:prstDash val="solid"/>
          </a:ln>
        </p:spPr>
      </p:sp>
      <p:sp>
        <p:nvSpPr>
          <p:cNvPr id="18" name="Shape 15"/>
          <p:cNvSpPr/>
          <p:nvPr/>
        </p:nvSpPr>
        <p:spPr>
          <a:xfrm>
            <a:off x="640080" y="4041648"/>
            <a:ext cx="274320" cy="274320"/>
          </a:xfrm>
          <a:prstGeom prst="ellipse">
            <a:avLst/>
          </a:prstGeom>
          <a:solidFill>
            <a:srgbClr val="E0912F"/>
          </a:solidFill>
          <a:ln w="12700">
            <a:solidFill>
              <a:srgbClr val="E0912F"/>
            </a:solidFill>
            <a:prstDash val="solid"/>
          </a:ln>
        </p:spPr>
      </p:sp>
      <p:sp>
        <p:nvSpPr>
          <p:cNvPr id="19" name="Text 16"/>
          <p:cNvSpPr txBox="1"/>
          <p:nvPr/>
        </p:nvSpPr>
        <p:spPr>
          <a:xfrm>
            <a:off x="1024128" y="4005072"/>
            <a:ext cx="2926080" cy="347472"/>
          </a:xfrm>
          <a:prstGeom prst="rect">
            <a:avLst/>
          </a:prstGeom>
          <a:noFill/>
          <a:ln/>
        </p:spPr>
        <p:txBody>
          <a:bodyPr wrap="square" lIns="0" tIns="0" rIns="0" bIns="0" rtlCol="0" anchor="ctr"/>
          <a:lstStyle/>
          <a:p>
            <a:pPr indent="0" marL="0">
              <a:buNone/>
            </a:pPr>
            <a:r>
              <a:rPr lang="en-US" sz="1300" b="1" dirty="0">
                <a:solidFill>
                  <a:srgbClr val="E6EDF5"/>
                </a:solidFill>
                <a:latin typeface="Calibri" pitchFamily="34" charset="0"/>
                <a:ea typeface="Calibri" pitchFamily="34" charset="-122"/>
                <a:cs typeface="Calibri" pitchFamily="34" charset="-120"/>
              </a:rPr>
              <a:t>Segmentation</a:t>
            </a:r>
            <a:endParaRPr lang="en-US" sz="1300" dirty="0"/>
          </a:p>
        </p:txBody>
      </p:sp>
      <p:sp>
        <p:nvSpPr>
          <p:cNvPr id="20" name="Text 17"/>
          <p:cNvSpPr txBox="1"/>
          <p:nvPr/>
        </p:nvSpPr>
        <p:spPr>
          <a:xfrm>
            <a:off x="640080" y="4434840"/>
            <a:ext cx="3291840" cy="1508760"/>
          </a:xfrm>
          <a:prstGeom prst="rect">
            <a:avLst/>
          </a:prstGeom>
          <a:noFill/>
          <a:ln/>
        </p:spPr>
        <p:txBody>
          <a:bodyPr wrap="square" lIns="0" tIns="0" rIns="0" bIns="0" rtlCol="0" anchor="t"/>
          <a:lstStyle/>
          <a:p>
            <a:pPr indent="0" marL="0">
              <a:buNone/>
            </a:pPr>
            <a:r>
              <a:rPr lang="en-US" sz="1050" dirty="0">
                <a:solidFill>
                  <a:srgbClr val="8A97A6"/>
                </a:solidFill>
                <a:latin typeface="Calibri" pitchFamily="34" charset="0"/>
                <a:ea typeface="Calibri" pitchFamily="34" charset="-122"/>
                <a:cs typeface="Calibri" pitchFamily="34" charset="-120"/>
              </a:rPr>
              <a:t>Edge nodes in department DMZs, central services segmented, least-privilege rules between tiers. Consume-only means no inbound path into a departmental control plane.</a:t>
            </a:r>
            <a:endParaRPr lang="en-US" sz="1050" dirty="0"/>
          </a:p>
        </p:txBody>
      </p:sp>
      <p:sp>
        <p:nvSpPr>
          <p:cNvPr id="21" name="Shape 18"/>
          <p:cNvSpPr/>
          <p:nvPr/>
        </p:nvSpPr>
        <p:spPr>
          <a:xfrm>
            <a:off x="4251960" y="3840480"/>
            <a:ext cx="3657600" cy="2194560"/>
          </a:xfrm>
          <a:prstGeom prst="roundRect">
            <a:avLst>
              <a:gd name="adj" fmla="val 5000"/>
            </a:avLst>
          </a:prstGeom>
          <a:solidFill>
            <a:srgbClr val="111823"/>
          </a:solidFill>
          <a:ln w="9525">
            <a:solidFill>
              <a:srgbClr val="1E2A3A"/>
            </a:solidFill>
            <a:prstDash val="solid"/>
          </a:ln>
        </p:spPr>
      </p:sp>
      <p:sp>
        <p:nvSpPr>
          <p:cNvPr id="22" name="Shape 19"/>
          <p:cNvSpPr/>
          <p:nvPr/>
        </p:nvSpPr>
        <p:spPr>
          <a:xfrm>
            <a:off x="4434840" y="4041648"/>
            <a:ext cx="274320" cy="274320"/>
          </a:xfrm>
          <a:prstGeom prst="ellipse">
            <a:avLst/>
          </a:prstGeom>
          <a:solidFill>
            <a:srgbClr val="D64F6A"/>
          </a:solidFill>
          <a:ln w="12700">
            <a:solidFill>
              <a:srgbClr val="D64F6A"/>
            </a:solidFill>
            <a:prstDash val="solid"/>
          </a:ln>
        </p:spPr>
      </p:sp>
      <p:sp>
        <p:nvSpPr>
          <p:cNvPr id="23" name="Text 20"/>
          <p:cNvSpPr txBox="1"/>
          <p:nvPr/>
        </p:nvSpPr>
        <p:spPr>
          <a:xfrm>
            <a:off x="4818888" y="4005072"/>
            <a:ext cx="2926080" cy="347472"/>
          </a:xfrm>
          <a:prstGeom prst="rect">
            <a:avLst/>
          </a:prstGeom>
          <a:noFill/>
          <a:ln/>
        </p:spPr>
        <p:txBody>
          <a:bodyPr wrap="square" lIns="0" tIns="0" rIns="0" bIns="0" rtlCol="0" anchor="ctr"/>
          <a:lstStyle/>
          <a:p>
            <a:pPr indent="0" marL="0">
              <a:buNone/>
            </a:pPr>
            <a:r>
              <a:rPr lang="en-US" sz="1300" b="1" dirty="0">
                <a:solidFill>
                  <a:srgbClr val="E6EDF5"/>
                </a:solidFill>
                <a:latin typeface="Calibri" pitchFamily="34" charset="0"/>
                <a:ea typeface="Calibri" pitchFamily="34" charset="-122"/>
                <a:cs typeface="Calibri" pitchFamily="34" charset="-120"/>
              </a:rPr>
              <a:t>Audit</a:t>
            </a:r>
            <a:endParaRPr lang="en-US" sz="1300" dirty="0"/>
          </a:p>
        </p:txBody>
      </p:sp>
      <p:sp>
        <p:nvSpPr>
          <p:cNvPr id="24" name="Text 21"/>
          <p:cNvSpPr txBox="1"/>
          <p:nvPr/>
        </p:nvSpPr>
        <p:spPr>
          <a:xfrm>
            <a:off x="4434840" y="4434840"/>
            <a:ext cx="3291840" cy="1508760"/>
          </a:xfrm>
          <a:prstGeom prst="rect">
            <a:avLst/>
          </a:prstGeom>
          <a:noFill/>
          <a:ln/>
        </p:spPr>
        <p:txBody>
          <a:bodyPr wrap="square" lIns="0" tIns="0" rIns="0" bIns="0" rtlCol="0" anchor="t"/>
          <a:lstStyle/>
          <a:p>
            <a:pPr indent="0" marL="0">
              <a:buNone/>
            </a:pPr>
            <a:r>
              <a:rPr lang="en-US" sz="1050" dirty="0">
                <a:solidFill>
                  <a:srgbClr val="8A97A6"/>
                </a:solidFill>
                <a:latin typeface="Calibri" pitchFamily="34" charset="0"/>
                <a:ea typeface="Calibri" pitchFamily="34" charset="-122"/>
                <a:cs typeface="Calibri" pitchFamily="34" charset="-120"/>
              </a:rPr>
              <a:t>Every evidence promotion carries an event id, a trigger reason and a SHA-256. Watchlist changes, acknowledgements and cross-department access are all logged. Chain of custody is an output of the system.</a:t>
            </a:r>
            <a:endParaRPr lang="en-US" sz="1050" dirty="0"/>
          </a:p>
        </p:txBody>
      </p:sp>
      <p:sp>
        <p:nvSpPr>
          <p:cNvPr id="25" name="Shape 22"/>
          <p:cNvSpPr/>
          <p:nvPr/>
        </p:nvSpPr>
        <p:spPr>
          <a:xfrm>
            <a:off x="8046720" y="3840480"/>
            <a:ext cx="3657600" cy="2194560"/>
          </a:xfrm>
          <a:prstGeom prst="roundRect">
            <a:avLst>
              <a:gd name="adj" fmla="val 5000"/>
            </a:avLst>
          </a:prstGeom>
          <a:solidFill>
            <a:srgbClr val="111823"/>
          </a:solidFill>
          <a:ln w="9525">
            <a:solidFill>
              <a:srgbClr val="1E2A3A"/>
            </a:solidFill>
            <a:prstDash val="solid"/>
          </a:ln>
        </p:spPr>
      </p:sp>
      <p:sp>
        <p:nvSpPr>
          <p:cNvPr id="26" name="Shape 23"/>
          <p:cNvSpPr/>
          <p:nvPr/>
        </p:nvSpPr>
        <p:spPr>
          <a:xfrm>
            <a:off x="8229600" y="4041648"/>
            <a:ext cx="274320" cy="274320"/>
          </a:xfrm>
          <a:prstGeom prst="ellipse">
            <a:avLst/>
          </a:prstGeom>
          <a:solidFill>
            <a:srgbClr val="E6EDF5"/>
          </a:solidFill>
          <a:ln w="12700">
            <a:solidFill>
              <a:srgbClr val="E6EDF5"/>
            </a:solidFill>
            <a:prstDash val="solid"/>
          </a:ln>
        </p:spPr>
      </p:sp>
      <p:sp>
        <p:nvSpPr>
          <p:cNvPr id="27" name="Text 24"/>
          <p:cNvSpPr txBox="1"/>
          <p:nvPr/>
        </p:nvSpPr>
        <p:spPr>
          <a:xfrm>
            <a:off x="8613648" y="4005072"/>
            <a:ext cx="2926080" cy="347472"/>
          </a:xfrm>
          <a:prstGeom prst="rect">
            <a:avLst/>
          </a:prstGeom>
          <a:noFill/>
          <a:ln/>
        </p:spPr>
        <p:txBody>
          <a:bodyPr wrap="square" lIns="0" tIns="0" rIns="0" bIns="0" rtlCol="0" anchor="ctr"/>
          <a:lstStyle/>
          <a:p>
            <a:pPr indent="0" marL="0">
              <a:buNone/>
            </a:pPr>
            <a:r>
              <a:rPr lang="en-US" sz="1300" b="1" dirty="0">
                <a:solidFill>
                  <a:srgbClr val="E6EDF5"/>
                </a:solidFill>
                <a:latin typeface="Calibri" pitchFamily="34" charset="0"/>
                <a:ea typeface="Calibri" pitchFamily="34" charset="-122"/>
                <a:cs typeface="Calibri" pitchFamily="34" charset="-120"/>
              </a:rPr>
              <a:t>Privacy</a:t>
            </a:r>
            <a:endParaRPr lang="en-US" sz="1300" dirty="0"/>
          </a:p>
        </p:txBody>
      </p:sp>
      <p:sp>
        <p:nvSpPr>
          <p:cNvPr id="28" name="Text 25"/>
          <p:cNvSpPr txBox="1"/>
          <p:nvPr/>
        </p:nvSpPr>
        <p:spPr>
          <a:xfrm>
            <a:off x="8229600" y="4434840"/>
            <a:ext cx="3291840" cy="1508760"/>
          </a:xfrm>
          <a:prstGeom prst="rect">
            <a:avLst/>
          </a:prstGeom>
          <a:noFill/>
          <a:ln/>
        </p:spPr>
        <p:txBody>
          <a:bodyPr wrap="square" lIns="0" tIns="0" rIns="0" bIns="0" rtlCol="0" anchor="t"/>
          <a:lstStyle/>
          <a:p>
            <a:pPr indent="0" marL="0">
              <a:buNone/>
            </a:pPr>
            <a:r>
              <a:rPr lang="en-US" sz="1050" dirty="0">
                <a:solidFill>
                  <a:srgbClr val="8A97A6"/>
                </a:solidFill>
                <a:latin typeface="Calibri" pitchFamily="34" charset="0"/>
                <a:ea typeface="Calibri" pitchFamily="34" charset="-122"/>
                <a:cs typeface="Calibri" pitchFamily="34" charset="-120"/>
              </a:rPr>
              <a:t>Retain nothing by default, promote on justified cause, expire on schedule. Facial recognition only ever against an authorised gallery.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Deployment, scalability and the phased rollout</a:t>
            </a:r>
            <a:endParaRPr lang="en-US" sz="3000" dirty="0"/>
          </a:p>
        </p:txBody>
      </p:sp>
      <p:sp>
        <p:nvSpPr>
          <p:cNvPr id="5" name="Shape 2"/>
          <p:cNvSpPr/>
          <p:nvPr/>
        </p:nvSpPr>
        <p:spPr>
          <a:xfrm>
            <a:off x="457200" y="1417320"/>
            <a:ext cx="3657600" cy="1920240"/>
          </a:xfrm>
          <a:prstGeom prst="roundRect">
            <a:avLst>
              <a:gd name="adj" fmla="val 5714"/>
            </a:avLst>
          </a:prstGeom>
          <a:solidFill>
            <a:srgbClr val="111823"/>
          </a:solidFill>
          <a:ln w="9525">
            <a:solidFill>
              <a:srgbClr val="1E2A3A"/>
            </a:solidFill>
            <a:prstDash val="solid"/>
          </a:ln>
        </p:spPr>
      </p:sp>
      <p:sp>
        <p:nvSpPr>
          <p:cNvPr id="6" name="Text 3"/>
          <p:cNvSpPr txBox="1"/>
          <p:nvPr/>
        </p:nvSpPr>
        <p:spPr>
          <a:xfrm>
            <a:off x="640080" y="1508760"/>
            <a:ext cx="3291840" cy="320040"/>
          </a:xfrm>
          <a:prstGeom prst="rect">
            <a:avLst/>
          </a:prstGeom>
          <a:noFill/>
          <a:ln/>
        </p:spPr>
        <p:txBody>
          <a:bodyPr wrap="square" lIns="0" tIns="0" rIns="0" bIns="0" rtlCol="0" anchor="ctr"/>
          <a:lstStyle/>
          <a:p>
            <a:pPr indent="0" marL="0">
              <a:buNone/>
            </a:pPr>
            <a:r>
              <a:rPr lang="en-US" sz="1300" b="1" dirty="0">
                <a:solidFill>
                  <a:srgbClr val="39A56A"/>
                </a:solidFill>
                <a:latin typeface="Calibri" pitchFamily="34" charset="0"/>
                <a:ea typeface="Calibri" pitchFamily="34" charset="-122"/>
                <a:cs typeface="Calibri" pitchFamily="34" charset="-120"/>
              </a:rPr>
              <a:t>EDGE</a:t>
            </a:r>
            <a:endParaRPr lang="en-US" sz="1300" dirty="0"/>
          </a:p>
        </p:txBody>
      </p:sp>
      <p:sp>
        <p:nvSpPr>
          <p:cNvPr id="7" name="Text 4"/>
          <p:cNvSpPr txBox="1"/>
          <p:nvPr/>
        </p:nvSpPr>
        <p:spPr>
          <a:xfrm>
            <a:off x="640080" y="1801368"/>
            <a:ext cx="329184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district or department</a:t>
            </a:r>
            <a:endParaRPr lang="en-US" sz="1000" dirty="0"/>
          </a:p>
        </p:txBody>
      </p:sp>
      <p:sp>
        <p:nvSpPr>
          <p:cNvPr id="8" name="Text 5"/>
          <p:cNvSpPr txBox="1"/>
          <p:nvPr/>
        </p:nvSpPr>
        <p:spPr>
          <a:xfrm>
            <a:off x="640080" y="2103120"/>
            <a:ext cx="3291840" cy="1188720"/>
          </a:xfrm>
          <a:prstGeom prst="rect">
            <a:avLst/>
          </a:prstGeom>
          <a:noFill/>
          <a:ln/>
        </p:spPr>
        <p:txBody>
          <a:bodyPr wrap="square" lIns="0" tIns="0" rIns="0" bIns="0" rtlCol="0" anchor="ctr"/>
          <a:lstStyle/>
          <a:p>
            <a:pPr indent="0" marL="0">
              <a:buNone/>
            </a:pPr>
            <a:r>
              <a:rPr lang="en-US" sz="1050" dirty="0">
                <a:solidFill>
                  <a:srgbClr val="E6EDF5"/>
                </a:solidFill>
                <a:latin typeface="Calibri" pitchFamily="34" charset="0"/>
                <a:ea typeface="Calibri" pitchFamily="34" charset="-122"/>
                <a:cs typeface="Calibri" pitchFamily="34" charset="-120"/>
              </a:rPr>
              <a:t>pull, decode, motion gate, detect, OCR, local watchlist match, ring buffer. Emits text and crops</a:t>
            </a:r>
            <a:endParaRPr lang="en-US" sz="1050" dirty="0"/>
          </a:p>
        </p:txBody>
      </p:sp>
      <p:sp>
        <p:nvSpPr>
          <p:cNvPr id="9" name="Shape 6"/>
          <p:cNvSpPr/>
          <p:nvPr/>
        </p:nvSpPr>
        <p:spPr>
          <a:xfrm>
            <a:off x="4251960" y="1417320"/>
            <a:ext cx="3657600" cy="1920240"/>
          </a:xfrm>
          <a:prstGeom prst="roundRect">
            <a:avLst>
              <a:gd name="adj" fmla="val 5714"/>
            </a:avLst>
          </a:prstGeom>
          <a:solidFill>
            <a:srgbClr val="111823"/>
          </a:solidFill>
          <a:ln w="9525">
            <a:solidFill>
              <a:srgbClr val="1E2A3A"/>
            </a:solidFill>
            <a:prstDash val="solid"/>
          </a:ln>
        </p:spPr>
      </p:sp>
      <p:sp>
        <p:nvSpPr>
          <p:cNvPr id="10" name="Text 7"/>
          <p:cNvSpPr txBox="1"/>
          <p:nvPr/>
        </p:nvSpPr>
        <p:spPr>
          <a:xfrm>
            <a:off x="4434840" y="1508760"/>
            <a:ext cx="3291840" cy="320040"/>
          </a:xfrm>
          <a:prstGeom prst="rect">
            <a:avLst/>
          </a:prstGeom>
          <a:noFill/>
          <a:ln/>
        </p:spPr>
        <p:txBody>
          <a:bodyPr wrap="square" lIns="0" tIns="0" rIns="0" bIns="0" rtlCol="0" anchor="ctr"/>
          <a:lstStyle/>
          <a:p>
            <a:pPr indent="0" marL="0">
              <a:buNone/>
            </a:pPr>
            <a:r>
              <a:rPr lang="en-US" sz="1300" b="1" dirty="0">
                <a:solidFill>
                  <a:srgbClr val="3D7FD6"/>
                </a:solidFill>
                <a:latin typeface="Calibri" pitchFamily="34" charset="0"/>
                <a:ea typeface="Calibri" pitchFamily="34" charset="-122"/>
                <a:cs typeface="Calibri" pitchFamily="34" charset="-120"/>
              </a:rPr>
              <a:t>REGIONAL</a:t>
            </a:r>
            <a:endParaRPr lang="en-US" sz="1300" dirty="0"/>
          </a:p>
        </p:txBody>
      </p:sp>
      <p:sp>
        <p:nvSpPr>
          <p:cNvPr id="11" name="Text 8"/>
          <p:cNvSpPr txBox="1"/>
          <p:nvPr/>
        </p:nvSpPr>
        <p:spPr>
          <a:xfrm>
            <a:off x="4434840" y="1801368"/>
            <a:ext cx="329184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district cluster</a:t>
            </a:r>
            <a:endParaRPr lang="en-US" sz="1000" dirty="0"/>
          </a:p>
        </p:txBody>
      </p:sp>
      <p:sp>
        <p:nvSpPr>
          <p:cNvPr id="12" name="Text 9"/>
          <p:cNvSpPr txBox="1"/>
          <p:nvPr/>
        </p:nvSpPr>
        <p:spPr>
          <a:xfrm>
            <a:off x="4434840" y="2103120"/>
            <a:ext cx="3291840" cy="1188720"/>
          </a:xfrm>
          <a:prstGeom prst="rect">
            <a:avLst/>
          </a:prstGeom>
          <a:noFill/>
          <a:ln/>
        </p:spPr>
        <p:txBody>
          <a:bodyPr wrap="square" lIns="0" tIns="0" rIns="0" bIns="0" rtlCol="0" anchor="ctr"/>
          <a:lstStyle/>
          <a:p>
            <a:pPr indent="0" marL="0">
              <a:buNone/>
            </a:pPr>
            <a:r>
              <a:rPr lang="en-US" sz="1050" dirty="0">
                <a:solidFill>
                  <a:srgbClr val="E6EDF5"/>
                </a:solidFill>
                <a:latin typeface="Calibri" pitchFamily="34" charset="0"/>
                <a:ea typeface="Calibri" pitchFamily="34" charset="-122"/>
                <a:cs typeface="Calibri" pitchFamily="34" charset="-120"/>
              </a:rPr>
              <a:t>aggregation, regional search index, evidence store, model rollout, camera health scoring</a:t>
            </a:r>
            <a:endParaRPr lang="en-US" sz="1050" dirty="0"/>
          </a:p>
        </p:txBody>
      </p:sp>
      <p:sp>
        <p:nvSpPr>
          <p:cNvPr id="13" name="Shape 10"/>
          <p:cNvSpPr/>
          <p:nvPr/>
        </p:nvSpPr>
        <p:spPr>
          <a:xfrm>
            <a:off x="8046720" y="1417320"/>
            <a:ext cx="3657600" cy="1920240"/>
          </a:xfrm>
          <a:prstGeom prst="roundRect">
            <a:avLst>
              <a:gd name="adj" fmla="val 5714"/>
            </a:avLst>
          </a:prstGeom>
          <a:solidFill>
            <a:srgbClr val="111823"/>
          </a:solidFill>
          <a:ln w="9525">
            <a:solidFill>
              <a:srgbClr val="1E2A3A"/>
            </a:solidFill>
            <a:prstDash val="solid"/>
          </a:ln>
        </p:spPr>
      </p:sp>
      <p:sp>
        <p:nvSpPr>
          <p:cNvPr id="14" name="Text 11"/>
          <p:cNvSpPr txBox="1"/>
          <p:nvPr/>
        </p:nvSpPr>
        <p:spPr>
          <a:xfrm>
            <a:off x="8229600" y="1508760"/>
            <a:ext cx="3291840" cy="320040"/>
          </a:xfrm>
          <a:prstGeom prst="rect">
            <a:avLst/>
          </a:prstGeom>
          <a:noFill/>
          <a:ln/>
        </p:spPr>
        <p:txBody>
          <a:bodyPr wrap="square" lIns="0" tIns="0" rIns="0" bIns="0" rtlCol="0" anchor="ctr"/>
          <a:lstStyle/>
          <a:p>
            <a:pPr indent="0" marL="0">
              <a:buNone/>
            </a:pPr>
            <a:r>
              <a:rPr lang="en-US" sz="1300" b="1" dirty="0">
                <a:solidFill>
                  <a:srgbClr val="B45FD1"/>
                </a:solidFill>
                <a:latin typeface="Calibri" pitchFamily="34" charset="0"/>
                <a:ea typeface="Calibri" pitchFamily="34" charset="-122"/>
                <a:cs typeface="Calibri" pitchFamily="34" charset="-120"/>
              </a:rPr>
              <a:t>CENTRAL</a:t>
            </a:r>
            <a:endParaRPr lang="en-US" sz="1300" dirty="0"/>
          </a:p>
        </p:txBody>
      </p:sp>
      <p:sp>
        <p:nvSpPr>
          <p:cNvPr id="15" name="Text 12"/>
          <p:cNvSpPr txBox="1"/>
          <p:nvPr/>
        </p:nvSpPr>
        <p:spPr>
          <a:xfrm>
            <a:off x="8229600" y="1801368"/>
            <a:ext cx="329184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SCRB or state data centre</a:t>
            </a:r>
            <a:endParaRPr lang="en-US" sz="1000" dirty="0"/>
          </a:p>
        </p:txBody>
      </p:sp>
      <p:sp>
        <p:nvSpPr>
          <p:cNvPr id="16" name="Text 13"/>
          <p:cNvSpPr txBox="1"/>
          <p:nvPr/>
        </p:nvSpPr>
        <p:spPr>
          <a:xfrm>
            <a:off x="8229600" y="2103120"/>
            <a:ext cx="3291840" cy="1188720"/>
          </a:xfrm>
          <a:prstGeom prst="rect">
            <a:avLst/>
          </a:prstGeom>
          <a:noFill/>
          <a:ln/>
        </p:spPr>
        <p:txBody>
          <a:bodyPr wrap="square" lIns="0" tIns="0" rIns="0" bIns="0" rtlCol="0" anchor="ctr"/>
          <a:lstStyle/>
          <a:p>
            <a:pPr indent="0" marL="0">
              <a:buNone/>
            </a:pPr>
            <a:r>
              <a:rPr lang="en-US" sz="1050" dirty="0">
                <a:solidFill>
                  <a:srgbClr val="E6EDF5"/>
                </a:solidFill>
                <a:latin typeface="Calibri" pitchFamily="34" charset="0"/>
                <a:ea typeface="Calibri" pitchFamily="34" charset="-122"/>
                <a:cs typeface="Calibri" pitchFamily="34" charset="-120"/>
              </a:rPr>
              <a:t>statewide search, cross-region route correlation, watchlist master, and VAHAN, SARTHI, eGujCop, AFIS and NAFIS enrichment</a:t>
            </a:r>
            <a:endParaRPr lang="en-US" sz="1050" dirty="0"/>
          </a:p>
        </p:txBody>
      </p:sp>
      <p:sp>
        <p:nvSpPr>
          <p:cNvPr id="17" name="Shape 14"/>
          <p:cNvSpPr/>
          <p:nvPr/>
        </p:nvSpPr>
        <p:spPr>
          <a:xfrm>
            <a:off x="457200" y="3520440"/>
            <a:ext cx="5943600" cy="2651760"/>
          </a:xfrm>
          <a:prstGeom prst="roundRect">
            <a:avLst>
              <a:gd name="adj" fmla="val 4138"/>
            </a:avLst>
          </a:prstGeom>
          <a:solidFill>
            <a:srgbClr val="111823"/>
          </a:solidFill>
          <a:ln w="9525">
            <a:solidFill>
              <a:srgbClr val="1E2A3A"/>
            </a:solidFill>
            <a:prstDash val="solid"/>
          </a:ln>
        </p:spPr>
      </p:sp>
      <p:sp>
        <p:nvSpPr>
          <p:cNvPr id="18" name="Text 15"/>
          <p:cNvSpPr txBox="1"/>
          <p:nvPr/>
        </p:nvSpPr>
        <p:spPr>
          <a:xfrm>
            <a:off x="685800" y="3657600"/>
            <a:ext cx="5486400" cy="274320"/>
          </a:xfrm>
          <a:prstGeom prst="rect">
            <a:avLst/>
          </a:prstGeom>
          <a:noFill/>
          <a:ln/>
        </p:spPr>
        <p:txBody>
          <a:bodyPr wrap="square" lIns="0" tIns="0" rIns="0" bIns="0" rtlCol="0" anchor="ctr"/>
          <a:lstStyle/>
          <a:p>
            <a:pPr indent="0" marL="0">
              <a:buNone/>
            </a:pPr>
            <a:r>
              <a:rPr lang="en-US" sz="1050" dirty="0">
                <a:solidFill>
                  <a:srgbClr val="D64F6A"/>
                </a:solidFill>
                <a:latin typeface="Calibri" pitchFamily="34" charset="0"/>
                <a:ea typeface="Calibri" pitchFamily="34" charset="-122"/>
                <a:cs typeface="Calibri" pitchFamily="34" charset="-120"/>
              </a:rPr>
              <a:t>RESILIENCE AND DAY-2 OPERATIONS</a:t>
            </a:r>
            <a:endParaRPr lang="en-US" sz="1050" dirty="0"/>
          </a:p>
        </p:txBody>
      </p:sp>
      <p:sp>
        <p:nvSpPr>
          <p:cNvPr id="19" name="Text 16"/>
          <p:cNvSpPr txBox="1"/>
          <p:nvPr/>
        </p:nvSpPr>
        <p:spPr>
          <a:xfrm>
            <a:off x="685800" y="3950208"/>
            <a:ext cx="5486400" cy="2194560"/>
          </a:xfrm>
          <a:prstGeom prst="rect">
            <a:avLst/>
          </a:prstGeom>
          <a:noFill/>
          <a:ln/>
        </p:spPr>
        <p:txBody>
          <a:bodyPr wrap="square" lIns="25400" tIns="25400" rIns="25400" bIns="25400" rtlCol="0" anchor="t"/>
          <a:lstStyle/>
          <a:p>
            <a:pPr marL="342900" indent="-342900">
              <a:spcAft>
                <a:spcPts val="500"/>
              </a:spcAft>
              <a:buSzPct val="100000"/>
              <a:buChar char="•"/>
            </a:pPr>
            <a:r>
              <a:rPr lang="en-US" sz="1050" dirty="0">
                <a:solidFill>
                  <a:srgbClr val="E6EDF5"/>
                </a:solidFill>
                <a:latin typeface="Calibri" pitchFamily="34" charset="0"/>
                <a:ea typeface="Calibri" pitchFamily="34" charset="-122"/>
                <a:cs typeface="Calibri" pitchFamily="34" charset="-120"/>
              </a:rPr>
              <a:t>Reconnect storms: jittered backoff, admission control, staggered cold start, and a circuit breaker per department</a:t>
            </a:r>
            <a:endParaRPr lang="en-US" sz="1050" dirty="0"/>
          </a:p>
          <a:p>
            <a:pPr marL="342900" indent="-342900">
              <a:spcAft>
                <a:spcPts val="500"/>
              </a:spcAft>
              <a:buSzPct val="100000"/>
              <a:buChar char="•"/>
            </a:pPr>
            <a:r>
              <a:rPr lang="en-US" sz="1050" dirty="0">
                <a:solidFill>
                  <a:srgbClr val="E6EDF5"/>
                </a:solidFill>
                <a:latin typeface="Calibri" pitchFamily="34" charset="0"/>
                <a:ea typeface="Calibri" pitchFamily="34" charset="-122"/>
                <a:cs typeface="Calibri" pitchFamily="34" charset="-120"/>
              </a:rPr>
              <a:t>Split-brain ownership: distributed camera leases, so never two pulls and never duplicate alerts</a:t>
            </a:r>
            <a:endParaRPr lang="en-US" sz="1050" dirty="0"/>
          </a:p>
          <a:p>
            <a:pPr marL="342900" indent="-342900">
              <a:spcAft>
                <a:spcPts val="500"/>
              </a:spcAft>
              <a:buSzPct val="100000"/>
              <a:buChar char="•"/>
            </a:pPr>
            <a:r>
              <a:rPr lang="en-US" sz="1050" dirty="0">
                <a:solidFill>
                  <a:srgbClr val="E6EDF5"/>
                </a:solidFill>
                <a:latin typeface="Calibri" pitchFamily="34" charset="0"/>
                <a:ea typeface="Calibri" pitchFamily="34" charset="-122"/>
                <a:cs typeface="Calibri" pitchFamily="34" charset="-120"/>
              </a:rPr>
              <a:t>The alert path is the real single point of failure: a durable queue sits before alerting, with synthetic end-to-end tests</a:t>
            </a:r>
            <a:endParaRPr lang="en-US" sz="1050" dirty="0"/>
          </a:p>
          <a:p>
            <a:pPr marL="342900" indent="-342900">
              <a:spcAft>
                <a:spcPts val="500"/>
              </a:spcAft>
              <a:buSzPct val="100000"/>
              <a:buChar char="•"/>
            </a:pPr>
            <a:r>
              <a:rPr lang="en-US" sz="1050" dirty="0">
                <a:solidFill>
                  <a:srgbClr val="E6EDF5"/>
                </a:solidFill>
                <a:latin typeface="Calibri" pitchFamily="34" charset="0"/>
                <a:ea typeface="Calibri" pitchFamily="34" charset="-122"/>
                <a:cs typeface="Calibri" pitchFamily="34" charset="-120"/>
              </a:rPr>
              <a:t>A quality score per camera including drift detection, feeding a ranked maintenance worklist. Shadow then canary model rollout. GitOps configuration</a:t>
            </a:r>
            <a:endParaRPr lang="en-US" sz="1050" dirty="0"/>
          </a:p>
        </p:txBody>
      </p:sp>
      <p:sp>
        <p:nvSpPr>
          <p:cNvPr id="20" name="Shape 17"/>
          <p:cNvSpPr/>
          <p:nvPr/>
        </p:nvSpPr>
        <p:spPr>
          <a:xfrm>
            <a:off x="6675120" y="3520440"/>
            <a:ext cx="5029200" cy="2651760"/>
          </a:xfrm>
          <a:prstGeom prst="roundRect">
            <a:avLst>
              <a:gd name="adj" fmla="val 4138"/>
            </a:avLst>
          </a:prstGeom>
          <a:solidFill>
            <a:srgbClr val="111823"/>
          </a:solidFill>
          <a:ln w="9525">
            <a:solidFill>
              <a:srgbClr val="1E2A3A"/>
            </a:solidFill>
            <a:prstDash val="solid"/>
          </a:ln>
        </p:spPr>
      </p:sp>
      <p:sp>
        <p:nvSpPr>
          <p:cNvPr id="21" name="Text 18"/>
          <p:cNvSpPr txBox="1"/>
          <p:nvPr/>
        </p:nvSpPr>
        <p:spPr>
          <a:xfrm>
            <a:off x="6903720" y="3657600"/>
            <a:ext cx="4572000" cy="274320"/>
          </a:xfrm>
          <a:prstGeom prst="rect">
            <a:avLst/>
          </a:prstGeom>
          <a:noFill/>
          <a:ln/>
        </p:spPr>
        <p:txBody>
          <a:bodyPr wrap="square" lIns="0" tIns="0" rIns="0" bIns="0" rtlCol="0" anchor="ctr"/>
          <a:lstStyle/>
          <a:p>
            <a:pPr indent="0" marL="0">
              <a:buNone/>
            </a:pPr>
            <a:r>
              <a:rPr lang="en-US" sz="1050" dirty="0">
                <a:solidFill>
                  <a:srgbClr val="39A56A"/>
                </a:solidFill>
                <a:latin typeface="Calibri" pitchFamily="34" charset="0"/>
                <a:ea typeface="Calibri" pitchFamily="34" charset="-122"/>
                <a:cs typeface="Calibri" pitchFamily="34" charset="-120"/>
              </a:rPr>
              <a:t>PHASED STATEWIDE ROLLOUT</a:t>
            </a:r>
            <a:endParaRPr lang="en-US" sz="1050" dirty="0"/>
          </a:p>
        </p:txBody>
      </p:sp>
      <p:sp>
        <p:nvSpPr>
          <p:cNvPr id="22" name="Shape 19"/>
          <p:cNvSpPr/>
          <p:nvPr/>
        </p:nvSpPr>
        <p:spPr>
          <a:xfrm>
            <a:off x="6903720" y="4005072"/>
            <a:ext cx="274320" cy="274320"/>
          </a:xfrm>
          <a:prstGeom prst="ellipse">
            <a:avLst/>
          </a:prstGeom>
          <a:solidFill>
            <a:srgbClr val="39A56A"/>
          </a:solidFill>
          <a:ln w="12700">
            <a:solidFill>
              <a:srgbClr val="39A56A"/>
            </a:solidFill>
            <a:prstDash val="solid"/>
          </a:ln>
        </p:spPr>
      </p:sp>
      <p:sp>
        <p:nvSpPr>
          <p:cNvPr id="23" name="Text 20"/>
          <p:cNvSpPr txBox="1"/>
          <p:nvPr/>
        </p:nvSpPr>
        <p:spPr>
          <a:xfrm>
            <a:off x="6903720" y="400507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a:t>
            </a:r>
            <a:endParaRPr lang="en-US" sz="1000" dirty="0"/>
          </a:p>
        </p:txBody>
      </p:sp>
      <p:sp>
        <p:nvSpPr>
          <p:cNvPr id="24" name="Text 21"/>
          <p:cNvSpPr txBox="1"/>
          <p:nvPr/>
        </p:nvSpPr>
        <p:spPr>
          <a:xfrm>
            <a:off x="7269480" y="3977640"/>
            <a:ext cx="4297680" cy="457200"/>
          </a:xfrm>
          <a:prstGeom prst="rect">
            <a:avLst/>
          </a:prstGeom>
          <a:noFill/>
          <a:ln/>
        </p:spPr>
        <p:txBody>
          <a:bodyPr wrap="square" lIns="0" tIns="0" rIns="0" bIns="0" rtlCol="0" anchor="ctr"/>
          <a:lstStyle/>
          <a:p>
            <a:pPr indent="0" marL="0">
              <a:buNone/>
            </a:pPr>
            <a:r>
              <a:rPr lang="en-US" sz="1050" b="1" dirty="0">
                <a:solidFill>
                  <a:srgbClr val="E6EDF5"/>
                </a:solidFill>
                <a:latin typeface="Calibri" pitchFamily="34" charset="0"/>
                <a:ea typeface="Calibri" pitchFamily="34" charset="-122"/>
                <a:cs typeface="Calibri" pitchFamily="34" charset="-120"/>
              </a:rPr>
              <a:t>Sandbox, now  </a:t>
            </a:r>
            <a:pPr indent="0" marL="0">
              <a:buNone/>
            </a:pPr>
            <a:r>
              <a:rPr lang="en-US" sz="1050" dirty="0">
                <a:solidFill>
                  <a:srgbClr val="8A97A6"/>
                </a:solidFill>
                <a:latin typeface="Calibri" pitchFamily="34" charset="0"/>
                <a:ea typeface="Calibri" pitchFamily="34" charset="-122"/>
                <a:cs typeface="Calibri" pitchFamily="34" charset="-120"/>
              </a:rPr>
              <a:t>30 to 50 cameras, 5 departments, one node</a:t>
            </a:r>
            <a:endParaRPr lang="en-US" sz="1050" dirty="0"/>
          </a:p>
        </p:txBody>
      </p:sp>
      <p:sp>
        <p:nvSpPr>
          <p:cNvPr id="25" name="Shape 22"/>
          <p:cNvSpPr/>
          <p:nvPr/>
        </p:nvSpPr>
        <p:spPr>
          <a:xfrm>
            <a:off x="6903720" y="4535424"/>
            <a:ext cx="274320" cy="274320"/>
          </a:xfrm>
          <a:prstGeom prst="ellipse">
            <a:avLst/>
          </a:prstGeom>
          <a:solidFill>
            <a:srgbClr val="39A56A"/>
          </a:solidFill>
          <a:ln w="12700">
            <a:solidFill>
              <a:srgbClr val="39A56A"/>
            </a:solidFill>
            <a:prstDash val="solid"/>
          </a:ln>
        </p:spPr>
      </p:sp>
      <p:sp>
        <p:nvSpPr>
          <p:cNvPr id="26" name="Text 23"/>
          <p:cNvSpPr txBox="1"/>
          <p:nvPr/>
        </p:nvSpPr>
        <p:spPr>
          <a:xfrm>
            <a:off x="6903720" y="453542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7" name="Text 24"/>
          <p:cNvSpPr txBox="1"/>
          <p:nvPr/>
        </p:nvSpPr>
        <p:spPr>
          <a:xfrm>
            <a:off x="7269480" y="4507992"/>
            <a:ext cx="4297680" cy="457200"/>
          </a:xfrm>
          <a:prstGeom prst="rect">
            <a:avLst/>
          </a:prstGeom>
          <a:noFill/>
          <a:ln/>
        </p:spPr>
        <p:txBody>
          <a:bodyPr wrap="square" lIns="0" tIns="0" rIns="0" bIns="0" rtlCol="0" anchor="ctr"/>
          <a:lstStyle/>
          <a:p>
            <a:pPr indent="0" marL="0">
              <a:buNone/>
            </a:pPr>
            <a:r>
              <a:rPr lang="en-US" sz="1050" b="1" dirty="0">
                <a:solidFill>
                  <a:srgbClr val="E6EDF5"/>
                </a:solidFill>
                <a:latin typeface="Calibri" pitchFamily="34" charset="0"/>
                <a:ea typeface="Calibri" pitchFamily="34" charset="-122"/>
                <a:cs typeface="Calibri" pitchFamily="34" charset="-120"/>
              </a:rPr>
              <a:t>Pilot district  </a:t>
            </a:r>
            <a:pPr indent="0" marL="0">
              <a:buNone/>
            </a:pPr>
            <a:r>
              <a:rPr lang="en-US" sz="1050" dirty="0">
                <a:solidFill>
                  <a:srgbClr val="8A97A6"/>
                </a:solidFill>
                <a:latin typeface="Calibri" pitchFamily="34" charset="0"/>
                <a:ea typeface="Calibri" pitchFamily="34" charset="-122"/>
                <a:cs typeface="Calibri" pitchFamily="34" charset="-120"/>
              </a:rPr>
              <a:t>one department's real cameras, measured streams per GPU</a:t>
            </a:r>
            <a:endParaRPr lang="en-US" sz="1050" dirty="0"/>
          </a:p>
        </p:txBody>
      </p:sp>
      <p:sp>
        <p:nvSpPr>
          <p:cNvPr id="28" name="Shape 25"/>
          <p:cNvSpPr/>
          <p:nvPr/>
        </p:nvSpPr>
        <p:spPr>
          <a:xfrm>
            <a:off x="6903720" y="5065776"/>
            <a:ext cx="274320" cy="274320"/>
          </a:xfrm>
          <a:prstGeom prst="ellipse">
            <a:avLst/>
          </a:prstGeom>
          <a:solidFill>
            <a:srgbClr val="39A56A"/>
          </a:solidFill>
          <a:ln w="12700">
            <a:solidFill>
              <a:srgbClr val="39A56A"/>
            </a:solidFill>
            <a:prstDash val="solid"/>
          </a:ln>
        </p:spPr>
      </p:sp>
      <p:sp>
        <p:nvSpPr>
          <p:cNvPr id="29" name="Text 26"/>
          <p:cNvSpPr txBox="1"/>
          <p:nvPr/>
        </p:nvSpPr>
        <p:spPr>
          <a:xfrm>
            <a:off x="6903720" y="506577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0" name="Text 27"/>
          <p:cNvSpPr txBox="1"/>
          <p:nvPr/>
        </p:nvSpPr>
        <p:spPr>
          <a:xfrm>
            <a:off x="7269480" y="5038344"/>
            <a:ext cx="4297680" cy="457200"/>
          </a:xfrm>
          <a:prstGeom prst="rect">
            <a:avLst/>
          </a:prstGeom>
          <a:noFill/>
          <a:ln/>
        </p:spPr>
        <p:txBody>
          <a:bodyPr wrap="square" lIns="0" tIns="0" rIns="0" bIns="0" rtlCol="0" anchor="ctr"/>
          <a:lstStyle/>
          <a:p>
            <a:pPr indent="0" marL="0">
              <a:buNone/>
            </a:pPr>
            <a:r>
              <a:rPr lang="en-US" sz="1050" b="1" dirty="0">
                <a:solidFill>
                  <a:srgbClr val="E6EDF5"/>
                </a:solidFill>
                <a:latin typeface="Calibri" pitchFamily="34" charset="0"/>
                <a:ea typeface="Calibri" pitchFamily="34" charset="-122"/>
                <a:cs typeface="Calibri" pitchFamily="34" charset="-120"/>
              </a:rPr>
              <a:t>Multi-district  </a:t>
            </a:r>
            <a:pPr indent="0" marL="0">
              <a:buNone/>
            </a:pPr>
            <a:r>
              <a:rPr lang="en-US" sz="1050" dirty="0">
                <a:solidFill>
                  <a:srgbClr val="8A97A6"/>
                </a:solidFill>
                <a:latin typeface="Calibri" pitchFamily="34" charset="0"/>
                <a:ea typeface="Calibri" pitchFamily="34" charset="-122"/>
                <a:cs typeface="Calibri" pitchFamily="34" charset="-120"/>
              </a:rPr>
              <a:t>3 to 5 departments, federation adapters and collector</a:t>
            </a:r>
            <a:endParaRPr lang="en-US" sz="1050" dirty="0"/>
          </a:p>
        </p:txBody>
      </p:sp>
      <p:sp>
        <p:nvSpPr>
          <p:cNvPr id="31" name="Shape 28"/>
          <p:cNvSpPr/>
          <p:nvPr/>
        </p:nvSpPr>
        <p:spPr>
          <a:xfrm>
            <a:off x="6903720" y="5596128"/>
            <a:ext cx="274320" cy="274320"/>
          </a:xfrm>
          <a:prstGeom prst="ellipse">
            <a:avLst/>
          </a:prstGeom>
          <a:solidFill>
            <a:srgbClr val="39A56A"/>
          </a:solidFill>
          <a:ln w="12700">
            <a:solidFill>
              <a:srgbClr val="39A56A"/>
            </a:solidFill>
            <a:prstDash val="solid"/>
          </a:ln>
        </p:spPr>
      </p:sp>
      <p:sp>
        <p:nvSpPr>
          <p:cNvPr id="32" name="Text 29"/>
          <p:cNvSpPr txBox="1"/>
          <p:nvPr/>
        </p:nvSpPr>
        <p:spPr>
          <a:xfrm>
            <a:off x="6903720" y="559612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3" name="Text 30"/>
          <p:cNvSpPr txBox="1"/>
          <p:nvPr/>
        </p:nvSpPr>
        <p:spPr>
          <a:xfrm>
            <a:off x="7269480" y="5568696"/>
            <a:ext cx="4297680" cy="457200"/>
          </a:xfrm>
          <a:prstGeom prst="rect">
            <a:avLst/>
          </a:prstGeom>
          <a:noFill/>
          <a:ln/>
        </p:spPr>
        <p:txBody>
          <a:bodyPr wrap="square" lIns="0" tIns="0" rIns="0" bIns="0" rtlCol="0" anchor="ctr"/>
          <a:lstStyle/>
          <a:p>
            <a:pPr indent="0" marL="0">
              <a:buNone/>
            </a:pPr>
            <a:r>
              <a:rPr lang="en-US" sz="1050" b="1" dirty="0">
                <a:solidFill>
                  <a:srgbClr val="E6EDF5"/>
                </a:solidFill>
                <a:latin typeface="Calibri" pitchFamily="34" charset="0"/>
                <a:ea typeface="Calibri" pitchFamily="34" charset="-122"/>
                <a:cs typeface="Calibri" pitchFamily="34" charset="-120"/>
              </a:rPr>
              <a:t>Statewide  </a:t>
            </a:r>
            <a:pPr indent="0" marL="0">
              <a:buNone/>
            </a:pPr>
            <a:r>
              <a:rPr lang="en-US" sz="1050" dirty="0">
                <a:solidFill>
                  <a:srgbClr val="8A97A6"/>
                </a:solidFill>
                <a:latin typeface="Calibri" pitchFamily="34" charset="0"/>
                <a:ea typeface="Calibri" pitchFamily="34" charset="-122"/>
                <a:cs typeface="Calibri" pitchFamily="34" charset="-120"/>
              </a:rPr>
              <a:t>towards 80,000 cameras, HA and DR, enrichment integrations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What this system does not do, and why</a:t>
            </a:r>
            <a:endParaRPr lang="en-US" sz="3000" dirty="0"/>
          </a:p>
        </p:txBody>
      </p:sp>
      <p:sp>
        <p:nvSpPr>
          <p:cNvPr id="5" name="Shape 2"/>
          <p:cNvSpPr/>
          <p:nvPr/>
        </p:nvSpPr>
        <p:spPr>
          <a:xfrm>
            <a:off x="457200" y="1417320"/>
            <a:ext cx="5532120" cy="1463040"/>
          </a:xfrm>
          <a:prstGeom prst="roundRect">
            <a:avLst>
              <a:gd name="adj" fmla="val 7500"/>
            </a:avLst>
          </a:prstGeom>
          <a:solidFill>
            <a:srgbClr val="111823"/>
          </a:solidFill>
          <a:ln w="9525">
            <a:solidFill>
              <a:srgbClr val="1E2A3A"/>
            </a:solidFill>
            <a:prstDash val="solid"/>
          </a:ln>
        </p:spPr>
      </p:sp>
      <p:sp>
        <p:nvSpPr>
          <p:cNvPr id="6" name="Text 3"/>
          <p:cNvSpPr txBox="1"/>
          <p:nvPr/>
        </p:nvSpPr>
        <p:spPr>
          <a:xfrm>
            <a:off x="640080" y="1527048"/>
            <a:ext cx="521208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No arbitrary rewind, no central recording of all video</a:t>
            </a:r>
            <a:endParaRPr lang="en-US" sz="1250" dirty="0"/>
          </a:p>
        </p:txBody>
      </p:sp>
      <p:sp>
        <p:nvSpPr>
          <p:cNvPr id="7" name="Text 4"/>
          <p:cNvSpPr txBox="1"/>
          <p:nvPr/>
        </p:nvSpPr>
        <p:spPr>
          <a:xfrm>
            <a:off x="640080" y="1892808"/>
            <a:ext cx="5212080" cy="9144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Both the privacy posture and the 240 Gbps arithmetic rule it out. Video is captured on justified cause only.</a:t>
            </a:r>
            <a:endParaRPr lang="en-US" sz="1050" dirty="0"/>
          </a:p>
        </p:txBody>
      </p:sp>
      <p:sp>
        <p:nvSpPr>
          <p:cNvPr id="8" name="Shape 5"/>
          <p:cNvSpPr/>
          <p:nvPr/>
        </p:nvSpPr>
        <p:spPr>
          <a:xfrm>
            <a:off x="6126480" y="1417320"/>
            <a:ext cx="5532120" cy="1463040"/>
          </a:xfrm>
          <a:prstGeom prst="roundRect">
            <a:avLst>
              <a:gd name="adj" fmla="val 7500"/>
            </a:avLst>
          </a:prstGeom>
          <a:solidFill>
            <a:srgbClr val="111823"/>
          </a:solidFill>
          <a:ln w="9525">
            <a:solidFill>
              <a:srgbClr val="1E2A3A"/>
            </a:solidFill>
            <a:prstDash val="solid"/>
          </a:ln>
        </p:spPr>
      </p:sp>
      <p:sp>
        <p:nvSpPr>
          <p:cNvPr id="9" name="Text 6"/>
          <p:cNvSpPr txBox="1"/>
          <p:nvPr/>
        </p:nvSpPr>
        <p:spPr>
          <a:xfrm>
            <a:off x="6309360" y="1527048"/>
            <a:ext cx="521208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No Model 3 federation demonstration</a:t>
            </a:r>
            <a:endParaRPr lang="en-US" sz="1250" dirty="0"/>
          </a:p>
        </p:txBody>
      </p:sp>
      <p:sp>
        <p:nvSpPr>
          <p:cNvPr id="10" name="Text 7"/>
          <p:cNvSpPr txBox="1"/>
          <p:nvPr/>
        </p:nvSpPr>
        <p:spPr>
          <a:xfrm>
            <a:off x="6309360" y="1892808"/>
            <a:ext cx="5212080" cy="9144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The sandbox exposes bare stream endpoints, so there are no departmental VMS platforms inside it to federate. Model 3 is documented as the integration path for real departments.</a:t>
            </a:r>
            <a:endParaRPr lang="en-US" sz="1050" dirty="0"/>
          </a:p>
        </p:txBody>
      </p:sp>
      <p:sp>
        <p:nvSpPr>
          <p:cNvPr id="11" name="Shape 8"/>
          <p:cNvSpPr/>
          <p:nvPr/>
        </p:nvSpPr>
        <p:spPr>
          <a:xfrm>
            <a:off x="457200" y="3017520"/>
            <a:ext cx="5532120" cy="1463040"/>
          </a:xfrm>
          <a:prstGeom prst="roundRect">
            <a:avLst>
              <a:gd name="adj" fmla="val 7500"/>
            </a:avLst>
          </a:prstGeom>
          <a:solidFill>
            <a:srgbClr val="111823"/>
          </a:solidFill>
          <a:ln w="9525">
            <a:solidFill>
              <a:srgbClr val="1E2A3A"/>
            </a:solidFill>
            <a:prstDash val="solid"/>
          </a:ln>
        </p:spPr>
      </p:sp>
      <p:sp>
        <p:nvSpPr>
          <p:cNvPr id="12" name="Text 9"/>
          <p:cNvSpPr txBox="1"/>
          <p:nvPr/>
        </p:nvSpPr>
        <p:spPr>
          <a:xfrm>
            <a:off x="640080" y="3127248"/>
            <a:ext cx="521208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No live facial recognition</a:t>
            </a:r>
            <a:endParaRPr lang="en-US" sz="1250" dirty="0"/>
          </a:p>
        </p:txBody>
      </p:sp>
      <p:sp>
        <p:nvSpPr>
          <p:cNvPr id="13" name="Text 10"/>
          <p:cNvSpPr txBox="1"/>
          <p:nvPr/>
        </p:nvSpPr>
        <p:spPr>
          <a:xfrm>
            <a:off x="640080" y="3493008"/>
            <a:ext cx="5212080" cy="9144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Described with its privacy controls. Not built, and not claimed.</a:t>
            </a:r>
            <a:endParaRPr lang="en-US" sz="1050" dirty="0"/>
          </a:p>
        </p:txBody>
      </p:sp>
      <p:sp>
        <p:nvSpPr>
          <p:cNvPr id="14" name="Shape 11"/>
          <p:cNvSpPr/>
          <p:nvPr/>
        </p:nvSpPr>
        <p:spPr>
          <a:xfrm>
            <a:off x="6126480" y="3017520"/>
            <a:ext cx="5532120" cy="1463040"/>
          </a:xfrm>
          <a:prstGeom prst="roundRect">
            <a:avLst>
              <a:gd name="adj" fmla="val 7500"/>
            </a:avLst>
          </a:prstGeom>
          <a:solidFill>
            <a:srgbClr val="111823"/>
          </a:solidFill>
          <a:ln w="9525">
            <a:solidFill>
              <a:srgbClr val="1E2A3A"/>
            </a:solidFill>
            <a:prstDash val="solid"/>
          </a:ln>
        </p:spPr>
      </p:sp>
      <p:sp>
        <p:nvSpPr>
          <p:cNvPr id="15" name="Text 12"/>
          <p:cNvSpPr txBox="1"/>
          <p:nvPr/>
        </p:nvSpPr>
        <p:spPr>
          <a:xfrm>
            <a:off x="6309360" y="3127248"/>
            <a:ext cx="521208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Plate recall on these feeds is limited, and stated</a:t>
            </a:r>
            <a:endParaRPr lang="en-US" sz="1250" dirty="0"/>
          </a:p>
        </p:txBody>
      </p:sp>
      <p:sp>
        <p:nvSpPr>
          <p:cNvPr id="16" name="Text 13"/>
          <p:cNvSpPr txBox="1"/>
          <p:nvPr/>
        </p:nvSpPr>
        <p:spPr>
          <a:xfrm>
            <a:off x="6309360" y="3493008"/>
            <a:ext cx="5212080" cy="9144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The sandbox cameras are wide traffic-overview PTZ units rather than ANPR lane cameras, so plates sit at 10 to 25 px even on close vehicles. The pipeline upscales the plate region, the demo concentrates on the cameras that read, and the real recall is reported.</a:t>
            </a:r>
            <a:endParaRPr lang="en-US" sz="1050" dirty="0"/>
          </a:p>
        </p:txBody>
      </p:sp>
      <p:sp>
        <p:nvSpPr>
          <p:cNvPr id="17" name="Shape 14"/>
          <p:cNvSpPr/>
          <p:nvPr/>
        </p:nvSpPr>
        <p:spPr>
          <a:xfrm>
            <a:off x="457200" y="4617720"/>
            <a:ext cx="5532120" cy="1463040"/>
          </a:xfrm>
          <a:prstGeom prst="roundRect">
            <a:avLst>
              <a:gd name="adj" fmla="val 7500"/>
            </a:avLst>
          </a:prstGeom>
          <a:solidFill>
            <a:srgbClr val="111823"/>
          </a:solidFill>
          <a:ln w="9525">
            <a:solidFill>
              <a:srgbClr val="1E2A3A"/>
            </a:solidFill>
            <a:prstDash val="solid"/>
          </a:ln>
        </p:spPr>
      </p:sp>
      <p:sp>
        <p:nvSpPr>
          <p:cNvPr id="18" name="Text 15"/>
          <p:cNvSpPr txBox="1"/>
          <p:nvPr/>
        </p:nvSpPr>
        <p:spPr>
          <a:xfrm>
            <a:off x="640080" y="4727448"/>
            <a:ext cx="521208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Geography assigned, and disclosed</a:t>
            </a:r>
            <a:endParaRPr lang="en-US" sz="1250" dirty="0"/>
          </a:p>
        </p:txBody>
      </p:sp>
      <p:sp>
        <p:nvSpPr>
          <p:cNvPr id="19" name="Text 16"/>
          <p:cNvSpPr txBox="1"/>
          <p:nvPr/>
        </p:nvSpPr>
        <p:spPr>
          <a:xfrm>
            <a:off x="640080" y="5093208"/>
            <a:ext cx="5212080" cy="9144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The catalogue carries id and name only. Departments and coordinates were assigned once in a committed seed file for demonstration.</a:t>
            </a:r>
            <a:endParaRPr lang="en-US" sz="1050" dirty="0"/>
          </a:p>
        </p:txBody>
      </p:sp>
      <p:sp>
        <p:nvSpPr>
          <p:cNvPr id="20" name="Shape 17"/>
          <p:cNvSpPr/>
          <p:nvPr/>
        </p:nvSpPr>
        <p:spPr>
          <a:xfrm>
            <a:off x="6126480" y="4617720"/>
            <a:ext cx="5532120" cy="1463040"/>
          </a:xfrm>
          <a:prstGeom prst="roundRect">
            <a:avLst>
              <a:gd name="adj" fmla="val 7500"/>
            </a:avLst>
          </a:prstGeom>
          <a:solidFill>
            <a:srgbClr val="111823"/>
          </a:solidFill>
          <a:ln w="9525">
            <a:solidFill>
              <a:srgbClr val="1E2A3A"/>
            </a:solidFill>
            <a:prstDash val="solid"/>
          </a:ln>
        </p:spPr>
      </p:sp>
      <p:sp>
        <p:nvSpPr>
          <p:cNvPr id="21" name="Text 18"/>
          <p:cNvSpPr txBox="1"/>
          <p:nvPr/>
        </p:nvSpPr>
        <p:spPr>
          <a:xfrm>
            <a:off x="6309360" y="4727448"/>
            <a:ext cx="521208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Measured and modelled, labelled</a:t>
            </a:r>
            <a:endParaRPr lang="en-US" sz="1250" dirty="0"/>
          </a:p>
        </p:txBody>
      </p:sp>
      <p:sp>
        <p:nvSpPr>
          <p:cNvPr id="22" name="Text 19"/>
          <p:cNvSpPr txBox="1"/>
          <p:nvPr/>
        </p:nvSpPr>
        <p:spPr>
          <a:xfrm>
            <a:off x="6309360" y="5093208"/>
            <a:ext cx="5212080" cy="9144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Every capacity number in the HLD is marked [measured] or [model]. The 30 versus 50 camera discrepancy is recorded rather than resolved silently.</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Operational benefits and impact on policing</a:t>
            </a:r>
            <a:endParaRPr lang="en-US" sz="3000" dirty="0"/>
          </a:p>
        </p:txBody>
      </p:sp>
      <p:sp>
        <p:nvSpPr>
          <p:cNvPr id="5" name="Shape 2"/>
          <p:cNvSpPr/>
          <p:nvPr/>
        </p:nvSpPr>
        <p:spPr>
          <a:xfrm>
            <a:off x="457200" y="1463040"/>
            <a:ext cx="3657600" cy="2194560"/>
          </a:xfrm>
          <a:prstGeom prst="roundRect">
            <a:avLst>
              <a:gd name="adj" fmla="val 5000"/>
            </a:avLst>
          </a:prstGeom>
          <a:solidFill>
            <a:srgbClr val="111823"/>
          </a:solidFill>
          <a:ln w="9525">
            <a:solidFill>
              <a:srgbClr val="1E2A3A"/>
            </a:solidFill>
            <a:prstDash val="solid"/>
          </a:ln>
        </p:spPr>
      </p:sp>
      <p:sp>
        <p:nvSpPr>
          <p:cNvPr id="6" name="Shape 3"/>
          <p:cNvSpPr/>
          <p:nvPr/>
        </p:nvSpPr>
        <p:spPr>
          <a:xfrm>
            <a:off x="640080" y="1664208"/>
            <a:ext cx="274320" cy="274320"/>
          </a:xfrm>
          <a:prstGeom prst="ellipse">
            <a:avLst/>
          </a:prstGeom>
          <a:solidFill>
            <a:srgbClr val="3D7FD6"/>
          </a:solidFill>
          <a:ln w="12700">
            <a:solidFill>
              <a:srgbClr val="3D7FD6"/>
            </a:solidFill>
            <a:prstDash val="solid"/>
          </a:ln>
        </p:spPr>
      </p:sp>
      <p:sp>
        <p:nvSpPr>
          <p:cNvPr id="7" name="Text 4"/>
          <p:cNvSpPr txBox="1"/>
          <p:nvPr/>
        </p:nvSpPr>
        <p:spPr>
          <a:xfrm>
            <a:off x="1024128" y="1627632"/>
            <a:ext cx="297180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Hours become seconds</a:t>
            </a:r>
            <a:endParaRPr lang="en-US" sz="1250" dirty="0"/>
          </a:p>
        </p:txBody>
      </p:sp>
      <p:sp>
        <p:nvSpPr>
          <p:cNvPr id="8" name="Text 5"/>
          <p:cNvSpPr txBox="1"/>
          <p:nvPr/>
        </p:nvSpPr>
        <p:spPr>
          <a:xfrm>
            <a:off x="640080" y="2057400"/>
            <a:ext cx="3291840" cy="150876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A registration number returns a timestamped, location-wise route across departments on one screen, instead of a manual request to each of them.</a:t>
            </a:r>
            <a:endParaRPr lang="en-US" sz="1050" dirty="0"/>
          </a:p>
        </p:txBody>
      </p:sp>
      <p:sp>
        <p:nvSpPr>
          <p:cNvPr id="9" name="Shape 6"/>
          <p:cNvSpPr/>
          <p:nvPr/>
        </p:nvSpPr>
        <p:spPr>
          <a:xfrm>
            <a:off x="4251960" y="1463040"/>
            <a:ext cx="3657600" cy="2194560"/>
          </a:xfrm>
          <a:prstGeom prst="roundRect">
            <a:avLst>
              <a:gd name="adj" fmla="val 5000"/>
            </a:avLst>
          </a:prstGeom>
          <a:solidFill>
            <a:srgbClr val="111823"/>
          </a:solidFill>
          <a:ln w="9525">
            <a:solidFill>
              <a:srgbClr val="1E2A3A"/>
            </a:solidFill>
            <a:prstDash val="solid"/>
          </a:ln>
        </p:spPr>
      </p:sp>
      <p:sp>
        <p:nvSpPr>
          <p:cNvPr id="10" name="Shape 7"/>
          <p:cNvSpPr/>
          <p:nvPr/>
        </p:nvSpPr>
        <p:spPr>
          <a:xfrm>
            <a:off x="4434840" y="1664208"/>
            <a:ext cx="274320" cy="274320"/>
          </a:xfrm>
          <a:prstGeom prst="ellipse">
            <a:avLst/>
          </a:prstGeom>
          <a:solidFill>
            <a:srgbClr val="39A56A"/>
          </a:solidFill>
          <a:ln w="12700">
            <a:solidFill>
              <a:srgbClr val="39A56A"/>
            </a:solidFill>
            <a:prstDash val="solid"/>
          </a:ln>
        </p:spPr>
      </p:sp>
      <p:sp>
        <p:nvSpPr>
          <p:cNvPr id="11" name="Text 8"/>
          <p:cNvSpPr txBox="1"/>
          <p:nvPr/>
        </p:nvSpPr>
        <p:spPr>
          <a:xfrm>
            <a:off x="4818888" y="1627632"/>
            <a:ext cx="297180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One platform, 26 departments</a:t>
            </a:r>
            <a:endParaRPr lang="en-US" sz="1250" dirty="0"/>
          </a:p>
        </p:txBody>
      </p:sp>
      <p:sp>
        <p:nvSpPr>
          <p:cNvPr id="12" name="Text 9"/>
          <p:cNvSpPr txBox="1"/>
          <p:nvPr/>
        </p:nvSpPr>
        <p:spPr>
          <a:xfrm>
            <a:off x="4434840" y="2057400"/>
            <a:ext cx="3291840" cy="150876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Departments keep their systems untouched. The connector ladder and the department-side collector reach vendor-locked and NAT-bound sites.</a:t>
            </a:r>
            <a:endParaRPr lang="en-US" sz="1050" dirty="0"/>
          </a:p>
        </p:txBody>
      </p:sp>
      <p:sp>
        <p:nvSpPr>
          <p:cNvPr id="13" name="Shape 10"/>
          <p:cNvSpPr/>
          <p:nvPr/>
        </p:nvSpPr>
        <p:spPr>
          <a:xfrm>
            <a:off x="8046720" y="1463040"/>
            <a:ext cx="3657600" cy="2194560"/>
          </a:xfrm>
          <a:prstGeom prst="roundRect">
            <a:avLst>
              <a:gd name="adj" fmla="val 5000"/>
            </a:avLst>
          </a:prstGeom>
          <a:solidFill>
            <a:srgbClr val="111823"/>
          </a:solidFill>
          <a:ln w="9525">
            <a:solidFill>
              <a:srgbClr val="1E2A3A"/>
            </a:solidFill>
            <a:prstDash val="solid"/>
          </a:ln>
        </p:spPr>
      </p:sp>
      <p:sp>
        <p:nvSpPr>
          <p:cNvPr id="14" name="Shape 11"/>
          <p:cNvSpPr/>
          <p:nvPr/>
        </p:nvSpPr>
        <p:spPr>
          <a:xfrm>
            <a:off x="8229600" y="1664208"/>
            <a:ext cx="274320" cy="274320"/>
          </a:xfrm>
          <a:prstGeom prst="ellipse">
            <a:avLst/>
          </a:prstGeom>
          <a:solidFill>
            <a:srgbClr val="D64F6A"/>
          </a:solidFill>
          <a:ln w="12700">
            <a:solidFill>
              <a:srgbClr val="D64F6A"/>
            </a:solidFill>
            <a:prstDash val="solid"/>
          </a:ln>
        </p:spPr>
      </p:sp>
      <p:sp>
        <p:nvSpPr>
          <p:cNvPr id="15" name="Text 12"/>
          <p:cNvSpPr txBox="1"/>
          <p:nvPr/>
        </p:nvSpPr>
        <p:spPr>
          <a:xfrm>
            <a:off x="8613648" y="1627632"/>
            <a:ext cx="297180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Alerts operators act on</a:t>
            </a:r>
            <a:endParaRPr lang="en-US" sz="1250" dirty="0"/>
          </a:p>
        </p:txBody>
      </p:sp>
      <p:sp>
        <p:nvSpPr>
          <p:cNvPr id="16" name="Text 13"/>
          <p:cNvSpPr txBox="1"/>
          <p:nvPr/>
        </p:nvSpPr>
        <p:spPr>
          <a:xfrm>
            <a:off x="8229600" y="2057400"/>
            <a:ext cx="3291840" cy="150876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Local matching, cooldowns, a plate crop on every alert and an acknowledgement trail. No alert floods and no silent misses.</a:t>
            </a:r>
            <a:endParaRPr lang="en-US" sz="1050" dirty="0"/>
          </a:p>
        </p:txBody>
      </p:sp>
      <p:sp>
        <p:nvSpPr>
          <p:cNvPr id="17" name="Shape 14"/>
          <p:cNvSpPr/>
          <p:nvPr/>
        </p:nvSpPr>
        <p:spPr>
          <a:xfrm>
            <a:off x="457200" y="3840480"/>
            <a:ext cx="3657600" cy="2194560"/>
          </a:xfrm>
          <a:prstGeom prst="roundRect">
            <a:avLst>
              <a:gd name="adj" fmla="val 5000"/>
            </a:avLst>
          </a:prstGeom>
          <a:solidFill>
            <a:srgbClr val="111823"/>
          </a:solidFill>
          <a:ln w="9525">
            <a:solidFill>
              <a:srgbClr val="1E2A3A"/>
            </a:solidFill>
            <a:prstDash val="solid"/>
          </a:ln>
        </p:spPr>
      </p:sp>
      <p:sp>
        <p:nvSpPr>
          <p:cNvPr id="18" name="Shape 15"/>
          <p:cNvSpPr/>
          <p:nvPr/>
        </p:nvSpPr>
        <p:spPr>
          <a:xfrm>
            <a:off x="640080" y="4041648"/>
            <a:ext cx="274320" cy="274320"/>
          </a:xfrm>
          <a:prstGeom prst="ellipse">
            <a:avLst/>
          </a:prstGeom>
          <a:solidFill>
            <a:srgbClr val="E0912F"/>
          </a:solidFill>
          <a:ln w="12700">
            <a:solidFill>
              <a:srgbClr val="E0912F"/>
            </a:solidFill>
            <a:prstDash val="solid"/>
          </a:ln>
        </p:spPr>
      </p:sp>
      <p:sp>
        <p:nvSpPr>
          <p:cNvPr id="19" name="Text 16"/>
          <p:cNvSpPr txBox="1"/>
          <p:nvPr/>
        </p:nvSpPr>
        <p:spPr>
          <a:xfrm>
            <a:off x="1024128" y="4005072"/>
            <a:ext cx="297180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Evidence that holds up</a:t>
            </a:r>
            <a:endParaRPr lang="en-US" sz="1250" dirty="0"/>
          </a:p>
        </p:txBody>
      </p:sp>
      <p:sp>
        <p:nvSpPr>
          <p:cNvPr id="20" name="Text 17"/>
          <p:cNvSpPr txBox="1"/>
          <p:nvPr/>
        </p:nvSpPr>
        <p:spPr>
          <a:xfrm>
            <a:off x="640080" y="4434840"/>
            <a:ext cx="3291840" cy="150876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Clips promoted on justified cause, each with a SHA-256 and an audit row. Chain of custody comes from how the system is built.</a:t>
            </a:r>
            <a:endParaRPr lang="en-US" sz="1050" dirty="0"/>
          </a:p>
        </p:txBody>
      </p:sp>
      <p:sp>
        <p:nvSpPr>
          <p:cNvPr id="21" name="Shape 18"/>
          <p:cNvSpPr/>
          <p:nvPr/>
        </p:nvSpPr>
        <p:spPr>
          <a:xfrm>
            <a:off x="4251960" y="3840480"/>
            <a:ext cx="3657600" cy="2194560"/>
          </a:xfrm>
          <a:prstGeom prst="roundRect">
            <a:avLst>
              <a:gd name="adj" fmla="val 5000"/>
            </a:avLst>
          </a:prstGeom>
          <a:solidFill>
            <a:srgbClr val="111823"/>
          </a:solidFill>
          <a:ln w="9525">
            <a:solidFill>
              <a:srgbClr val="1E2A3A"/>
            </a:solidFill>
            <a:prstDash val="solid"/>
          </a:ln>
        </p:spPr>
      </p:sp>
      <p:sp>
        <p:nvSpPr>
          <p:cNvPr id="22" name="Shape 19"/>
          <p:cNvSpPr/>
          <p:nvPr/>
        </p:nvSpPr>
        <p:spPr>
          <a:xfrm>
            <a:off x="4434840" y="4041648"/>
            <a:ext cx="274320" cy="274320"/>
          </a:xfrm>
          <a:prstGeom prst="ellipse">
            <a:avLst/>
          </a:prstGeom>
          <a:solidFill>
            <a:srgbClr val="B45FD1"/>
          </a:solidFill>
          <a:ln w="12700">
            <a:solidFill>
              <a:srgbClr val="B45FD1"/>
            </a:solidFill>
            <a:prstDash val="solid"/>
          </a:ln>
        </p:spPr>
      </p:sp>
      <p:sp>
        <p:nvSpPr>
          <p:cNvPr id="23" name="Text 20"/>
          <p:cNvSpPr txBox="1"/>
          <p:nvPr/>
        </p:nvSpPr>
        <p:spPr>
          <a:xfrm>
            <a:off x="4818888" y="4005072"/>
            <a:ext cx="297180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Coverage that stays usable</a:t>
            </a:r>
            <a:endParaRPr lang="en-US" sz="1250" dirty="0"/>
          </a:p>
        </p:txBody>
      </p:sp>
      <p:sp>
        <p:nvSpPr>
          <p:cNvPr id="24" name="Text 21"/>
          <p:cNvSpPr txBox="1"/>
          <p:nvPr/>
        </p:nvSpPr>
        <p:spPr>
          <a:xfrm>
            <a:off x="4434840" y="4434840"/>
            <a:ext cx="3291840" cy="150876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Health scoring, drift detection and a ranked maintenance worklist for the 2% of cameras that are always broken.</a:t>
            </a:r>
            <a:endParaRPr lang="en-US" sz="1050" dirty="0"/>
          </a:p>
        </p:txBody>
      </p:sp>
      <p:sp>
        <p:nvSpPr>
          <p:cNvPr id="25" name="Shape 22"/>
          <p:cNvSpPr/>
          <p:nvPr/>
        </p:nvSpPr>
        <p:spPr>
          <a:xfrm>
            <a:off x="8046720" y="3840480"/>
            <a:ext cx="3657600" cy="2194560"/>
          </a:xfrm>
          <a:prstGeom prst="roundRect">
            <a:avLst>
              <a:gd name="adj" fmla="val 5000"/>
            </a:avLst>
          </a:prstGeom>
          <a:solidFill>
            <a:srgbClr val="111823"/>
          </a:solidFill>
          <a:ln w="9525">
            <a:solidFill>
              <a:srgbClr val="1E2A3A"/>
            </a:solidFill>
            <a:prstDash val="solid"/>
          </a:ln>
        </p:spPr>
      </p:sp>
      <p:sp>
        <p:nvSpPr>
          <p:cNvPr id="26" name="Shape 23"/>
          <p:cNvSpPr/>
          <p:nvPr/>
        </p:nvSpPr>
        <p:spPr>
          <a:xfrm>
            <a:off x="8229600" y="4041648"/>
            <a:ext cx="274320" cy="274320"/>
          </a:xfrm>
          <a:prstGeom prst="ellipse">
            <a:avLst/>
          </a:prstGeom>
          <a:solidFill>
            <a:srgbClr val="E6EDF5"/>
          </a:solidFill>
          <a:ln w="12700">
            <a:solidFill>
              <a:srgbClr val="E6EDF5"/>
            </a:solidFill>
            <a:prstDash val="solid"/>
          </a:ln>
        </p:spPr>
      </p:sp>
      <p:sp>
        <p:nvSpPr>
          <p:cNvPr id="27" name="Text 24"/>
          <p:cNvSpPr txBox="1"/>
          <p:nvPr/>
        </p:nvSpPr>
        <p:spPr>
          <a:xfrm>
            <a:off x="8613648" y="4005072"/>
            <a:ext cx="2971800" cy="365760"/>
          </a:xfrm>
          <a:prstGeom prst="rect">
            <a:avLst/>
          </a:prstGeom>
          <a:noFill/>
          <a:ln/>
        </p:spPr>
        <p:txBody>
          <a:bodyPr wrap="square" lIns="0" tIns="0" rIns="0" bIns="0" rtlCol="0" anchor="ctr"/>
          <a:lstStyle/>
          <a:p>
            <a:pPr indent="0" marL="0">
              <a:buNone/>
            </a:pPr>
            <a:r>
              <a:rPr lang="en-US" sz="1250" b="1" dirty="0">
                <a:solidFill>
                  <a:srgbClr val="E6EDF5"/>
                </a:solidFill>
                <a:latin typeface="Calibri" pitchFamily="34" charset="0"/>
                <a:ea typeface="Calibri" pitchFamily="34" charset="-122"/>
                <a:cs typeface="Calibri" pitchFamily="34" charset="-120"/>
              </a:rPr>
              <a:t>A cost position the State can own</a:t>
            </a:r>
            <a:endParaRPr lang="en-US" sz="1250" dirty="0"/>
          </a:p>
        </p:txBody>
      </p:sp>
      <p:sp>
        <p:nvSpPr>
          <p:cNvPr id="28" name="Text 25"/>
          <p:cNvSpPr txBox="1"/>
          <p:nvPr/>
        </p:nvSpPr>
        <p:spPr>
          <a:xfrm>
            <a:off x="8229600" y="4434840"/>
            <a:ext cx="3291840" cy="150876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Open source under Apache, MIT and BSD, with no per-camera licence, which avoids 4 crore rupees a year at 500 rupees per camera. On-premise deployment avoids recurring cloud egress.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E14"/>
        </a:solidFill>
      </p:bgPr>
    </p:bg>
    <p:spTree>
      <p:nvGrpSpPr>
        <p:cNvPr id="1" name=""/>
        <p:cNvGrpSpPr/>
        <p:nvPr/>
      </p:nvGrpSpPr>
      <p:grpSpPr>
        <a:xfrm>
          <a:off x="0" y="0"/>
          <a:ext cx="0" cy="0"/>
          <a:chOff x="0" y="0"/>
          <a:chExt cx="0" cy="0"/>
        </a:xfrm>
      </p:grpSpPr>
      <p:sp>
        <p:nvSpPr>
          <p:cNvPr id="2" name="Text 0"/>
          <p:cNvSpPr txBox="1"/>
          <p:nvPr/>
        </p:nvSpPr>
        <p:spPr>
          <a:xfrm>
            <a:off x="457200" y="6419088"/>
            <a:ext cx="7315200" cy="274320"/>
          </a:xfrm>
          <a:prstGeom prst="rect">
            <a:avLst/>
          </a:prstGeom>
          <a:noFill/>
          <a:ln/>
        </p:spPr>
        <p:txBody>
          <a:bodyPr wrap="square" lIns="0" tIns="0" rIns="0" bIns="0" rtlCol="0" anchor="ctr"/>
          <a:lstStyle/>
          <a:p>
            <a:pPr indent="0" marL="0">
              <a:buNone/>
            </a:pPr>
            <a:r>
              <a:rPr lang="en-US" sz="900" dirty="0">
                <a:solidFill>
                  <a:srgbClr val="8A97A6"/>
                </a:solidFill>
                <a:latin typeface="Calibri" pitchFamily="34" charset="0"/>
                <a:ea typeface="Calibri" pitchFamily="34" charset="-122"/>
                <a:cs typeface="Calibri" pitchFamily="34" charset="-120"/>
              </a:rPr>
              <a:t>SENTINEL  ·  Gujarat Police Innovation Challenge 2026</a:t>
            </a:r>
            <a:endParaRPr lang="en-US" sz="900" dirty="0"/>
          </a:p>
        </p:txBody>
      </p:sp>
      <p:sp>
        <p:nvSpPr>
          <p:cNvPr id="4" name="Text 1"/>
          <p:cNvSpPr txBox="1"/>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6EDF5"/>
                </a:solidFill>
                <a:latin typeface="Calibri" pitchFamily="34" charset="0"/>
                <a:ea typeface="Calibri" pitchFamily="34" charset="-122"/>
                <a:cs typeface="Calibri" pitchFamily="34" charset="-120"/>
              </a:rPr>
              <a:t>Submission package</a:t>
            </a:r>
            <a:endParaRPr lang="en-US" sz="3000" dirty="0"/>
          </a:p>
        </p:txBody>
      </p:sp>
      <p:sp>
        <p:nvSpPr>
          <p:cNvPr id="5" name="Shape 2"/>
          <p:cNvSpPr/>
          <p:nvPr/>
        </p:nvSpPr>
        <p:spPr>
          <a:xfrm>
            <a:off x="457200" y="1417320"/>
            <a:ext cx="5486400" cy="4754880"/>
          </a:xfrm>
          <a:prstGeom prst="roundRect">
            <a:avLst>
              <a:gd name="adj" fmla="val 2308"/>
            </a:avLst>
          </a:prstGeom>
          <a:solidFill>
            <a:srgbClr val="111823"/>
          </a:solidFill>
          <a:ln w="9525">
            <a:solidFill>
              <a:srgbClr val="1E2A3A"/>
            </a:solidFill>
            <a:prstDash val="solid"/>
          </a:ln>
        </p:spPr>
      </p:sp>
      <p:sp>
        <p:nvSpPr>
          <p:cNvPr id="6" name="Text 3"/>
          <p:cNvSpPr txBox="1"/>
          <p:nvPr/>
        </p:nvSpPr>
        <p:spPr>
          <a:xfrm>
            <a:off x="685800" y="1554480"/>
            <a:ext cx="4572000" cy="274320"/>
          </a:xfrm>
          <a:prstGeom prst="rect">
            <a:avLst/>
          </a:prstGeom>
          <a:noFill/>
          <a:ln/>
        </p:spPr>
        <p:txBody>
          <a:bodyPr wrap="square" lIns="0" tIns="0" rIns="0" bIns="0" rtlCol="0" anchor="ctr"/>
          <a:lstStyle/>
          <a:p>
            <a:pPr indent="0" marL="0">
              <a:buNone/>
            </a:pPr>
            <a:r>
              <a:rPr lang="en-US" sz="1100" dirty="0">
                <a:solidFill>
                  <a:srgbClr val="39A56A"/>
                </a:solidFill>
                <a:latin typeface="Calibri" pitchFamily="34" charset="0"/>
                <a:ea typeface="Calibri" pitchFamily="34" charset="-122"/>
                <a:cs typeface="Calibri" pitchFamily="34" charset="-120"/>
              </a:rPr>
              <a:t>DELIVERED</a:t>
            </a:r>
            <a:endParaRPr lang="en-US" sz="1100" dirty="0"/>
          </a:p>
        </p:txBody>
      </p:sp>
      <p:sp>
        <p:nvSpPr>
          <p:cNvPr id="7" name="Text 4"/>
          <p:cNvSpPr txBox="1"/>
          <p:nvPr/>
        </p:nvSpPr>
        <p:spPr>
          <a:xfrm>
            <a:off x="685800" y="1874520"/>
            <a:ext cx="5029200" cy="4206240"/>
          </a:xfrm>
          <a:prstGeom prst="rect">
            <a:avLst/>
          </a:prstGeom>
          <a:noFill/>
          <a:ln/>
        </p:spPr>
        <p:txBody>
          <a:bodyPr wrap="square" lIns="25400" tIns="25400" rIns="25400" bIns="25400" rtlCol="0" anchor="t"/>
          <a:lstStyle/>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Solution presentation: this deck, as PDF</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Technical proposal and HLD: all eight required elements and the ten dimensions, with measured and modelled figures labelled, as PDF</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Demo video 1, own feed: onboarding, detection, watchlist correlation, automatic alert</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Demo video 2, government-provided feed: onboarding, viewing, analytics output and timestamped detection report</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Registry API documentation (OpenAPI), sample onboarded dataset, gap-analysis report, detection report as CSV and PDF</a:t>
            </a:r>
            <a:endParaRPr lang="en-US" sz="1150" dirty="0"/>
          </a:p>
          <a:p>
            <a:pPr marL="342900" indent="-342900">
              <a:spcAft>
                <a:spcPts val="500"/>
              </a:spcAft>
              <a:buSzPct val="100000"/>
              <a:buChar char="•"/>
            </a:pPr>
            <a:r>
              <a:rPr lang="en-US" sz="1150" dirty="0">
                <a:solidFill>
                  <a:srgbClr val="E6EDF5"/>
                </a:solidFill>
                <a:latin typeface="Calibri" pitchFamily="34" charset="0"/>
                <a:ea typeface="Calibri" pitchFamily="34" charset="-122"/>
                <a:cs typeface="Calibri" pitchFamily="34" charset="-120"/>
              </a:rPr>
              <a:t>Source repository: Python 3.11 with FastAPI and SQLite for the demo, React with Leaflet and hls.js, YOLOX and PaddleOCR under Apache-2.0</a:t>
            </a:r>
            <a:endParaRPr lang="en-US" sz="1150" dirty="0"/>
          </a:p>
        </p:txBody>
      </p:sp>
      <p:sp>
        <p:nvSpPr>
          <p:cNvPr id="8" name="Shape 5"/>
          <p:cNvSpPr/>
          <p:nvPr/>
        </p:nvSpPr>
        <p:spPr>
          <a:xfrm>
            <a:off x="6217920" y="1417320"/>
            <a:ext cx="5486400" cy="4754880"/>
          </a:xfrm>
          <a:prstGeom prst="roundRect">
            <a:avLst>
              <a:gd name="adj" fmla="val 2308"/>
            </a:avLst>
          </a:prstGeom>
          <a:solidFill>
            <a:srgbClr val="111823"/>
          </a:solidFill>
          <a:ln w="9525">
            <a:solidFill>
              <a:srgbClr val="1E2A3A"/>
            </a:solidFill>
            <a:prstDash val="solid"/>
          </a:ln>
        </p:spPr>
      </p:sp>
      <p:sp>
        <p:nvSpPr>
          <p:cNvPr id="9" name="Text 6"/>
          <p:cNvSpPr txBox="1"/>
          <p:nvPr/>
        </p:nvSpPr>
        <p:spPr>
          <a:xfrm>
            <a:off x="6446520" y="1554480"/>
            <a:ext cx="4572000" cy="274320"/>
          </a:xfrm>
          <a:prstGeom prst="rect">
            <a:avLst/>
          </a:prstGeom>
          <a:noFill/>
          <a:ln/>
        </p:spPr>
        <p:txBody>
          <a:bodyPr wrap="square" lIns="0" tIns="0" rIns="0" bIns="0" rtlCol="0" anchor="ctr"/>
          <a:lstStyle/>
          <a:p>
            <a:pPr indent="0" marL="0">
              <a:buNone/>
            </a:pPr>
            <a:r>
              <a:rPr lang="en-US" sz="1100" dirty="0">
                <a:solidFill>
                  <a:srgbClr val="3D7FD6"/>
                </a:solidFill>
                <a:latin typeface="Calibri" pitchFamily="34" charset="0"/>
                <a:ea typeface="Calibri" pitchFamily="34" charset="-122"/>
                <a:cs typeface="Calibri" pitchFamily="34" charset="-120"/>
              </a:rPr>
              <a:t>LINKS</a:t>
            </a:r>
            <a:endParaRPr lang="en-US" sz="1100" dirty="0"/>
          </a:p>
        </p:txBody>
      </p:sp>
      <p:sp>
        <p:nvSpPr>
          <p:cNvPr id="10" name="Text 7"/>
          <p:cNvSpPr txBox="1"/>
          <p:nvPr/>
        </p:nvSpPr>
        <p:spPr>
          <a:xfrm>
            <a:off x="6446520" y="1874520"/>
            <a:ext cx="5029200" cy="2377440"/>
          </a:xfrm>
          <a:prstGeom prst="rect">
            <a:avLst/>
          </a:prstGeom>
          <a:noFill/>
          <a:ln/>
        </p:spPr>
        <p:txBody>
          <a:bodyPr wrap="square" lIns="25400" tIns="25400" rIns="25400" bIns="25400" rtlCol="0" anchor="t"/>
          <a:lstStyle/>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Demo video 1 (unlisted): [link]</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Demo video 2 (unlisted): [link]</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Source repository: [link]</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Hosted platform and test credentials (optional): [link]</a:t>
            </a:r>
            <a:endParaRPr lang="en-US" sz="1200" dirty="0"/>
          </a:p>
          <a:p>
            <a:pPr marL="342900" indent="-342900">
              <a:spcAft>
                <a:spcPts val="500"/>
              </a:spcAft>
              <a:buSzPct val="100000"/>
              <a:buChar char="•"/>
            </a:pPr>
            <a:r>
              <a:rPr lang="en-US" sz="1200" dirty="0">
                <a:solidFill>
                  <a:srgbClr val="E6EDF5"/>
                </a:solidFill>
                <a:latin typeface="Calibri" pitchFamily="34" charset="0"/>
                <a:ea typeface="Calibri" pitchFamily="34" charset="-122"/>
                <a:cs typeface="Calibri" pitchFamily="34" charset="-120"/>
              </a:rPr>
              <a:t>HLD (PDF): [link]</a:t>
            </a:r>
            <a:endParaRPr lang="en-US" sz="1200" dirty="0"/>
          </a:p>
        </p:txBody>
      </p:sp>
      <p:sp>
        <p:nvSpPr>
          <p:cNvPr id="11" name="Text 8"/>
          <p:cNvSpPr txBox="1"/>
          <p:nvPr/>
        </p:nvSpPr>
        <p:spPr>
          <a:xfrm>
            <a:off x="6446520" y="4480560"/>
            <a:ext cx="5029200" cy="731520"/>
          </a:xfrm>
          <a:prstGeom prst="rect">
            <a:avLst/>
          </a:prstGeom>
          <a:noFill/>
          <a:ln/>
        </p:spPr>
        <p:txBody>
          <a:bodyPr wrap="square" lIns="0" tIns="0" rIns="0" bIns="0" rtlCol="0" anchor="ctr"/>
          <a:lstStyle/>
          <a:p>
            <a:pPr indent="0" marL="0">
              <a:buNone/>
            </a:pPr>
            <a:r>
              <a:rPr lang="en-US" sz="1050" i="1" dirty="0">
                <a:solidFill>
                  <a:srgbClr val="8A97A6"/>
                </a:solidFill>
                <a:latin typeface="Calibri" pitchFamily="34" charset="0"/>
                <a:ea typeface="Calibri" pitchFamily="34" charset="-122"/>
                <a:cs typeface="Calibri" pitchFamily="34" charset="-120"/>
              </a:rPr>
              <a:t>Every link verified from a private window. No credential appears in the repository, its history, any video frame or any screenshot.</a:t>
            </a:r>
            <a:endParaRPr lang="en-US" sz="1050" dirty="0"/>
          </a:p>
        </p:txBody>
      </p:sp>
      <p:sp>
        <p:nvSpPr>
          <p:cNvPr id="12" name="Text 9"/>
          <p:cNvSpPr txBox="1"/>
          <p:nvPr/>
        </p:nvSpPr>
        <p:spPr>
          <a:xfrm>
            <a:off x="6446520" y="5394960"/>
            <a:ext cx="5029200" cy="548640"/>
          </a:xfrm>
          <a:prstGeom prst="rect">
            <a:avLst/>
          </a:prstGeom>
          <a:noFill/>
          <a:ln/>
        </p:spPr>
        <p:txBody>
          <a:bodyPr wrap="square" lIns="0" tIns="0" rIns="0" bIns="0" rtlCol="0" anchor="ctr"/>
          <a:lstStyle/>
          <a:p>
            <a:pPr indent="0" marL="0">
              <a:buNone/>
            </a:pPr>
            <a:r>
              <a:rPr lang="en-US" sz="1300" b="1" dirty="0">
                <a:solidFill>
                  <a:srgbClr val="E6EDF5"/>
                </a:solidFill>
                <a:latin typeface="Calibri" pitchFamily="34" charset="0"/>
                <a:ea typeface="Calibri" pitchFamily="34" charset="-122"/>
                <a:cs typeface="Calibri" pitchFamily="34" charset="-120"/>
              </a:rPr>
              <a:t>Sentinel: one platform, five departments, watching is not storing.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Solution Presentation</dc:title>
  <dc:subject>PptxGenJS Presentation</dc:subject>
  <dc:creator>Adi</dc:creator>
  <cp:lastModifiedBy>Adi</cp:lastModifiedBy>
  <cp:revision>1</cp:revision>
  <dcterms:created xsi:type="dcterms:W3CDTF">2026-09-14T19:49:48Z</dcterms:created>
  <dcterms:modified xsi:type="dcterms:W3CDTF">2026-09-14T19:49:48Z</dcterms:modified>
</cp:coreProperties>
</file>